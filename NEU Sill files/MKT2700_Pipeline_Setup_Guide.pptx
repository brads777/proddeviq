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Title
"Welcome everyone. Today I'm going to walk you through exactly how to set up all the AI tools you'll need for your semester project. By the end of this video, you'll have everything installed and ready to go.
I know this might seem like a lot of technology, but I've made it as simple as possible. In most cases, you'll download one file, run one command, and you're set up. Then I'll show you exactly when to use each tool during the pipeline.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What You'll Have When Done
"Here's the big picture of what we're setting up today. When you're finished with this setup, you'll have three things:
First — 9 AI Skill files. These are pre-written instructions that tell Claude exactly how to guide you through each phase of the project. Think of them as expert tutors that have been programmed with the exact process I want you to follow. You don't have to figure out what to ask Claude — the skills handle that for you.
Second — 4 tool accounts. Claude Pro is your main AI platform and where you'll spend most of your time. Perplexity Pro is for parallel research. NotebookLM is Google's research tool with a Deep Research feature. And Google AI Studio gives you access to Gemini, which is Google's competing AI model — we use it as a second opinion during evaluation.
Third — a 7-phase pipeline that takes you all the way from defining your company to producing a polished Product Requirements Document. This is the entire semester project, structured and guided by AI.
Let me show you what tools you need and how to set each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Your AI Toolkit
"Here are the four tools you'll need. Let me walk through each one.
Claude AI Pro is your main platform — this is where you'll spend 80% of your time. The pipeline skills run inside Claude, so it's doing the heavy lifting across all seven phases. It's twenty dollars a month for the Pro subscription, and you need Pro to get enough message capacity for this project.
Perplexity Pro is a research tool that's connected to the live web. You'll use it in Phases 3 and 4 when you're searching for real market data, competitors, and customer pain points. What makes Perplexity special is it provides sources for everything it finds — so you can verify the data. Also twenty dollars a month.
Google NotebookLM is free and it's Google's research analysis tool. In Phase 4, you'll upload sources into NotebookLM and use its Deep Research feature, which is really powerful — it reads everything you give it, then generates its own follow-up questions and researches those too. Completely free.
Google AI Studio is also free — it gives you access to Gemini, which is Google's AI model. In Phase 5, we use Gemini as a second evaluator. When Claude scores your concepts, Gemini independently scores them too, and then we compare — this is the LLM Council approach. Having two AI models agree gives you much more confidence in the results.
Now let me show you how to set up each of these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Section Divider
"Alright, Step 1 — let's set up your accounts. I'm going to go through each tool one at a time. You can pause the video at each step and follow along. The whole process should take about 10 to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Claude.ai Pro Setup
"Let's start with Claude, since it's the tool you'll use the most.
Step 1 — go to claude.ai and create an account. I recommend using your Northeastern email because it'll make sharing Project access with your teammates easier later.
Step 2 — upgrade to Pro. Click on your profile icon in the bottom left, then Subscription, then upgrade to the Pro plan for twenty dollars a month. You need Pro because the free tier has very limited messages per day, and this project requires a LOT of back-and-forth with Claude. With Pro, you'll have plenty of capacity.
Step 3 — create a Project. In the sidebar, you'll see a 'Projects' section. Click New Project and name it 'MKT2700 Semester Project.' Projects are important because they let you attach persistent knowledge files — which is where our pipeline skills will live.
Step 4 — just verify it works. Open your new project, start a chat, type hello. If Claude responds, you're good.
Don't load the pipeline skills yet — we'll do that in Step 2 after I show you the install package. Let's set up the other tools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Perplexity Pro Setup
"Next up is Perplexity. This is your web-connected research engine.
Here's why we use Perplexity alongside Claude: Claude is incredibly smart, but it doesn't browse the internet in real-time for the kind of deep market research we need. Perplexity DOES — it searches the live web and gives you sourced answers with links to the original data.
Step 1 — go to perplexity.ai and create an account. Using Google sign-in with your school account is the easiest.
Step 2 — subscribe to Pro, also twenty dollars a month. Pro gives you unlimited access to their best models and much deeper, more thorough answers than the free tier.
Step 3 — try a test search to make sure it works. Ask it something like 'What are emerging trends in smart home technology' and you should get a detailed answer with source citations.
Now here's the important thing — you don't need to figure out WHAT to search for. During Phases 3 and 4, Claude will literally generate the specific search queries for you. Your job is to copy those queries into Perplexity, run the search, and bring the results back to Claude. Claude does the thinking, Perplexity does the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Google NotebookLM Setup
"NotebookLM is going to be one of your secret weapons in Phase 4.
Step 1 — go to notebooklm.google.com and sign in with your Google account. It's completely free, no subscription needed.
Step 2 — create a test notebook to get familiar with the interface. Click New Notebook, give it any name, and then add a source. You can upload PDFs, paste URLs, even paste text. NotebookLM reads all of your sources and becomes an expert on whatever you feed it.
Step 3 — try the Deep Research feature. This is the really powerful part. When you activate Deep Research, NotebookLM doesn't just answer your question — it reads all your sources, identifies gaps in the information, generates its own follow-up questions, and then researches those too. It's like having a research assistant that never stops digging.
Step 4 — just keep in mind the structure. In Phase 4, you'll create one notebook for each of your top-ranked concepts from Phase 3. Each notebook gets loaded with relevant sources — articles, reports, competitor websites — and then Deep Research digs into each one.
The Phase 4 skill file will tell you exactly what to upload and what questions to ask. For now, just make sure you can log in and create a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Google AI Studio Setup
"Last tool — Google AI Studio. This is free and takes about 30 seconds to set up.
Step 1 — go to aistudio.google.com, sign in with Google. Done.
Step 2 — click to start a new chat or prompt. Make sure you're using the latest Gemini model available.
Step 3 — type anything to test it.
Here's why we use Google AI Studio. In Phase 5, when you're evaluating your product concepts against your rubric, Claude will score each concept. But we don't want to rely on just one AI model's judgment — that would be like having only one judge on a panel. So we bring in Gemini as a second, independent evaluator.
This is called the LLM Council approach. Claude scores your concepts, then the Phase 5 skill generates a formatted prompt that you paste into Google AI Studio for Gemini to evaluate independently. Then Claude compares both sets of scores. Where Claude and Gemini agree, you have high confidence the score is fair. Where they disagree, Claude flags it for investigation.
It's a powerful technique and it only takes a few extra minutes. The skill handles all the formatting for you — all you do is copy-paste between the two tools.
Alright, accounts are set up. Now let's install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Section Divider
"Step 2 — installing the pipeline. This is the part I'm most excited about because I've packaged everything into a single file. One download, one command, and all nine skill files are installed and ready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The One-File Setup
"Here's the beauty of this setup. You download ONE file — setup-mkt2700-pipeline.sh. It's about 32 kilobytes. That's it.
Inside that one file, I've packed all 9 skill files, a progress tracker, and a README. When you run it, it unpacks everything into a clean directory structure called mkt2700-pipeline.
On the left you can see what you download — just that one script file. I'll put the download link on Canvas, or you can get it from the Google Drive link I'll share.
On the right you can see what it creates. A folder called mkt2700-pipeline with a README that explains everything, a plan.md that tracks your progress through all 7 phases, and a skills folder containing all 9 AI skill files.
The gold-colored files in the skills folder are the ones that do the heavy lifting. The orchestrator is the master coordinator — it manages the whole pipeline. The seven phase files each contain the detailed instructions for their specific phase.
Let me show you how to actually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Running the Setup
"You have two options for getting the pipeline running, and I want to be clear — Option B on the right is what I recommend for most of you.
Let me explain both.
Option A is for students who are comfortable with the terminal and want to use Claude Code. Claude Code is a command-line version of Claude that's really powerful for developers. If you know what a terminal is and you've used command-line tools before, this path is for you. Download the .sh file, open terminal, run 'bash setup-mkt2700-pipeline.sh', then navigate into the folder and launch Claude Code. It takes about 30 seconds.
Option B — the recommended path — is the Claude.ai web interface, which is what most of you will use. Here's the process: First, you still run the setup script to extract the files — OR you can download a zip file from Canvas that has all the files pre-extracted. Either way, you end up with the skill files on your computer.
Then you open your Claude.ai Project that you created in Step 1. Go to Project Instructions and paste the contents of the orchestrator.md file. Then go to Project Knowledge and upload ALL the files from the skills folder. That attaches them to your project so Claude can reference them in every conversation.
Finally, start a new chat within your Project and type 'Start project'. The orchestrator skill will kick in and guide you from there.
Whichever option you choose, the end result is the same — Claude knows your entire pipeline and will guide you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What Each File Does
"Let me quickly walk through what each file does so you understand the system.
The orchestrator is your master coordinator. It manages the entire pipeline — it knows what phase you're on, what artifacts you've produced, and what needs to happen next. It also enforces decision gates, which are checkpoints between phases that prevent you from moving forward until you've completed the required work.
Phase 1 interviews your team about your chosen company and industry, then runs strategic analyses — PESTEL, SWOT, Porter's Five Forces, and VRIO. These frameworks give you a comprehensive picture of your competitive landscape.
Phase 2 builds your evaluation rubric — this is critical because it defines the criteria you'll use to score product concepts later. Each criterion gets a weight and a 0-to-4 scoring scale with specific definitions for each level.
Phase 3 is where Claude generates targeted search queries for Perplexity and helps you synthesize the results into up to 40 product concept candidates, ranked by potential.
Phase 4 structures your deep research in NotebookLM — it tells you what to upload, what questions to ask, and maps everything back to your rubric criteria.
Phase 5 does the actual scoring — Claude evaluates each concept, generates a prompt for Gemini, and then compares both models' scores in the LLM Council.
Phase 6 takes your winning concept and refines it using SCAMPER ideation, morphological charts, and a KANO feature classification interview.
Phase 7 pulls everything together into a complete Product Requirements Document — your final deliverable.
Each of these files contains hundreds of lines of carefully crafted instructions. You don't need to read them — Claude reads them and follows them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13: Section Divider
"Step 3 — understanding when to use each tool. This is the most important part. Some phases happen entirely inside Claude, and some require you to step outside and use Perplexity, NotebookLM, or Google AI Studio. Let me walk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14: Phases 1-2
"Phases 1 and 2 happen entirely inside Claude. You don't need any other tools.
In Phase 1, Claude becomes a strategic consultant. It interviews your team about your chosen company — what industry are you in, who are your competitors, what are your strengths, what market are you targeting. Based on your answers, it automatically generates four strategic analyses: PESTEL for the macro environment, SWOT for internal strengths and weaknesses, Porter's Five Forces for competitive dynamics, and VRIO for resource-based advantages.
Your job is simply to answer the questions and then review the strategic brief when Claude generates it. If something doesn't look right, tell Claude and it'll revise.
Phase 2 builds your evaluation rubric. This is the scoring system you'll use to evaluate product concepts later. Claude first uses its built-in research capabilities to discover what criteria matter in your industry — things like market size, technical feasibility, competitive differentiation. Then it interviews you about criteria specific to your company.
Each criterion gets a weight that you assign, and a clear 0-to-4 scoring scale with specific definitions for each level. For example, a 4 on 'market size' might mean 'addressable market exceeds 1 billion dollars' while a 1 might mean 'niche market under 10 million.'
The rubric gets locked after Phase 2. Weights are assigned BEFORE you see any concepts — this prevents gaming the scores. This is really important methodologically.
Both phases produce a markdown artifact that Claude saves for you. These artifacts carry forward into later phases — Claude references them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15: Phase 3
"Phase 3 is where you start going outside of Claude for the first time. This is Concept Discovery — finding real product opportunities.
Here's the workflow. Step 1 — Claude looks at your strategic brief and rubric and generates targeted search queries. These aren't generic searches — they're specific to YOUR company, YOUR industry, YOUR evaluation criteria. For example, it might generate queries like 'Reddit complaints about dental scheduling software' or 'YouTube reviews of pet wellness apps negative feedback.'
Step 2 — this is where you switch to Perplexity. You copy each query Claude generated and paste it into Perplexity Pro. You also run parallel queries in Gemini Deep Research. The reason we use Perplexity and Gemini here instead of Claude is that they're connected to the live web and return sourced results — actual URLs you can verify.
Step 3 — bring the results back to Claude. Just copy Perplexity's output and paste it into your Claude chat. Claude reads everything and starts making sense of it.
Step 4 — Claude synthesizes all the research into up to 40 concept candidates. It applies your must-have constraints as a first filter, then ranks everything by demand evidence, strategic fit, and competitive gap.
The output is a concept-candidates.md file with your top 10, middle 15, and remaining 15 concepts ranked and organized. The top 10 get deep research in Phase 4.
This is one of the phases where you're bouncing between Claude and Perplexity. It sounds complicated but the skill file guides you through every step — Claude literally tells you what to search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16: Phase 4
"Phase 4 is where you spend the MOST time outside of Claude, so pay attention to this one.
You're going to use two tools in parallel — NotebookLM and Perplexity — to deep-dive into your top concepts.
On the left, NotebookLM. For each of your Tier 1 concepts — that's your top 10 from Phase 3 — you create a dedicated notebook. Upload relevant sources: industry reports, competitor websites, market analyses, customer reviews. Then activate Deep Research with the research questions that Claude generated for you in the skill.
And here's the critical thing — I've marked it in red. When NotebookLM's Deep Research finishes and suggests follow-up questions, you follow EVERY SINGLE ONE. This is where the gold is. NotebookLM's follow-ups go deeper than your original questions because it's building on what it already found. Don't skip them.
On the right, Perplexity. Run Claude's research questions here too, in parallel with NotebookLM. Focus especially on hard data — market size numbers, competitor revenue, customer demographics. Perplexity is great at finding this kind of quantitative data with sources.
When both tools have given you their findings, bring everything back to Claude. Claude cross-references the results, flags contradictions, and maps findings to your rubric criteria.
I want to be upfront — Phase 4 takes the most time. Budget extra hours here. The depth of your research directly determines the quality of your final PRD. Garbage in, garbage out. But excellent research in Phase 4 makes Phases 5 through 7 dramatically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17: Phase 5
"Phase 5 is evaluation day. This is where your concepts get scored against the rubric you built in Phase 2.
It's a three-step process — A, B, C.
Step A happens in Claude. Claude takes each concept's research dossier from Phase 4 and scores it against every criterion in your rubric. Each criterion gets a 0-4 score, weighted by the weights you assigned. Then it calculates a percentage. Below 90% is a kill — that concept doesn't move forward. Between 90 and 95% is revise — there's potential but it needs work. Above 95% is continue — it's strong.
Step B is where you go to Google AI Studio. Claude generates a carefully formatted prompt that contains your complete rubric and concept research. You literally copy this prompt and paste it into AI Studio. Gemini then independently scores the same concepts using the same rubric. This takes about 5 minutes.
Step C — you bring Gemini's scores back to Claude. Now Claude has two independent evaluations of every concept. It compares them score by score. Where Claude and Gemini agree, the score gets high confidence. Where they disagree significantly, Claude flags it for investigation and explains the discrepancy.
This LLM Council approach is really valuable because it catches blind spots. Maybe Claude was too generous on market size because it was anchoring on one data point. Gemini might score it differently, forcing a re-examination. The final reconciled score is more reliable than either model alone.
The output is your evaluation-results.md with detailed scorecards and a clear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18: Phases 6-7
"Good news — Phases 6 and 7 are back inside Claude. No more bouncing between tools.
Phase 6 is refinement. You have your winning concept from Phase 5, and now you're going to make it even better using three techniques.
First, SCAMPER ideation. Claude walks you through seven creative prompts — Substitute, Combine, Adapt, Modify, Put to other uses, Eliminate, Reverse. For each prompt, it generates ideas for improving your concept. You pick the best ones.
Second, morphological chart. Claude breaks your concept into components — like 'user interface,' 'data storage,' 'core algorithm' — and generates multiple implementation options for each. You evaluate the options against your rubric and select the best combination.
Third, the KANO interview. This is important for the PRD. Claude conducts an interview to classify every feature into one of five KANO categories: Must-Be features that customers expect, Performance features where more is better, Excitement features that create wow factor, Indifferent features nobody cares about, and Reverse features that actually make the product worse for some users. This classification directly informs your build priority.
Phase 7 is the grand finale — PRD generation. Claude pulls together EVERYTHING from the first six phases and writes a comprehensive Product Requirements Document. It has ten sections: executive summary, strategic context, problem and market opportunity, target users, product vision and scope, detailed feature specifications organized by KANO category, product architecture, evaluation evidence from your research, risk assessment, and success metrics.
You get both a markdown version and a formatted Word document. This is your final deliverable for the semester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19: Tool Usage Map
"This is your cheat sheet. Keep this slide handy throughout the project.
You can see at a glance — Claude is your primary tool in almost every phase. It's the star of Phases 1, 2, 3, 5, 6, and 7. Even in Phase 4, Claude handles the synthesis.
Perplexity comes in during Phases 3 and 4. In Phase 3, it helps you discover concepts by searching the live web. In Phase 4, it does parallel deep research alongside NotebookLM.
NotebookLM is only used in Phase 4, but it's critical. Its Deep Research feature is one of the most powerful research tools available.
Google AI Studio is only used once — in Phase 5 — for the Gemini second opinion.
So really, Phases 1, 2, 6, and 7 are pure Claude. Phase 3 is Claude plus Perplexity. Phase 4 is the big external research phase. Phase 5 is Claude plus one trip to AI Studio.
Print this slide or screenshot it. It's the fastest way to remember which tools you need for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20: Timeline
"Here's a realistic timeline for the six days you have.
Day 1, Wednesday — set up everything. Install the pipeline, create your accounts, and complete Phase 1. The Strategic Foundation takes about an hour of back-and-forth with Claude. Budget 2 to 3 hours total including setup.
Day 2, Thursday — build your rubric in Phase 2 and start Phase 3's concept discovery. The rubric usually takes about an hour to get right. Then start generating search queries and running them in Perplexity. 3 to 4 hours.
Day 3, Friday — finish Phase 3 and start Phase 4. You should have your ranked concept list by the end of Phase 3. Then start setting up NotebookLM notebooks for your top concepts. This is your heaviest day — 4 to 5 hours.
Day 4, Saturday — finish the deep research and run Phase 5 evaluation. This is another heavy day, especially if you have a lot of concepts to evaluate. 4 to 5 hours.
Day 5, Sunday — Phase 6 refinement. SCAMPER, morphological chart, and KANO interview. This is engaging work — you're designing your product. 3 to 4 hours.
Day 6, Monday — Phase 7, generate the PRD. Claude does the heavy lifting here, synthesizing everything from Phases 1 through 6. Review it carefully, make revisions, and submit. 3 to 4 hours.
Total is about 20 to 25 hours across 6 days. That's a substantial project, but remember — the AI is doing a LOT of the analysis and writing for you. Without AI, this would be a 60-plus hour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21: Pro Tips
"Four pro tips that will save you headaches.
Number one — save every artifact. Each phase produces a markdown file. In Claude.ai, you can copy the artifact text. Save these somewhere — a Google Doc, a local folder, whatever. Later phases reference earlier artifacts, and if you lose one, you'll have to redo that phase from scratch.
Number two — start a new chat for each phase. In Claude.ai Projects, all chats within your Project have access to the same knowledge files, so you don't lose anything by starting fresh. But starting a new chat gives Claude a clean context, which means better results. Long, rambling conversations lead to confused outputs.
Number three — don't skip or rush Phase 4 research. I know it's tempting to do a quick search and move on, but the depth of your Phase 4 research directly determines the quality of everything that follows. If your research is shallow, your evaluation scores will be unreliable and your PRD will be thin. Follow every suggested question in NotebookLM. Do the extra Perplexity searches. This is where the real work happens.
Number four — trust the decision gates. If a concept you liked scores below 90%, let it go. I know it's hard to kill a concept you're excited about, but the whole point of this pipeline is to use data-driven evaluation instead of gut feelings. The scoring system is designed to surface the best opportunity, not confirm your favorite idea. If your favorite scores poorly, it means there's a better opportunity out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22: Closing
"That's everything you need. Let me recap the three things you need to do:
One — set up your four tool accounts: Claude Pro, Perplexity Pro, NotebookLM, and Google AI Studio. Total cost is forty dollars a month for Claude and Perplexity. NotebookLM and AI Studio are free.
Two — download the setup script from Canvas and run it. One file, one command, everything installed.
Three — open Claude, load your project, and say 'Start project.' The orchestrator takes it from there.
If you have questions, post them in the Slack channel or come to office hours. I'm also going to pin the download link and these slides in the channel.
Good luck with your projects. I'm genuinely excited to see what concepts you discover. The pipeline is designed to find opportunities that humans alone would miss — so be open to surprises. Let the data guide you.
Now go set up your tools and start building. See you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8"/>
        </a:solidFill>
      </p:bgPr>
    </p:bg>
    <p:spTree>
      <p:nvGrpSpPr>
        <p:cNvPr id="1" name=""/>
        <p:cNvGrpSpPr/>
        <p:nvPr/>
      </p:nvGrpSpPr>
      <p:grpSpPr>
        <a:xfrm>
          <a:off x="0" y="0"/>
          <a:ext cx="0" cy="0"/>
          <a:chOff x="0" y="0"/>
          <a:chExt cx="0" cy="0"/>
        </a:xfrm>
      </p:grpSpPr>
      <p:sp>
        <p:nvSpPr>
          <p:cNvPr id="2" name="Shape 0"/>
          <p:cNvSpPr/>
          <p:nvPr/>
        </p:nvSpPr>
        <p:spPr>
          <a:xfrm>
            <a:off x="3200400" y="1097280"/>
            <a:ext cx="2743200" cy="54864"/>
          </a:xfrm>
          <a:prstGeom prst="rect">
            <a:avLst/>
          </a:prstGeom>
          <a:solidFill>
            <a:srgbClr val="C4A35A"/>
          </a:solidFill>
          <a:ln/>
        </p:spPr>
      </p:sp>
      <p:sp>
        <p:nvSpPr>
          <p:cNvPr id="3" name="Text 1"/>
          <p:cNvSpPr/>
          <p:nvPr/>
        </p:nvSpPr>
        <p:spPr>
          <a:xfrm>
            <a:off x="457200" y="1371600"/>
            <a:ext cx="8229600" cy="548640"/>
          </a:xfrm>
          <a:prstGeom prst="rect">
            <a:avLst/>
          </a:prstGeom>
          <a:noFill/>
          <a:ln/>
        </p:spPr>
        <p:txBody>
          <a:bodyPr wrap="square" rtlCol="0" anchor="ctr"/>
          <a:lstStyle/>
          <a:p>
            <a:pPr algn="ctr" indent="0" marL="0">
              <a:buNone/>
            </a:pPr>
            <a:r>
              <a:rPr lang="en-US" sz="1800" spc="500" kern="0" dirty="0">
                <a:solidFill>
                  <a:srgbClr val="C4A35A"/>
                </a:solidFill>
                <a:latin typeface="Arial" pitchFamily="34" charset="0"/>
                <a:ea typeface="Arial" pitchFamily="34" charset="-122"/>
                <a:cs typeface="Arial" pitchFamily="34" charset="-120"/>
              </a:rPr>
              <a:t>SETTING UP YOUR</a:t>
            </a:r>
            <a:endParaRPr lang="en-US" sz="1800" dirty="0"/>
          </a:p>
        </p:txBody>
      </p:sp>
      <p:sp>
        <p:nvSpPr>
          <p:cNvPr id="4" name="Text 2"/>
          <p:cNvSpPr/>
          <p:nvPr/>
        </p:nvSpPr>
        <p:spPr>
          <a:xfrm>
            <a:off x="457200" y="1920240"/>
            <a:ext cx="8229600" cy="1280160"/>
          </a:xfrm>
          <a:prstGeom prst="rect">
            <a:avLst/>
          </a:prstGeom>
          <a:noFill/>
          <a:ln/>
        </p:spPr>
        <p:txBody>
          <a:bodyPr wrap="square" rtlCol="0" anchor="ctr"/>
          <a:lstStyle/>
          <a:p>
            <a:pPr algn="ctr" indent="0" marL="0">
              <a:lnSpc>
                <a:spcPct val="110000"/>
              </a:lnSpc>
              <a:buNone/>
            </a:pPr>
            <a:r>
              <a:rPr lang="en-US" sz="4000" b="1" dirty="0">
                <a:solidFill>
                  <a:srgbClr val="FFFFFF"/>
                </a:solidFill>
                <a:latin typeface="Georgia" pitchFamily="34" charset="0"/>
                <a:ea typeface="Georgia" pitchFamily="34" charset="-122"/>
                <a:cs typeface="Georgia" pitchFamily="34" charset="-120"/>
              </a:rPr>
              <a:t>AI Product Development</a:t>
            </a:r>
            <a:endParaRPr lang="en-US" sz="4000" dirty="0"/>
          </a:p>
          <a:p>
            <a:pPr algn="ctr" indent="0" marL="0">
              <a:lnSpc>
                <a:spcPct val="110000"/>
              </a:lnSpc>
              <a:buNone/>
            </a:pPr>
            <a:r>
              <a:rPr lang="en-US" sz="4000" b="1" dirty="0">
                <a:solidFill>
                  <a:srgbClr val="FFFFFF"/>
                </a:solidFill>
                <a:latin typeface="Georgia" pitchFamily="34" charset="0"/>
                <a:ea typeface="Georgia" pitchFamily="34" charset="-122"/>
                <a:cs typeface="Georgia" pitchFamily="34" charset="-120"/>
              </a:rPr>
              <a:t>Pipeline</a:t>
            </a:r>
            <a:endParaRPr lang="en-US" sz="4000" dirty="0"/>
          </a:p>
        </p:txBody>
      </p:sp>
      <p:sp>
        <p:nvSpPr>
          <p:cNvPr id="5" name="Shape 3"/>
          <p:cNvSpPr/>
          <p:nvPr/>
        </p:nvSpPr>
        <p:spPr>
          <a:xfrm>
            <a:off x="3200400" y="3383280"/>
            <a:ext cx="2743200" cy="54864"/>
          </a:xfrm>
          <a:prstGeom prst="rect">
            <a:avLst/>
          </a:prstGeom>
          <a:solidFill>
            <a:srgbClr val="C4A35A"/>
          </a:solidFill>
          <a:ln/>
        </p:spPr>
      </p:sp>
      <p:sp>
        <p:nvSpPr>
          <p:cNvPr id="6" name="Text 4"/>
          <p:cNvSpPr/>
          <p:nvPr/>
        </p:nvSpPr>
        <p:spPr>
          <a:xfrm>
            <a:off x="457200" y="3657600"/>
            <a:ext cx="8229600" cy="365760"/>
          </a:xfrm>
          <a:prstGeom prst="rect">
            <a:avLst/>
          </a:prstGeom>
          <a:noFill/>
          <a:ln/>
        </p:spPr>
        <p:txBody>
          <a:bodyPr wrap="square" rtlCol="0" anchor="ctr"/>
          <a:lstStyle/>
          <a:p>
            <a:pPr algn="ctr" indent="0" marL="0">
              <a:buNone/>
            </a:pPr>
            <a:r>
              <a:rPr lang="en-US" sz="1400" dirty="0">
                <a:solidFill>
                  <a:srgbClr val="E8E8E8"/>
                </a:solidFill>
                <a:latin typeface="Arial" pitchFamily="34" charset="0"/>
                <a:ea typeface="Arial" pitchFamily="34" charset="-122"/>
                <a:cs typeface="Arial" pitchFamily="34" charset="-120"/>
              </a:rPr>
              <a:t>MKT2700 Product Design &amp; Development</a:t>
            </a:r>
            <a:endParaRPr lang="en-US" sz="1400" dirty="0"/>
          </a:p>
        </p:txBody>
      </p:sp>
      <p:sp>
        <p:nvSpPr>
          <p:cNvPr id="7" name="Text 5"/>
          <p:cNvSpPr/>
          <p:nvPr/>
        </p:nvSpPr>
        <p:spPr>
          <a:xfrm>
            <a:off x="457200" y="4023360"/>
            <a:ext cx="8229600" cy="274320"/>
          </a:xfrm>
          <a:prstGeom prst="rect">
            <a:avLst/>
          </a:prstGeom>
          <a:noFill/>
          <a:ln/>
        </p:spPr>
        <p:txBody>
          <a:bodyPr wrap="square" rtlCol="0" anchor="ctr"/>
          <a:lstStyle/>
          <a:p>
            <a:pPr algn="ctr" indent="0" marL="0">
              <a:buNone/>
            </a:pPr>
            <a:r>
              <a:rPr lang="en-US" sz="1200" dirty="0">
                <a:solidFill>
                  <a:srgbClr val="5A5A5A"/>
                </a:solidFill>
                <a:latin typeface="Arial" pitchFamily="34" charset="0"/>
                <a:ea typeface="Arial" pitchFamily="34" charset="-122"/>
                <a:cs typeface="Arial" pitchFamily="34" charset="-120"/>
              </a:rPr>
              <a:t>Northeastern University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What You'll Have When We're Done</a:t>
            </a:r>
            <a:endParaRPr lang="en-US" sz="2800" dirty="0"/>
          </a:p>
        </p:txBody>
      </p:sp>
      <p:sp>
        <p:nvSpPr>
          <p:cNvPr id="3" name="Shape 1"/>
          <p:cNvSpPr/>
          <p:nvPr/>
        </p:nvSpPr>
        <p:spPr>
          <a:xfrm>
            <a:off x="457200" y="1097280"/>
            <a:ext cx="2651760" cy="310896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4" name="Shape 2"/>
          <p:cNvSpPr/>
          <p:nvPr/>
        </p:nvSpPr>
        <p:spPr>
          <a:xfrm>
            <a:off x="457200" y="1097280"/>
            <a:ext cx="2651760" cy="54864"/>
          </a:xfrm>
          <a:prstGeom prst="rect">
            <a:avLst/>
          </a:prstGeom>
          <a:solidFill>
            <a:srgbClr val="C4A35A"/>
          </a:solidFill>
          <a:ln/>
        </p:spPr>
      </p:sp>
      <p:sp>
        <p:nvSpPr>
          <p:cNvPr id="5" name="Text 3"/>
          <p:cNvSpPr/>
          <p:nvPr/>
        </p:nvSpPr>
        <p:spPr>
          <a:xfrm>
            <a:off x="457200" y="1371600"/>
            <a:ext cx="2651760" cy="914400"/>
          </a:xfrm>
          <a:prstGeom prst="rect">
            <a:avLst/>
          </a:prstGeom>
          <a:noFill/>
          <a:ln/>
        </p:spPr>
        <p:txBody>
          <a:bodyPr wrap="square" lIns="0" tIns="0" rIns="0" bIns="0" rtlCol="0" anchor="ctr"/>
          <a:lstStyle/>
          <a:p>
            <a:pPr algn="ctr" indent="0" marL="0">
              <a:buNone/>
            </a:pPr>
            <a:r>
              <a:rPr lang="en-US" sz="6000" b="1" dirty="0">
                <a:solidFill>
                  <a:srgbClr val="1B365D"/>
                </a:solidFill>
                <a:latin typeface="Georgia" pitchFamily="34" charset="0"/>
                <a:ea typeface="Georgia" pitchFamily="34" charset="-122"/>
                <a:cs typeface="Georgia" pitchFamily="34" charset="-120"/>
              </a:rPr>
              <a:t>9</a:t>
            </a:r>
            <a:endParaRPr lang="en-US" sz="6000" dirty="0"/>
          </a:p>
        </p:txBody>
      </p:sp>
      <p:sp>
        <p:nvSpPr>
          <p:cNvPr id="6" name="Text 4"/>
          <p:cNvSpPr/>
          <p:nvPr/>
        </p:nvSpPr>
        <p:spPr>
          <a:xfrm>
            <a:off x="457200" y="2286000"/>
            <a:ext cx="2651760" cy="365760"/>
          </a:xfrm>
          <a:prstGeom prst="rect">
            <a:avLst/>
          </a:prstGeom>
          <a:noFill/>
          <a:ln/>
        </p:spPr>
        <p:txBody>
          <a:bodyPr wrap="square" lIns="0" tIns="0" rIns="0" bIns="0" rtlCol="0" anchor="ctr"/>
          <a:lstStyle/>
          <a:p>
            <a:pPr algn="ctr" indent="0" marL="0">
              <a:buNone/>
            </a:pPr>
            <a:r>
              <a:rPr lang="en-US" sz="1600" b="1" dirty="0">
                <a:solidFill>
                  <a:srgbClr val="C4A35A"/>
                </a:solidFill>
                <a:latin typeface="Georgia" pitchFamily="34" charset="0"/>
                <a:ea typeface="Georgia" pitchFamily="34" charset="-122"/>
                <a:cs typeface="Georgia" pitchFamily="34" charset="-120"/>
              </a:rPr>
              <a:t>AI Skill Files</a:t>
            </a:r>
            <a:endParaRPr lang="en-US" sz="1600" dirty="0"/>
          </a:p>
        </p:txBody>
      </p:sp>
      <p:sp>
        <p:nvSpPr>
          <p:cNvPr id="7" name="Text 5"/>
          <p:cNvSpPr/>
          <p:nvPr/>
        </p:nvSpPr>
        <p:spPr>
          <a:xfrm>
            <a:off x="640080" y="2743200"/>
            <a:ext cx="2286000" cy="1097280"/>
          </a:xfrm>
          <a:prstGeom prst="rect">
            <a:avLst/>
          </a:prstGeom>
          <a:noFill/>
          <a:ln/>
        </p:spPr>
        <p:txBody>
          <a:bodyPr wrap="square" rtlCol="0" anchor="ctr"/>
          <a:lstStyle/>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Pre-written instructions that</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tell Claude exactly how to</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guide each phase</a:t>
            </a:r>
            <a:endParaRPr lang="en-US" sz="1100" dirty="0"/>
          </a:p>
        </p:txBody>
      </p:sp>
      <p:sp>
        <p:nvSpPr>
          <p:cNvPr id="8" name="Shape 6"/>
          <p:cNvSpPr/>
          <p:nvPr/>
        </p:nvSpPr>
        <p:spPr>
          <a:xfrm>
            <a:off x="3291840" y="1097280"/>
            <a:ext cx="2651760" cy="310896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9" name="Shape 7"/>
          <p:cNvSpPr/>
          <p:nvPr/>
        </p:nvSpPr>
        <p:spPr>
          <a:xfrm>
            <a:off x="3291840" y="1097280"/>
            <a:ext cx="2651760" cy="54864"/>
          </a:xfrm>
          <a:prstGeom prst="rect">
            <a:avLst/>
          </a:prstGeom>
          <a:solidFill>
            <a:srgbClr val="C4A35A"/>
          </a:solidFill>
          <a:ln/>
        </p:spPr>
      </p:sp>
      <p:sp>
        <p:nvSpPr>
          <p:cNvPr id="10" name="Text 8"/>
          <p:cNvSpPr/>
          <p:nvPr/>
        </p:nvSpPr>
        <p:spPr>
          <a:xfrm>
            <a:off x="3291840" y="1371600"/>
            <a:ext cx="2651760" cy="914400"/>
          </a:xfrm>
          <a:prstGeom prst="rect">
            <a:avLst/>
          </a:prstGeom>
          <a:noFill/>
          <a:ln/>
        </p:spPr>
        <p:txBody>
          <a:bodyPr wrap="square" lIns="0" tIns="0" rIns="0" bIns="0" rtlCol="0" anchor="ctr"/>
          <a:lstStyle/>
          <a:p>
            <a:pPr algn="ctr" indent="0" marL="0">
              <a:buNone/>
            </a:pPr>
            <a:r>
              <a:rPr lang="en-US" sz="6000" b="1" dirty="0">
                <a:solidFill>
                  <a:srgbClr val="1B365D"/>
                </a:solidFill>
                <a:latin typeface="Georgia" pitchFamily="34" charset="0"/>
                <a:ea typeface="Georgia" pitchFamily="34" charset="-122"/>
                <a:cs typeface="Georgia" pitchFamily="34" charset="-120"/>
              </a:rPr>
              <a:t>4</a:t>
            </a:r>
            <a:endParaRPr lang="en-US" sz="6000" dirty="0"/>
          </a:p>
        </p:txBody>
      </p:sp>
      <p:sp>
        <p:nvSpPr>
          <p:cNvPr id="11" name="Text 9"/>
          <p:cNvSpPr/>
          <p:nvPr/>
        </p:nvSpPr>
        <p:spPr>
          <a:xfrm>
            <a:off x="3291840" y="2286000"/>
            <a:ext cx="2651760" cy="365760"/>
          </a:xfrm>
          <a:prstGeom prst="rect">
            <a:avLst/>
          </a:prstGeom>
          <a:noFill/>
          <a:ln/>
        </p:spPr>
        <p:txBody>
          <a:bodyPr wrap="square" lIns="0" tIns="0" rIns="0" bIns="0" rtlCol="0" anchor="ctr"/>
          <a:lstStyle/>
          <a:p>
            <a:pPr algn="ctr" indent="0" marL="0">
              <a:buNone/>
            </a:pPr>
            <a:r>
              <a:rPr lang="en-US" sz="1600" b="1" dirty="0">
                <a:solidFill>
                  <a:srgbClr val="C4A35A"/>
                </a:solidFill>
                <a:latin typeface="Georgia" pitchFamily="34" charset="0"/>
                <a:ea typeface="Georgia" pitchFamily="34" charset="-122"/>
                <a:cs typeface="Georgia" pitchFamily="34" charset="-120"/>
              </a:rPr>
              <a:t>Tool Accounts</a:t>
            </a:r>
            <a:endParaRPr lang="en-US" sz="1600" dirty="0"/>
          </a:p>
        </p:txBody>
      </p:sp>
      <p:sp>
        <p:nvSpPr>
          <p:cNvPr id="12" name="Text 10"/>
          <p:cNvSpPr/>
          <p:nvPr/>
        </p:nvSpPr>
        <p:spPr>
          <a:xfrm>
            <a:off x="3474720" y="2743200"/>
            <a:ext cx="2286000" cy="1097280"/>
          </a:xfrm>
          <a:prstGeom prst="rect">
            <a:avLst/>
          </a:prstGeom>
          <a:noFill/>
          <a:ln/>
        </p:spPr>
        <p:txBody>
          <a:bodyPr wrap="square" rtlCol="0" anchor="ctr"/>
          <a:lstStyle/>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Claude Pro, Perplexity Pro,</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NotebookLM, and Google</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AI Studio — all configured</a:t>
            </a:r>
            <a:endParaRPr lang="en-US" sz="1100" dirty="0"/>
          </a:p>
        </p:txBody>
      </p:sp>
      <p:sp>
        <p:nvSpPr>
          <p:cNvPr id="13" name="Shape 11"/>
          <p:cNvSpPr/>
          <p:nvPr/>
        </p:nvSpPr>
        <p:spPr>
          <a:xfrm>
            <a:off x="6126480" y="1097280"/>
            <a:ext cx="2651760" cy="310896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14" name="Shape 12"/>
          <p:cNvSpPr/>
          <p:nvPr/>
        </p:nvSpPr>
        <p:spPr>
          <a:xfrm>
            <a:off x="6126480" y="1097280"/>
            <a:ext cx="2651760" cy="54864"/>
          </a:xfrm>
          <a:prstGeom prst="rect">
            <a:avLst/>
          </a:prstGeom>
          <a:solidFill>
            <a:srgbClr val="C4A35A"/>
          </a:solidFill>
          <a:ln/>
        </p:spPr>
      </p:sp>
      <p:sp>
        <p:nvSpPr>
          <p:cNvPr id="15" name="Text 13"/>
          <p:cNvSpPr/>
          <p:nvPr/>
        </p:nvSpPr>
        <p:spPr>
          <a:xfrm>
            <a:off x="6126480" y="1371600"/>
            <a:ext cx="2651760" cy="914400"/>
          </a:xfrm>
          <a:prstGeom prst="rect">
            <a:avLst/>
          </a:prstGeom>
          <a:noFill/>
          <a:ln/>
        </p:spPr>
        <p:txBody>
          <a:bodyPr wrap="square" lIns="0" tIns="0" rIns="0" bIns="0" rtlCol="0" anchor="ctr"/>
          <a:lstStyle/>
          <a:p>
            <a:pPr algn="ctr" indent="0" marL="0">
              <a:buNone/>
            </a:pPr>
            <a:r>
              <a:rPr lang="en-US" sz="6000" b="1" dirty="0">
                <a:solidFill>
                  <a:srgbClr val="1B365D"/>
                </a:solidFill>
                <a:latin typeface="Georgia" pitchFamily="34" charset="0"/>
                <a:ea typeface="Georgia" pitchFamily="34" charset="-122"/>
                <a:cs typeface="Georgia" pitchFamily="34" charset="-120"/>
              </a:rPr>
              <a:t>7</a:t>
            </a:r>
            <a:endParaRPr lang="en-US" sz="6000" dirty="0"/>
          </a:p>
        </p:txBody>
      </p:sp>
      <p:sp>
        <p:nvSpPr>
          <p:cNvPr id="16" name="Text 14"/>
          <p:cNvSpPr/>
          <p:nvPr/>
        </p:nvSpPr>
        <p:spPr>
          <a:xfrm>
            <a:off x="6126480" y="2286000"/>
            <a:ext cx="2651760" cy="365760"/>
          </a:xfrm>
          <a:prstGeom prst="rect">
            <a:avLst/>
          </a:prstGeom>
          <a:noFill/>
          <a:ln/>
        </p:spPr>
        <p:txBody>
          <a:bodyPr wrap="square" lIns="0" tIns="0" rIns="0" bIns="0" rtlCol="0" anchor="ctr"/>
          <a:lstStyle/>
          <a:p>
            <a:pPr algn="ctr" indent="0" marL="0">
              <a:buNone/>
            </a:pPr>
            <a:r>
              <a:rPr lang="en-US" sz="1600" b="1" dirty="0">
                <a:solidFill>
                  <a:srgbClr val="C4A35A"/>
                </a:solidFill>
                <a:latin typeface="Georgia" pitchFamily="34" charset="0"/>
                <a:ea typeface="Georgia" pitchFamily="34" charset="-122"/>
                <a:cs typeface="Georgia" pitchFamily="34" charset="-120"/>
              </a:rPr>
              <a:t>Pipeline Phases</a:t>
            </a:r>
            <a:endParaRPr lang="en-US" sz="1600" dirty="0"/>
          </a:p>
        </p:txBody>
      </p:sp>
      <p:sp>
        <p:nvSpPr>
          <p:cNvPr id="17" name="Text 15"/>
          <p:cNvSpPr/>
          <p:nvPr/>
        </p:nvSpPr>
        <p:spPr>
          <a:xfrm>
            <a:off x="6309360" y="2743200"/>
            <a:ext cx="2286000" cy="1097280"/>
          </a:xfrm>
          <a:prstGeom prst="rect">
            <a:avLst/>
          </a:prstGeom>
          <a:noFill/>
          <a:ln/>
        </p:spPr>
        <p:txBody>
          <a:bodyPr wrap="square" rtlCol="0" anchor="ctr"/>
          <a:lstStyle/>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From company definition</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to a complete Product</a:t>
            </a:r>
            <a:endParaRPr lang="en-US" sz="1100" dirty="0"/>
          </a:p>
          <a:p>
            <a:pPr algn="ctr" indent="0" marL="0">
              <a:lnSpc>
                <a:spcPct val="130000"/>
              </a:lnSpc>
              <a:buNone/>
            </a:pPr>
            <a:r>
              <a:rPr lang="en-US" sz="1100" dirty="0">
                <a:solidFill>
                  <a:srgbClr val="5A5A5A"/>
                </a:solidFill>
                <a:latin typeface="Arial" pitchFamily="34" charset="0"/>
                <a:ea typeface="Arial" pitchFamily="34" charset="-122"/>
                <a:cs typeface="Arial" pitchFamily="34" charset="-120"/>
              </a:rPr>
              <a:t>Requirements Document</a:t>
            </a:r>
            <a:endParaRPr lang="en-US" sz="1100" dirty="0"/>
          </a:p>
        </p:txBody>
      </p:sp>
      <p:sp>
        <p:nvSpPr>
          <p:cNvPr id="18" name="Text 16"/>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Your AI Toolkit</a:t>
            </a:r>
            <a:endParaRPr lang="en-US" sz="2800" dirty="0"/>
          </a:p>
        </p:txBody>
      </p:sp>
      <p:sp>
        <p:nvSpPr>
          <p:cNvPr id="3" name="Shape 1"/>
          <p:cNvSpPr/>
          <p:nvPr/>
        </p:nvSpPr>
        <p:spPr>
          <a:xfrm>
            <a:off x="457200" y="1051560"/>
            <a:ext cx="8229600" cy="841248"/>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4" name="Shape 2"/>
          <p:cNvSpPr/>
          <p:nvPr/>
        </p:nvSpPr>
        <p:spPr>
          <a:xfrm>
            <a:off x="457200" y="1051560"/>
            <a:ext cx="73152" cy="841248"/>
          </a:xfrm>
          <a:prstGeom prst="rect">
            <a:avLst/>
          </a:prstGeom>
          <a:solidFill>
            <a:srgbClr val="C4A35A"/>
          </a:solidFill>
          <a:ln/>
        </p:spPr>
      </p:sp>
      <p:sp>
        <p:nvSpPr>
          <p:cNvPr id="5" name="Text 3"/>
          <p:cNvSpPr/>
          <p:nvPr/>
        </p:nvSpPr>
        <p:spPr>
          <a:xfrm>
            <a:off x="685800" y="1051560"/>
            <a:ext cx="1828800" cy="41148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Claude.ai Pro</a:t>
            </a:r>
            <a:endParaRPr lang="en-US" sz="1400" dirty="0"/>
          </a:p>
        </p:txBody>
      </p:sp>
      <p:sp>
        <p:nvSpPr>
          <p:cNvPr id="6" name="Shape 4"/>
          <p:cNvSpPr/>
          <p:nvPr/>
        </p:nvSpPr>
        <p:spPr>
          <a:xfrm>
            <a:off x="685800" y="1490472"/>
            <a:ext cx="1280160" cy="274320"/>
          </a:xfrm>
          <a:prstGeom prst="rect">
            <a:avLst/>
          </a:prstGeom>
          <a:solidFill>
            <a:srgbClr val="1B365D"/>
          </a:solidFill>
          <a:ln/>
        </p:spPr>
      </p:sp>
      <p:sp>
        <p:nvSpPr>
          <p:cNvPr id="7" name="Text 5"/>
          <p:cNvSpPr/>
          <p:nvPr/>
        </p:nvSpPr>
        <p:spPr>
          <a:xfrm>
            <a:off x="685800" y="1490472"/>
            <a:ext cx="12801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All 7 Phases</a:t>
            </a:r>
            <a:endParaRPr lang="en-US" sz="900" dirty="0"/>
          </a:p>
        </p:txBody>
      </p:sp>
      <p:sp>
        <p:nvSpPr>
          <p:cNvPr id="8" name="Text 6"/>
          <p:cNvSpPr/>
          <p:nvPr/>
        </p:nvSpPr>
        <p:spPr>
          <a:xfrm>
            <a:off x="2651760" y="1051560"/>
            <a:ext cx="4937760" cy="841248"/>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Main AI platform — runs the pipeline skills, generates analysis, writes your PRD</a:t>
            </a:r>
            <a:endParaRPr lang="en-US" sz="1200" dirty="0"/>
          </a:p>
        </p:txBody>
      </p:sp>
      <p:sp>
        <p:nvSpPr>
          <p:cNvPr id="9" name="Text 7"/>
          <p:cNvSpPr/>
          <p:nvPr/>
        </p:nvSpPr>
        <p:spPr>
          <a:xfrm>
            <a:off x="7589520" y="1051560"/>
            <a:ext cx="1005840" cy="841248"/>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$20/mo</a:t>
            </a:r>
            <a:endParaRPr lang="en-US" sz="1400" dirty="0"/>
          </a:p>
        </p:txBody>
      </p:sp>
      <p:sp>
        <p:nvSpPr>
          <p:cNvPr id="10" name="Shape 8"/>
          <p:cNvSpPr/>
          <p:nvPr/>
        </p:nvSpPr>
        <p:spPr>
          <a:xfrm>
            <a:off x="457200" y="2011680"/>
            <a:ext cx="8229600" cy="841248"/>
          </a:xfrm>
          <a:prstGeom prst="rect">
            <a:avLst/>
          </a:prstGeom>
          <a:solidFill>
            <a:srgbClr val="F5F3EE"/>
          </a:solidFill>
          <a:ln/>
        </p:spPr>
      </p:sp>
      <p:sp>
        <p:nvSpPr>
          <p:cNvPr id="11" name="Shape 9"/>
          <p:cNvSpPr/>
          <p:nvPr/>
        </p:nvSpPr>
        <p:spPr>
          <a:xfrm>
            <a:off x="457200" y="2011680"/>
            <a:ext cx="73152" cy="841248"/>
          </a:xfrm>
          <a:prstGeom prst="rect">
            <a:avLst/>
          </a:prstGeom>
          <a:solidFill>
            <a:srgbClr val="C4A35A"/>
          </a:solidFill>
          <a:ln/>
        </p:spPr>
      </p:sp>
      <p:sp>
        <p:nvSpPr>
          <p:cNvPr id="12" name="Text 10"/>
          <p:cNvSpPr/>
          <p:nvPr/>
        </p:nvSpPr>
        <p:spPr>
          <a:xfrm>
            <a:off x="685800" y="2011680"/>
            <a:ext cx="1828800" cy="41148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Perplexity Pro</a:t>
            </a:r>
            <a:endParaRPr lang="en-US" sz="1400" dirty="0"/>
          </a:p>
        </p:txBody>
      </p:sp>
      <p:sp>
        <p:nvSpPr>
          <p:cNvPr id="13" name="Shape 11"/>
          <p:cNvSpPr/>
          <p:nvPr/>
        </p:nvSpPr>
        <p:spPr>
          <a:xfrm>
            <a:off x="685800" y="2450592"/>
            <a:ext cx="1280160" cy="274320"/>
          </a:xfrm>
          <a:prstGeom prst="rect">
            <a:avLst/>
          </a:prstGeom>
          <a:solidFill>
            <a:srgbClr val="1B365D"/>
          </a:solidFill>
          <a:ln/>
        </p:spPr>
      </p:sp>
      <p:sp>
        <p:nvSpPr>
          <p:cNvPr id="14" name="Text 12"/>
          <p:cNvSpPr/>
          <p:nvPr/>
        </p:nvSpPr>
        <p:spPr>
          <a:xfrm>
            <a:off x="685800" y="2450592"/>
            <a:ext cx="12801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Phases 3 &amp; 4</a:t>
            </a:r>
            <a:endParaRPr lang="en-US" sz="900" dirty="0"/>
          </a:p>
        </p:txBody>
      </p:sp>
      <p:sp>
        <p:nvSpPr>
          <p:cNvPr id="15" name="Text 13"/>
          <p:cNvSpPr/>
          <p:nvPr/>
        </p:nvSpPr>
        <p:spPr>
          <a:xfrm>
            <a:off x="2651760" y="2011680"/>
            <a:ext cx="4937760" cy="841248"/>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Web-connected research — finds real market data, competitors, and trends with sources</a:t>
            </a:r>
            <a:endParaRPr lang="en-US" sz="1200" dirty="0"/>
          </a:p>
        </p:txBody>
      </p:sp>
      <p:sp>
        <p:nvSpPr>
          <p:cNvPr id="16" name="Text 14"/>
          <p:cNvSpPr/>
          <p:nvPr/>
        </p:nvSpPr>
        <p:spPr>
          <a:xfrm>
            <a:off x="7589520" y="2011680"/>
            <a:ext cx="1005840" cy="841248"/>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$20/mo</a:t>
            </a:r>
            <a:endParaRPr lang="en-US" sz="1400" dirty="0"/>
          </a:p>
        </p:txBody>
      </p:sp>
      <p:sp>
        <p:nvSpPr>
          <p:cNvPr id="17" name="Shape 15"/>
          <p:cNvSpPr/>
          <p:nvPr/>
        </p:nvSpPr>
        <p:spPr>
          <a:xfrm>
            <a:off x="457200" y="2971800"/>
            <a:ext cx="8229600" cy="841248"/>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8" name="Shape 16"/>
          <p:cNvSpPr/>
          <p:nvPr/>
        </p:nvSpPr>
        <p:spPr>
          <a:xfrm>
            <a:off x="457200" y="2971800"/>
            <a:ext cx="73152" cy="841248"/>
          </a:xfrm>
          <a:prstGeom prst="rect">
            <a:avLst/>
          </a:prstGeom>
          <a:solidFill>
            <a:srgbClr val="C4A35A"/>
          </a:solidFill>
          <a:ln/>
        </p:spPr>
      </p:sp>
      <p:sp>
        <p:nvSpPr>
          <p:cNvPr id="19" name="Text 17"/>
          <p:cNvSpPr/>
          <p:nvPr/>
        </p:nvSpPr>
        <p:spPr>
          <a:xfrm>
            <a:off x="685800" y="2971800"/>
            <a:ext cx="1828800" cy="41148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Google NotebookLM</a:t>
            </a:r>
            <a:endParaRPr lang="en-US" sz="1400" dirty="0"/>
          </a:p>
        </p:txBody>
      </p:sp>
      <p:sp>
        <p:nvSpPr>
          <p:cNvPr id="20" name="Shape 18"/>
          <p:cNvSpPr/>
          <p:nvPr/>
        </p:nvSpPr>
        <p:spPr>
          <a:xfrm>
            <a:off x="685800" y="3410712"/>
            <a:ext cx="1280160" cy="274320"/>
          </a:xfrm>
          <a:prstGeom prst="rect">
            <a:avLst/>
          </a:prstGeom>
          <a:solidFill>
            <a:srgbClr val="1B365D"/>
          </a:solidFill>
          <a:ln/>
        </p:spPr>
      </p:sp>
      <p:sp>
        <p:nvSpPr>
          <p:cNvPr id="21" name="Text 19"/>
          <p:cNvSpPr/>
          <p:nvPr/>
        </p:nvSpPr>
        <p:spPr>
          <a:xfrm>
            <a:off x="685800" y="3410712"/>
            <a:ext cx="12801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4</a:t>
            </a:r>
            <a:endParaRPr lang="en-US" sz="900" dirty="0"/>
          </a:p>
        </p:txBody>
      </p:sp>
      <p:sp>
        <p:nvSpPr>
          <p:cNvPr id="22" name="Text 20"/>
          <p:cNvSpPr/>
          <p:nvPr/>
        </p:nvSpPr>
        <p:spPr>
          <a:xfrm>
            <a:off x="2651760" y="2971800"/>
            <a:ext cx="4937760" cy="841248"/>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Deep Research — analyzes sources you upload, follows up on its own questions</a:t>
            </a:r>
            <a:endParaRPr lang="en-US" sz="1200" dirty="0"/>
          </a:p>
        </p:txBody>
      </p:sp>
      <p:sp>
        <p:nvSpPr>
          <p:cNvPr id="23" name="Text 21"/>
          <p:cNvSpPr/>
          <p:nvPr/>
        </p:nvSpPr>
        <p:spPr>
          <a:xfrm>
            <a:off x="7589520" y="2971800"/>
            <a:ext cx="1005840" cy="841248"/>
          </a:xfrm>
          <a:prstGeom prst="rect">
            <a:avLst/>
          </a:prstGeom>
          <a:noFill/>
          <a:ln/>
        </p:spPr>
        <p:txBody>
          <a:bodyPr wrap="square" lIns="0" tIns="0" rIns="0" bIns="0" rtlCol="0" anchor="ctr"/>
          <a:lstStyle/>
          <a:p>
            <a:pPr algn="ctr" indent="0" marL="0">
              <a:buNone/>
            </a:pPr>
            <a:r>
              <a:rPr lang="en-US" sz="1400" b="1" dirty="0">
                <a:solidFill>
                  <a:srgbClr val="2E7D32"/>
                </a:solidFill>
                <a:latin typeface="Georgia" pitchFamily="34" charset="0"/>
                <a:ea typeface="Georgia" pitchFamily="34" charset="-122"/>
                <a:cs typeface="Georgia" pitchFamily="34" charset="-120"/>
              </a:rPr>
              <a:t>Free</a:t>
            </a:r>
            <a:endParaRPr lang="en-US" sz="1400" dirty="0"/>
          </a:p>
        </p:txBody>
      </p:sp>
      <p:sp>
        <p:nvSpPr>
          <p:cNvPr id="24" name="Shape 22"/>
          <p:cNvSpPr/>
          <p:nvPr/>
        </p:nvSpPr>
        <p:spPr>
          <a:xfrm>
            <a:off x="457200" y="3931920"/>
            <a:ext cx="8229600" cy="841248"/>
          </a:xfrm>
          <a:prstGeom prst="rect">
            <a:avLst/>
          </a:prstGeom>
          <a:solidFill>
            <a:srgbClr val="F5F3EE"/>
          </a:solidFill>
          <a:ln/>
        </p:spPr>
      </p:sp>
      <p:sp>
        <p:nvSpPr>
          <p:cNvPr id="25" name="Shape 23"/>
          <p:cNvSpPr/>
          <p:nvPr/>
        </p:nvSpPr>
        <p:spPr>
          <a:xfrm>
            <a:off x="457200" y="3931920"/>
            <a:ext cx="73152" cy="841248"/>
          </a:xfrm>
          <a:prstGeom prst="rect">
            <a:avLst/>
          </a:prstGeom>
          <a:solidFill>
            <a:srgbClr val="C4A35A"/>
          </a:solidFill>
          <a:ln/>
        </p:spPr>
      </p:sp>
      <p:sp>
        <p:nvSpPr>
          <p:cNvPr id="26" name="Text 24"/>
          <p:cNvSpPr/>
          <p:nvPr/>
        </p:nvSpPr>
        <p:spPr>
          <a:xfrm>
            <a:off x="685800" y="3931920"/>
            <a:ext cx="1828800" cy="41148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Google AI Studio</a:t>
            </a:r>
            <a:endParaRPr lang="en-US" sz="1400" dirty="0"/>
          </a:p>
        </p:txBody>
      </p:sp>
      <p:sp>
        <p:nvSpPr>
          <p:cNvPr id="27" name="Shape 25"/>
          <p:cNvSpPr/>
          <p:nvPr/>
        </p:nvSpPr>
        <p:spPr>
          <a:xfrm>
            <a:off x="685800" y="4370832"/>
            <a:ext cx="1280160" cy="274320"/>
          </a:xfrm>
          <a:prstGeom prst="rect">
            <a:avLst/>
          </a:prstGeom>
          <a:solidFill>
            <a:srgbClr val="1B365D"/>
          </a:solidFill>
          <a:ln/>
        </p:spPr>
      </p:sp>
      <p:sp>
        <p:nvSpPr>
          <p:cNvPr id="28" name="Text 26"/>
          <p:cNvSpPr/>
          <p:nvPr/>
        </p:nvSpPr>
        <p:spPr>
          <a:xfrm>
            <a:off x="685800" y="4370832"/>
            <a:ext cx="12801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5</a:t>
            </a:r>
            <a:endParaRPr lang="en-US" sz="900" dirty="0"/>
          </a:p>
        </p:txBody>
      </p:sp>
      <p:sp>
        <p:nvSpPr>
          <p:cNvPr id="29" name="Text 27"/>
          <p:cNvSpPr/>
          <p:nvPr/>
        </p:nvSpPr>
        <p:spPr>
          <a:xfrm>
            <a:off x="2651760" y="3931920"/>
            <a:ext cx="4937760" cy="841248"/>
          </a:xfrm>
          <a:prstGeom prst="rect">
            <a:avLst/>
          </a:prstGeom>
          <a:noFill/>
          <a:ln/>
        </p:spPr>
        <p:txBody>
          <a:bodyPr wrap="square" rtlCol="0" anchor="ctr"/>
          <a:lstStyle/>
          <a:p>
            <a:pPr indent="0" marL="0">
              <a:buNone/>
            </a:pPr>
            <a:r>
              <a:rPr lang="en-US" sz="1200" dirty="0">
                <a:solidFill>
                  <a:srgbClr val="5A5A5A"/>
                </a:solidFill>
                <a:latin typeface="Arial" pitchFamily="34" charset="0"/>
                <a:ea typeface="Arial" pitchFamily="34" charset="-122"/>
                <a:cs typeface="Arial" pitchFamily="34" charset="-120"/>
              </a:rPr>
              <a:t>Gemini access — provides second AI opinion for concept evaluation scoring</a:t>
            </a:r>
            <a:endParaRPr lang="en-US" sz="1200" dirty="0"/>
          </a:p>
        </p:txBody>
      </p:sp>
      <p:sp>
        <p:nvSpPr>
          <p:cNvPr id="30" name="Text 28"/>
          <p:cNvSpPr/>
          <p:nvPr/>
        </p:nvSpPr>
        <p:spPr>
          <a:xfrm>
            <a:off x="7589520" y="3931920"/>
            <a:ext cx="1005840" cy="841248"/>
          </a:xfrm>
          <a:prstGeom prst="rect">
            <a:avLst/>
          </a:prstGeom>
          <a:noFill/>
          <a:ln/>
        </p:spPr>
        <p:txBody>
          <a:bodyPr wrap="square" lIns="0" tIns="0" rIns="0" bIns="0" rtlCol="0" anchor="ctr"/>
          <a:lstStyle/>
          <a:p>
            <a:pPr algn="ctr" indent="0" marL="0">
              <a:buNone/>
            </a:pPr>
            <a:r>
              <a:rPr lang="en-US" sz="1400" b="1" dirty="0">
                <a:solidFill>
                  <a:srgbClr val="2E7D32"/>
                </a:solidFill>
                <a:latin typeface="Georgia" pitchFamily="34" charset="0"/>
                <a:ea typeface="Georgia" pitchFamily="34" charset="-122"/>
                <a:cs typeface="Georgia" pitchFamily="34" charset="-120"/>
              </a:rPr>
              <a:t>Free</a:t>
            </a:r>
            <a:endParaRPr lang="en-US" sz="1400" dirty="0"/>
          </a:p>
        </p:txBody>
      </p:sp>
      <p:sp>
        <p:nvSpPr>
          <p:cNvPr id="31" name="Text 29"/>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8"/>
        </a:solidFill>
      </p:bgPr>
    </p:bg>
    <p:spTree>
      <p:nvGrpSpPr>
        <p:cNvPr id="1" name=""/>
        <p:cNvGrpSpPr/>
        <p:nvPr/>
      </p:nvGrpSpPr>
      <p:grpSpPr>
        <a:xfrm>
          <a:off x="0" y="0"/>
          <a:ext cx="0" cy="0"/>
          <a:chOff x="0" y="0"/>
          <a:chExt cx="0" cy="0"/>
        </a:xfrm>
      </p:grpSpPr>
      <p:sp>
        <p:nvSpPr>
          <p:cNvPr id="2" name="Shape 0"/>
          <p:cNvSpPr/>
          <p:nvPr/>
        </p:nvSpPr>
        <p:spPr>
          <a:xfrm>
            <a:off x="3200400" y="1645920"/>
            <a:ext cx="2743200" cy="54864"/>
          </a:xfrm>
          <a:prstGeom prst="rect">
            <a:avLst/>
          </a:prstGeom>
          <a:solidFill>
            <a:srgbClr val="C4A35A"/>
          </a:solidFill>
          <a:ln/>
        </p:spPr>
      </p:sp>
      <p:sp>
        <p:nvSpPr>
          <p:cNvPr id="3" name="Text 1"/>
          <p:cNvSpPr/>
          <p:nvPr/>
        </p:nvSpPr>
        <p:spPr>
          <a:xfrm>
            <a:off x="457200" y="1920240"/>
            <a:ext cx="8229600" cy="457200"/>
          </a:xfrm>
          <a:prstGeom prst="rect">
            <a:avLst/>
          </a:prstGeom>
          <a:noFill/>
          <a:ln/>
        </p:spPr>
        <p:txBody>
          <a:bodyPr wrap="square" rtlCol="0" anchor="ctr"/>
          <a:lstStyle/>
          <a:p>
            <a:pPr algn="ctr" indent="0" marL="0">
              <a:buNone/>
            </a:pPr>
            <a:r>
              <a:rPr lang="en-US" sz="1600" b="1" spc="400" kern="0" dirty="0">
                <a:solidFill>
                  <a:srgbClr val="C4A35A"/>
                </a:solidFill>
                <a:latin typeface="Arial" pitchFamily="34" charset="0"/>
                <a:ea typeface="Arial" pitchFamily="34" charset="-122"/>
                <a:cs typeface="Arial" pitchFamily="34" charset="-120"/>
              </a:rPr>
              <a:t>STEP 1</a:t>
            </a:r>
            <a:endParaRPr lang="en-US" sz="1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Set Up Your Accounts</a:t>
            </a:r>
            <a:endParaRPr lang="en-US" sz="3600" dirty="0"/>
          </a:p>
        </p:txBody>
      </p:sp>
      <p:sp>
        <p:nvSpPr>
          <p:cNvPr id="5" name="Text 3"/>
          <p:cNvSpPr/>
          <p:nvPr/>
        </p:nvSpPr>
        <p:spPr>
          <a:xfrm>
            <a:off x="914400" y="3200400"/>
            <a:ext cx="7315200" cy="457200"/>
          </a:xfrm>
          <a:prstGeom prst="rect">
            <a:avLst/>
          </a:prstGeom>
          <a:noFill/>
          <a:ln/>
        </p:spPr>
        <p:txBody>
          <a:bodyPr wrap="square" rtlCol="0" anchor="ctr"/>
          <a:lstStyle/>
          <a:p>
            <a:pPr algn="ctr" indent="0" marL="0">
              <a:buNone/>
            </a:pPr>
            <a:r>
              <a:rPr lang="en-US" sz="1400" dirty="0">
                <a:solidFill>
                  <a:srgbClr val="C4A35A"/>
                </a:solidFill>
                <a:latin typeface="Arial" pitchFamily="34" charset="0"/>
                <a:ea typeface="Arial" pitchFamily="34" charset="-122"/>
                <a:cs typeface="Arial" pitchFamily="34" charset="-120"/>
              </a:rPr>
              <a:t>Create your accounts on each platform before installing the pipeline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45720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Claude.ai Pro</a:t>
            </a:r>
            <a:endParaRPr lang="en-US" sz="2800" dirty="0"/>
          </a:p>
        </p:txBody>
      </p:sp>
      <p:sp>
        <p:nvSpPr>
          <p:cNvPr id="3" name="Text 1"/>
          <p:cNvSpPr/>
          <p:nvPr/>
        </p:nvSpPr>
        <p:spPr>
          <a:xfrm>
            <a:off x="457200" y="777240"/>
            <a:ext cx="4572000" cy="274320"/>
          </a:xfrm>
          <a:prstGeom prst="rect">
            <a:avLst/>
          </a:prstGeom>
          <a:noFill/>
          <a:ln/>
        </p:spPr>
        <p:txBody>
          <a:bodyPr wrap="square" lIns="0" tIns="0" rIns="0" bIns="0" rtlCol="0" anchor="ctr"/>
          <a:lstStyle/>
          <a:p>
            <a:pPr indent="0" marL="0">
              <a:buNone/>
            </a:pPr>
            <a:r>
              <a:rPr lang="en-US" sz="1000" b="1" spc="200" kern="0" dirty="0">
                <a:solidFill>
                  <a:srgbClr val="C4A35A"/>
                </a:solidFill>
                <a:latin typeface="Arial" pitchFamily="34" charset="0"/>
                <a:ea typeface="Arial" pitchFamily="34" charset="-122"/>
                <a:cs typeface="Arial" pitchFamily="34" charset="-120"/>
              </a:rPr>
              <a:t>YOUR MAIN AI PLATFORM  •  ALL 7 PHASES</a:t>
            </a:r>
            <a:endParaRPr lang="en-US" sz="1000" dirty="0"/>
          </a:p>
        </p:txBody>
      </p:sp>
      <p:sp>
        <p:nvSpPr>
          <p:cNvPr id="4" name="Shape 2"/>
          <p:cNvSpPr/>
          <p:nvPr/>
        </p:nvSpPr>
        <p:spPr>
          <a:xfrm>
            <a:off x="457200" y="1325880"/>
            <a:ext cx="457200" cy="457200"/>
          </a:xfrm>
          <a:prstGeom prst="ellipse">
            <a:avLst/>
          </a:prstGeom>
          <a:solidFill>
            <a:srgbClr val="C4A35A"/>
          </a:solidFill>
          <a:ln/>
        </p:spPr>
      </p:sp>
      <p:sp>
        <p:nvSpPr>
          <p:cNvPr id="5" name="Text 3"/>
          <p:cNvSpPr/>
          <p:nvPr/>
        </p:nvSpPr>
        <p:spPr>
          <a:xfrm>
            <a:off x="457200" y="13258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51560" y="12801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Create Account</a:t>
            </a:r>
            <a:endParaRPr lang="en-US" sz="1400" dirty="0"/>
          </a:p>
        </p:txBody>
      </p:sp>
      <p:sp>
        <p:nvSpPr>
          <p:cNvPr id="7" name="Text 5"/>
          <p:cNvSpPr/>
          <p:nvPr/>
        </p:nvSpPr>
        <p:spPr>
          <a:xfrm>
            <a:off x="1051560" y="16002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Go to claude.ai and sign up with your email. Use your Northeastern email for easy team sharing.</a:t>
            </a:r>
            <a:endParaRPr lang="en-US" sz="1100" dirty="0"/>
          </a:p>
        </p:txBody>
      </p:sp>
      <p:sp>
        <p:nvSpPr>
          <p:cNvPr id="8" name="Shape 6"/>
          <p:cNvSpPr/>
          <p:nvPr/>
        </p:nvSpPr>
        <p:spPr>
          <a:xfrm>
            <a:off x="457200" y="2240280"/>
            <a:ext cx="457200" cy="457200"/>
          </a:xfrm>
          <a:prstGeom prst="ellipse">
            <a:avLst/>
          </a:prstGeom>
          <a:solidFill>
            <a:srgbClr val="C4A35A"/>
          </a:solidFill>
          <a:ln/>
        </p:spPr>
      </p:sp>
      <p:sp>
        <p:nvSpPr>
          <p:cNvPr id="9" name="Text 7"/>
          <p:cNvSpPr/>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1051560" y="21945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Subscribe to Pro</a:t>
            </a:r>
            <a:endParaRPr lang="en-US" sz="1400" dirty="0"/>
          </a:p>
        </p:txBody>
      </p:sp>
      <p:sp>
        <p:nvSpPr>
          <p:cNvPr id="11" name="Text 9"/>
          <p:cNvSpPr/>
          <p:nvPr/>
        </p:nvSpPr>
        <p:spPr>
          <a:xfrm>
            <a:off x="1051560" y="25146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Click your profile → Subscription → upgrade to Pro ($20/mo). You need Pro for enough daily messages.</a:t>
            </a:r>
            <a:endParaRPr lang="en-US" sz="1100" dirty="0"/>
          </a:p>
        </p:txBody>
      </p:sp>
      <p:sp>
        <p:nvSpPr>
          <p:cNvPr id="12" name="Shape 10"/>
          <p:cNvSpPr/>
          <p:nvPr/>
        </p:nvSpPr>
        <p:spPr>
          <a:xfrm>
            <a:off x="457200" y="3154680"/>
            <a:ext cx="457200" cy="457200"/>
          </a:xfrm>
          <a:prstGeom prst="ellipse">
            <a:avLst/>
          </a:prstGeom>
          <a:solidFill>
            <a:srgbClr val="C4A35A"/>
          </a:solidFill>
          <a:ln/>
        </p:spPr>
      </p:sp>
      <p:sp>
        <p:nvSpPr>
          <p:cNvPr id="13" name="Text 11"/>
          <p:cNvSpPr/>
          <p:nvPr/>
        </p:nvSpPr>
        <p:spPr>
          <a:xfrm>
            <a:off x="457200" y="31546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051560" y="31089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Create a Project</a:t>
            </a:r>
            <a:endParaRPr lang="en-US" sz="1400" dirty="0"/>
          </a:p>
        </p:txBody>
      </p:sp>
      <p:sp>
        <p:nvSpPr>
          <p:cNvPr id="15" name="Text 13"/>
          <p:cNvSpPr/>
          <p:nvPr/>
        </p:nvSpPr>
        <p:spPr>
          <a:xfrm>
            <a:off x="1051560" y="34290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Click Projects in the sidebar → New Project. Name it 'MKT2700 Semester Project'. This is your workspace.</a:t>
            </a:r>
            <a:endParaRPr lang="en-US" sz="1100" dirty="0"/>
          </a:p>
        </p:txBody>
      </p:sp>
      <p:sp>
        <p:nvSpPr>
          <p:cNvPr id="16" name="Shape 14"/>
          <p:cNvSpPr/>
          <p:nvPr/>
        </p:nvSpPr>
        <p:spPr>
          <a:xfrm>
            <a:off x="457200" y="4069080"/>
            <a:ext cx="457200" cy="457200"/>
          </a:xfrm>
          <a:prstGeom prst="ellipse">
            <a:avLst/>
          </a:prstGeom>
          <a:solidFill>
            <a:srgbClr val="C4A35A"/>
          </a:solidFill>
          <a:ln/>
        </p:spPr>
      </p:sp>
      <p:sp>
        <p:nvSpPr>
          <p:cNvPr id="17" name="Text 15"/>
          <p:cNvSpPr/>
          <p:nvPr/>
        </p:nvSpPr>
        <p:spPr>
          <a:xfrm>
            <a:off x="457200" y="40690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4</a:t>
            </a:r>
            <a:endParaRPr lang="en-US" sz="1600" dirty="0"/>
          </a:p>
        </p:txBody>
      </p:sp>
      <p:sp>
        <p:nvSpPr>
          <p:cNvPr id="18" name="Text 16"/>
          <p:cNvSpPr/>
          <p:nvPr/>
        </p:nvSpPr>
        <p:spPr>
          <a:xfrm>
            <a:off x="1051560" y="40233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Verify It Works</a:t>
            </a:r>
            <a:endParaRPr lang="en-US" sz="1400" dirty="0"/>
          </a:p>
        </p:txBody>
      </p:sp>
      <p:sp>
        <p:nvSpPr>
          <p:cNvPr id="19" name="Text 17"/>
          <p:cNvSpPr/>
          <p:nvPr/>
        </p:nvSpPr>
        <p:spPr>
          <a:xfrm>
            <a:off x="1051560" y="43434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Open your new Project, start a chat, and type 'Hello'. If Claude responds, you're ready for Step 2.</a:t>
            </a:r>
            <a:endParaRPr lang="en-US" sz="1100" dirty="0"/>
          </a:p>
        </p:txBody>
      </p:sp>
      <p:sp>
        <p:nvSpPr>
          <p:cNvPr id="20" name="Shape 18"/>
          <p:cNvSpPr/>
          <p:nvPr/>
        </p:nvSpPr>
        <p:spPr>
          <a:xfrm>
            <a:off x="6217920" y="274320"/>
            <a:ext cx="2560320" cy="914400"/>
          </a:xfrm>
          <a:prstGeom prst="rect">
            <a:avLst/>
          </a:prstGeom>
          <a:solidFill>
            <a:srgbClr val="1B365D"/>
          </a:solidFill>
          <a:ln/>
        </p:spPr>
      </p:sp>
      <p:sp>
        <p:nvSpPr>
          <p:cNvPr id="21" name="Text 19"/>
          <p:cNvSpPr/>
          <p:nvPr/>
        </p:nvSpPr>
        <p:spPr>
          <a:xfrm>
            <a:off x="6217920" y="32004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claude.ai</a:t>
            </a:r>
            <a:endParaRPr lang="en-US" sz="1600" dirty="0"/>
          </a:p>
        </p:txBody>
      </p:sp>
      <p:sp>
        <p:nvSpPr>
          <p:cNvPr id="22" name="Text 20"/>
          <p:cNvSpPr/>
          <p:nvPr/>
        </p:nvSpPr>
        <p:spPr>
          <a:xfrm>
            <a:off x="6217920" y="731520"/>
            <a:ext cx="2560320" cy="320040"/>
          </a:xfrm>
          <a:prstGeom prst="rect">
            <a:avLst/>
          </a:prstGeom>
          <a:noFill/>
          <a:ln/>
        </p:spPr>
        <p:txBody>
          <a:bodyPr wrap="square" lIns="0" tIns="0" rIns="0" bIns="0"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$20/month Pro plan</a:t>
            </a:r>
            <a:endParaRPr lang="en-US" sz="1100" dirty="0"/>
          </a:p>
        </p:txBody>
      </p:sp>
      <p:sp>
        <p:nvSpPr>
          <p:cNvPr id="23" name="Text 21"/>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45720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Perplexity Pro</a:t>
            </a:r>
            <a:endParaRPr lang="en-US" sz="2800" dirty="0"/>
          </a:p>
        </p:txBody>
      </p:sp>
      <p:sp>
        <p:nvSpPr>
          <p:cNvPr id="3" name="Text 1"/>
          <p:cNvSpPr/>
          <p:nvPr/>
        </p:nvSpPr>
        <p:spPr>
          <a:xfrm>
            <a:off x="457200" y="777240"/>
            <a:ext cx="4572000" cy="274320"/>
          </a:xfrm>
          <a:prstGeom prst="rect">
            <a:avLst/>
          </a:prstGeom>
          <a:noFill/>
          <a:ln/>
        </p:spPr>
        <p:txBody>
          <a:bodyPr wrap="square" lIns="0" tIns="0" rIns="0" bIns="0" rtlCol="0" anchor="ctr"/>
          <a:lstStyle/>
          <a:p>
            <a:pPr indent="0" marL="0">
              <a:buNone/>
            </a:pPr>
            <a:r>
              <a:rPr lang="en-US" sz="1000" b="1" spc="200" kern="0" dirty="0">
                <a:solidFill>
                  <a:srgbClr val="C4A35A"/>
                </a:solidFill>
                <a:latin typeface="Arial" pitchFamily="34" charset="0"/>
                <a:ea typeface="Arial" pitchFamily="34" charset="-122"/>
                <a:cs typeface="Arial" pitchFamily="34" charset="-120"/>
              </a:rPr>
              <a:t>WEB-CONNECTED RESEARCH  •  PHASES 3 &amp; 4</a:t>
            </a:r>
            <a:endParaRPr lang="en-US" sz="1000" dirty="0"/>
          </a:p>
        </p:txBody>
      </p:sp>
      <p:sp>
        <p:nvSpPr>
          <p:cNvPr id="4" name="Shape 2"/>
          <p:cNvSpPr/>
          <p:nvPr/>
        </p:nvSpPr>
        <p:spPr>
          <a:xfrm>
            <a:off x="457200" y="1325880"/>
            <a:ext cx="457200" cy="457200"/>
          </a:xfrm>
          <a:prstGeom prst="ellipse">
            <a:avLst/>
          </a:prstGeom>
          <a:solidFill>
            <a:srgbClr val="C4A35A"/>
          </a:solidFill>
          <a:ln/>
        </p:spPr>
      </p:sp>
      <p:sp>
        <p:nvSpPr>
          <p:cNvPr id="5" name="Text 3"/>
          <p:cNvSpPr/>
          <p:nvPr/>
        </p:nvSpPr>
        <p:spPr>
          <a:xfrm>
            <a:off x="457200" y="13258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51560" y="12801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Create Account</a:t>
            </a:r>
            <a:endParaRPr lang="en-US" sz="1400" dirty="0"/>
          </a:p>
        </p:txBody>
      </p:sp>
      <p:sp>
        <p:nvSpPr>
          <p:cNvPr id="7" name="Text 5"/>
          <p:cNvSpPr/>
          <p:nvPr/>
        </p:nvSpPr>
        <p:spPr>
          <a:xfrm>
            <a:off x="1051560" y="16002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Go to perplexity.ai and sign up. Google sign-in with your school account works great.</a:t>
            </a:r>
            <a:endParaRPr lang="en-US" sz="1100" dirty="0"/>
          </a:p>
        </p:txBody>
      </p:sp>
      <p:sp>
        <p:nvSpPr>
          <p:cNvPr id="8" name="Shape 6"/>
          <p:cNvSpPr/>
          <p:nvPr/>
        </p:nvSpPr>
        <p:spPr>
          <a:xfrm>
            <a:off x="457200" y="2240280"/>
            <a:ext cx="457200" cy="457200"/>
          </a:xfrm>
          <a:prstGeom prst="ellipse">
            <a:avLst/>
          </a:prstGeom>
          <a:solidFill>
            <a:srgbClr val="C4A35A"/>
          </a:solidFill>
          <a:ln/>
        </p:spPr>
      </p:sp>
      <p:sp>
        <p:nvSpPr>
          <p:cNvPr id="9" name="Text 7"/>
          <p:cNvSpPr/>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1051560" y="21945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Subscribe to Pro</a:t>
            </a:r>
            <a:endParaRPr lang="en-US" sz="1400" dirty="0"/>
          </a:p>
        </p:txBody>
      </p:sp>
      <p:sp>
        <p:nvSpPr>
          <p:cNvPr id="11" name="Text 9"/>
          <p:cNvSpPr/>
          <p:nvPr/>
        </p:nvSpPr>
        <p:spPr>
          <a:xfrm>
            <a:off x="1051560" y="25146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Settings → Subscription → Pro ($20/mo). Pro gives you unlimited Pro searches with better models and deeper answers.</a:t>
            </a:r>
            <a:endParaRPr lang="en-US" sz="1100" dirty="0"/>
          </a:p>
        </p:txBody>
      </p:sp>
      <p:sp>
        <p:nvSpPr>
          <p:cNvPr id="12" name="Shape 10"/>
          <p:cNvSpPr/>
          <p:nvPr/>
        </p:nvSpPr>
        <p:spPr>
          <a:xfrm>
            <a:off x="457200" y="3154680"/>
            <a:ext cx="457200" cy="457200"/>
          </a:xfrm>
          <a:prstGeom prst="ellipse">
            <a:avLst/>
          </a:prstGeom>
          <a:solidFill>
            <a:srgbClr val="C4A35A"/>
          </a:solidFill>
          <a:ln/>
        </p:spPr>
      </p:sp>
      <p:sp>
        <p:nvSpPr>
          <p:cNvPr id="13" name="Text 11"/>
          <p:cNvSpPr/>
          <p:nvPr/>
        </p:nvSpPr>
        <p:spPr>
          <a:xfrm>
            <a:off x="457200" y="31546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051560" y="31089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Try a Search</a:t>
            </a:r>
            <a:endParaRPr lang="en-US" sz="1400" dirty="0"/>
          </a:p>
        </p:txBody>
      </p:sp>
      <p:sp>
        <p:nvSpPr>
          <p:cNvPr id="15" name="Text 13"/>
          <p:cNvSpPr/>
          <p:nvPr/>
        </p:nvSpPr>
        <p:spPr>
          <a:xfrm>
            <a:off x="1051560" y="34290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Type a research question like 'What are emerging trends in smart home technology?' and verify you get sourced results.</a:t>
            </a:r>
            <a:endParaRPr lang="en-US" sz="1100" dirty="0"/>
          </a:p>
        </p:txBody>
      </p:sp>
      <p:sp>
        <p:nvSpPr>
          <p:cNvPr id="16" name="Shape 14"/>
          <p:cNvSpPr/>
          <p:nvPr/>
        </p:nvSpPr>
        <p:spPr>
          <a:xfrm>
            <a:off x="457200" y="3840480"/>
            <a:ext cx="8229600" cy="73152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7" name="Shape 15"/>
          <p:cNvSpPr/>
          <p:nvPr/>
        </p:nvSpPr>
        <p:spPr>
          <a:xfrm>
            <a:off x="457200" y="3840480"/>
            <a:ext cx="73152" cy="731520"/>
          </a:xfrm>
          <a:prstGeom prst="rect">
            <a:avLst/>
          </a:prstGeom>
          <a:solidFill>
            <a:srgbClr val="C4A35A"/>
          </a:solidFill>
          <a:ln/>
        </p:spPr>
      </p:sp>
      <p:sp>
        <p:nvSpPr>
          <p:cNvPr id="18" name="Text 16"/>
          <p:cNvSpPr/>
          <p:nvPr/>
        </p:nvSpPr>
        <p:spPr>
          <a:xfrm>
            <a:off x="685800" y="3840480"/>
            <a:ext cx="1828800" cy="731520"/>
          </a:xfrm>
          <a:prstGeom prst="rect">
            <a:avLst/>
          </a:prstGeom>
          <a:noFill/>
          <a:ln/>
        </p:spPr>
        <p:txBody>
          <a:bodyPr wrap="square" lIns="0" tIns="0" rIns="0" bIns="0" rtlCol="0" anchor="ctr"/>
          <a:lstStyle/>
          <a:p>
            <a:pPr indent="0" marL="0">
              <a:buNone/>
            </a:pPr>
            <a:r>
              <a:rPr lang="en-US" sz="1200" b="1" dirty="0">
                <a:solidFill>
                  <a:srgbClr val="1B365D"/>
                </a:solidFill>
                <a:latin typeface="Georgia" pitchFamily="34" charset="0"/>
                <a:ea typeface="Georgia" pitchFamily="34" charset="-122"/>
                <a:cs typeface="Georgia" pitchFamily="34" charset="-120"/>
              </a:rPr>
              <a:t>When You'll Use It:</a:t>
            </a:r>
            <a:endParaRPr lang="en-US" sz="1200" dirty="0"/>
          </a:p>
        </p:txBody>
      </p:sp>
      <p:sp>
        <p:nvSpPr>
          <p:cNvPr id="19" name="Text 17"/>
          <p:cNvSpPr/>
          <p:nvPr/>
        </p:nvSpPr>
        <p:spPr>
          <a:xfrm>
            <a:off x="2560320" y="3840480"/>
            <a:ext cx="5943600" cy="731520"/>
          </a:xfrm>
          <a:prstGeom prst="rect">
            <a:avLst/>
          </a:prstGeom>
          <a:noFill/>
          <a:ln/>
        </p:spPr>
        <p:txBody>
          <a:bodyPr wrap="square" rtlCol="0" anchor="ctr"/>
          <a:lstStyle/>
          <a:p>
            <a:pPr indent="0" marL="0">
              <a:buNone/>
            </a:pPr>
            <a:r>
              <a:rPr lang="en-US" sz="1100" dirty="0">
                <a:solidFill>
                  <a:srgbClr val="5A5A5A"/>
                </a:solidFill>
                <a:latin typeface="Arial" pitchFamily="34" charset="0"/>
                <a:ea typeface="Arial" pitchFamily="34" charset="-122"/>
                <a:cs typeface="Arial" pitchFamily="34" charset="-120"/>
              </a:rPr>
              <a:t>Claude will generate specific search queries for you → You paste them into Perplexity → Copy the results back to Claude</a:t>
            </a:r>
            <a:endParaRPr lang="en-US" sz="1100" dirty="0"/>
          </a:p>
        </p:txBody>
      </p:sp>
      <p:sp>
        <p:nvSpPr>
          <p:cNvPr id="20" name="Shape 18"/>
          <p:cNvSpPr/>
          <p:nvPr/>
        </p:nvSpPr>
        <p:spPr>
          <a:xfrm>
            <a:off x="6217920" y="274320"/>
            <a:ext cx="2560320" cy="914400"/>
          </a:xfrm>
          <a:prstGeom prst="rect">
            <a:avLst/>
          </a:prstGeom>
          <a:solidFill>
            <a:srgbClr val="1B365D"/>
          </a:solidFill>
          <a:ln/>
        </p:spPr>
      </p:sp>
      <p:sp>
        <p:nvSpPr>
          <p:cNvPr id="21" name="Text 19"/>
          <p:cNvSpPr/>
          <p:nvPr/>
        </p:nvSpPr>
        <p:spPr>
          <a:xfrm>
            <a:off x="6217920" y="32004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perplexity.ai</a:t>
            </a:r>
            <a:endParaRPr lang="en-US" sz="1600" dirty="0"/>
          </a:p>
        </p:txBody>
      </p:sp>
      <p:sp>
        <p:nvSpPr>
          <p:cNvPr id="22" name="Text 20"/>
          <p:cNvSpPr/>
          <p:nvPr/>
        </p:nvSpPr>
        <p:spPr>
          <a:xfrm>
            <a:off x="6217920" y="731520"/>
            <a:ext cx="2560320" cy="320040"/>
          </a:xfrm>
          <a:prstGeom prst="rect">
            <a:avLst/>
          </a:prstGeom>
          <a:noFill/>
          <a:ln/>
        </p:spPr>
        <p:txBody>
          <a:bodyPr wrap="square" lIns="0" tIns="0" rIns="0" bIns="0" rtlCol="0" anchor="ctr"/>
          <a:lstStyle/>
          <a:p>
            <a:pPr algn="ctr" indent="0" marL="0">
              <a:buNone/>
            </a:pPr>
            <a:r>
              <a:rPr lang="en-US" sz="1100" dirty="0">
                <a:solidFill>
                  <a:srgbClr val="C4A35A"/>
                </a:solidFill>
                <a:latin typeface="Arial" pitchFamily="34" charset="0"/>
                <a:ea typeface="Arial" pitchFamily="34" charset="-122"/>
                <a:cs typeface="Arial" pitchFamily="34" charset="-120"/>
              </a:rPr>
              <a:t>$20/month Pro plan</a:t>
            </a:r>
            <a:endParaRPr lang="en-US" sz="1100" dirty="0"/>
          </a:p>
        </p:txBody>
      </p:sp>
      <p:sp>
        <p:nvSpPr>
          <p:cNvPr id="23" name="Text 21"/>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45720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Google NotebookLM</a:t>
            </a:r>
            <a:endParaRPr lang="en-US" sz="2800" dirty="0"/>
          </a:p>
        </p:txBody>
      </p:sp>
      <p:sp>
        <p:nvSpPr>
          <p:cNvPr id="3" name="Text 1"/>
          <p:cNvSpPr/>
          <p:nvPr/>
        </p:nvSpPr>
        <p:spPr>
          <a:xfrm>
            <a:off x="457200" y="777240"/>
            <a:ext cx="4572000" cy="274320"/>
          </a:xfrm>
          <a:prstGeom prst="rect">
            <a:avLst/>
          </a:prstGeom>
          <a:noFill/>
          <a:ln/>
        </p:spPr>
        <p:txBody>
          <a:bodyPr wrap="square" lIns="0" tIns="0" rIns="0" bIns="0" rtlCol="0" anchor="ctr"/>
          <a:lstStyle/>
          <a:p>
            <a:pPr indent="0" marL="0">
              <a:buNone/>
            </a:pPr>
            <a:r>
              <a:rPr lang="en-US" sz="1000" b="1" spc="200" kern="0" dirty="0">
                <a:solidFill>
                  <a:srgbClr val="C4A35A"/>
                </a:solidFill>
                <a:latin typeface="Arial" pitchFamily="34" charset="0"/>
                <a:ea typeface="Arial" pitchFamily="34" charset="-122"/>
                <a:cs typeface="Arial" pitchFamily="34" charset="-120"/>
              </a:rPr>
              <a:t>DEEP RESEARCH ANALYSIS  •  PHASE 4</a:t>
            </a:r>
            <a:endParaRPr lang="en-US" sz="1000" dirty="0"/>
          </a:p>
        </p:txBody>
      </p:sp>
      <p:sp>
        <p:nvSpPr>
          <p:cNvPr id="4" name="Shape 2"/>
          <p:cNvSpPr/>
          <p:nvPr/>
        </p:nvSpPr>
        <p:spPr>
          <a:xfrm>
            <a:off x="457200" y="1325880"/>
            <a:ext cx="457200" cy="457200"/>
          </a:xfrm>
          <a:prstGeom prst="ellipse">
            <a:avLst/>
          </a:prstGeom>
          <a:solidFill>
            <a:srgbClr val="C4A35A"/>
          </a:solidFill>
          <a:ln/>
        </p:spPr>
      </p:sp>
      <p:sp>
        <p:nvSpPr>
          <p:cNvPr id="5" name="Text 3"/>
          <p:cNvSpPr/>
          <p:nvPr/>
        </p:nvSpPr>
        <p:spPr>
          <a:xfrm>
            <a:off x="457200" y="13258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51560" y="12801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Go to NotebookLM</a:t>
            </a:r>
            <a:endParaRPr lang="en-US" sz="1400" dirty="0"/>
          </a:p>
        </p:txBody>
      </p:sp>
      <p:sp>
        <p:nvSpPr>
          <p:cNvPr id="7" name="Text 5"/>
          <p:cNvSpPr/>
          <p:nvPr/>
        </p:nvSpPr>
        <p:spPr>
          <a:xfrm>
            <a:off x="1051560" y="1600200"/>
            <a:ext cx="7315200" cy="384048"/>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Navigate to notebooklm.google.com and sign in with your Google account. It's completely free.</a:t>
            </a:r>
            <a:endParaRPr lang="en-US" sz="1100" dirty="0"/>
          </a:p>
        </p:txBody>
      </p:sp>
      <p:sp>
        <p:nvSpPr>
          <p:cNvPr id="8" name="Shape 6"/>
          <p:cNvSpPr/>
          <p:nvPr/>
        </p:nvSpPr>
        <p:spPr>
          <a:xfrm>
            <a:off x="457200" y="2194560"/>
            <a:ext cx="457200" cy="457200"/>
          </a:xfrm>
          <a:prstGeom prst="ellipse">
            <a:avLst/>
          </a:prstGeom>
          <a:solidFill>
            <a:srgbClr val="C4A35A"/>
          </a:solidFill>
          <a:ln/>
        </p:spPr>
      </p:sp>
      <p:sp>
        <p:nvSpPr>
          <p:cNvPr id="9" name="Text 7"/>
          <p:cNvSpPr/>
          <p:nvPr/>
        </p:nvSpPr>
        <p:spPr>
          <a:xfrm>
            <a:off x="457200" y="219456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1051560" y="214884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Create a Test Notebook</a:t>
            </a:r>
            <a:endParaRPr lang="en-US" sz="1400" dirty="0"/>
          </a:p>
        </p:txBody>
      </p:sp>
      <p:sp>
        <p:nvSpPr>
          <p:cNvPr id="11" name="Text 9"/>
          <p:cNvSpPr/>
          <p:nvPr/>
        </p:nvSpPr>
        <p:spPr>
          <a:xfrm>
            <a:off x="1051560" y="2468880"/>
            <a:ext cx="7315200" cy="384048"/>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Click 'New Notebook' and give it a name. Upload a PDF or paste a URL to add a source — this is how it learns.</a:t>
            </a:r>
            <a:endParaRPr lang="en-US" sz="1100" dirty="0"/>
          </a:p>
        </p:txBody>
      </p:sp>
      <p:sp>
        <p:nvSpPr>
          <p:cNvPr id="12" name="Shape 10"/>
          <p:cNvSpPr/>
          <p:nvPr/>
        </p:nvSpPr>
        <p:spPr>
          <a:xfrm>
            <a:off x="457200" y="3063240"/>
            <a:ext cx="457200" cy="457200"/>
          </a:xfrm>
          <a:prstGeom prst="ellipse">
            <a:avLst/>
          </a:prstGeom>
          <a:solidFill>
            <a:srgbClr val="C4A35A"/>
          </a:solidFill>
          <a:ln/>
        </p:spPr>
      </p:sp>
      <p:sp>
        <p:nvSpPr>
          <p:cNvPr id="13" name="Text 11"/>
          <p:cNvSpPr/>
          <p:nvPr/>
        </p:nvSpPr>
        <p:spPr>
          <a:xfrm>
            <a:off x="457200" y="306324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051560" y="301752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Try Deep Research</a:t>
            </a:r>
            <a:endParaRPr lang="en-US" sz="1400" dirty="0"/>
          </a:p>
        </p:txBody>
      </p:sp>
      <p:sp>
        <p:nvSpPr>
          <p:cNvPr id="15" name="Text 13"/>
          <p:cNvSpPr/>
          <p:nvPr/>
        </p:nvSpPr>
        <p:spPr>
          <a:xfrm>
            <a:off x="1051560" y="3337560"/>
            <a:ext cx="7315200" cy="384048"/>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Look for the Deep Research feature in your notebook. Ask it a question — it will analyze your sources AND find more on its own.</a:t>
            </a:r>
            <a:endParaRPr lang="en-US" sz="1100" dirty="0"/>
          </a:p>
        </p:txBody>
      </p:sp>
      <p:sp>
        <p:nvSpPr>
          <p:cNvPr id="16" name="Shape 14"/>
          <p:cNvSpPr/>
          <p:nvPr/>
        </p:nvSpPr>
        <p:spPr>
          <a:xfrm>
            <a:off x="457200" y="3931920"/>
            <a:ext cx="457200" cy="457200"/>
          </a:xfrm>
          <a:prstGeom prst="ellipse">
            <a:avLst/>
          </a:prstGeom>
          <a:solidFill>
            <a:srgbClr val="C4A35A"/>
          </a:solidFill>
          <a:ln/>
        </p:spPr>
      </p:sp>
      <p:sp>
        <p:nvSpPr>
          <p:cNvPr id="17" name="Text 15"/>
          <p:cNvSpPr/>
          <p:nvPr/>
        </p:nvSpPr>
        <p:spPr>
          <a:xfrm>
            <a:off x="457200" y="393192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4</a:t>
            </a:r>
            <a:endParaRPr lang="en-US" sz="1600" dirty="0"/>
          </a:p>
        </p:txBody>
      </p:sp>
      <p:sp>
        <p:nvSpPr>
          <p:cNvPr id="18" name="Text 16"/>
          <p:cNvSpPr/>
          <p:nvPr/>
        </p:nvSpPr>
        <p:spPr>
          <a:xfrm>
            <a:off x="1051560" y="388620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Plan Your Notebooks</a:t>
            </a:r>
            <a:endParaRPr lang="en-US" sz="1400" dirty="0"/>
          </a:p>
        </p:txBody>
      </p:sp>
      <p:sp>
        <p:nvSpPr>
          <p:cNvPr id="19" name="Text 17"/>
          <p:cNvSpPr/>
          <p:nvPr/>
        </p:nvSpPr>
        <p:spPr>
          <a:xfrm>
            <a:off x="1051560" y="4206240"/>
            <a:ext cx="7315200" cy="384048"/>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In Phase 4, you'll create one notebook per top concept. Each gets its own sources and deep research session.</a:t>
            </a:r>
            <a:endParaRPr lang="en-US" sz="1100" dirty="0"/>
          </a:p>
        </p:txBody>
      </p:sp>
      <p:sp>
        <p:nvSpPr>
          <p:cNvPr id="20" name="Shape 18"/>
          <p:cNvSpPr/>
          <p:nvPr/>
        </p:nvSpPr>
        <p:spPr>
          <a:xfrm>
            <a:off x="6217920" y="274320"/>
            <a:ext cx="2560320" cy="914400"/>
          </a:xfrm>
          <a:prstGeom prst="rect">
            <a:avLst/>
          </a:prstGeom>
          <a:solidFill>
            <a:srgbClr val="1B365D"/>
          </a:solidFill>
          <a:ln/>
        </p:spPr>
      </p:sp>
      <p:sp>
        <p:nvSpPr>
          <p:cNvPr id="21" name="Text 19"/>
          <p:cNvSpPr/>
          <p:nvPr/>
        </p:nvSpPr>
        <p:spPr>
          <a:xfrm>
            <a:off x="6217920" y="274320"/>
            <a:ext cx="25603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notebooklm</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.google.com</a:t>
            </a:r>
            <a:endParaRPr lang="en-US" sz="1400" dirty="0"/>
          </a:p>
        </p:txBody>
      </p:sp>
      <p:sp>
        <p:nvSpPr>
          <p:cNvPr id="22" name="Text 20"/>
          <p:cNvSpPr/>
          <p:nvPr/>
        </p:nvSpPr>
        <p:spPr>
          <a:xfrm>
            <a:off x="6217920" y="804672"/>
            <a:ext cx="2560320" cy="274320"/>
          </a:xfrm>
          <a:prstGeom prst="rect">
            <a:avLst/>
          </a:prstGeom>
          <a:noFill/>
          <a:ln/>
        </p:spPr>
        <p:txBody>
          <a:bodyPr wrap="square" lIns="0" tIns="0" rIns="0" bIns="0" rtlCol="0" anchor="ctr"/>
          <a:lstStyle/>
          <a:p>
            <a:pPr algn="ctr" indent="0" marL="0">
              <a:buNone/>
            </a:pPr>
            <a:r>
              <a:rPr lang="en-US" sz="1400" b="1" dirty="0">
                <a:solidFill>
                  <a:srgbClr val="4CAF50"/>
                </a:solidFill>
                <a:latin typeface="Arial" pitchFamily="34" charset="0"/>
                <a:ea typeface="Arial" pitchFamily="34" charset="-122"/>
                <a:cs typeface="Arial" pitchFamily="34" charset="-120"/>
              </a:rPr>
              <a:t>Free</a:t>
            </a:r>
            <a:endParaRPr lang="en-US" sz="1400" dirty="0"/>
          </a:p>
        </p:txBody>
      </p:sp>
      <p:sp>
        <p:nvSpPr>
          <p:cNvPr id="23" name="Text 21"/>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45720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Google AI Studio</a:t>
            </a:r>
            <a:endParaRPr lang="en-US" sz="2800" dirty="0"/>
          </a:p>
        </p:txBody>
      </p:sp>
      <p:sp>
        <p:nvSpPr>
          <p:cNvPr id="3" name="Text 1"/>
          <p:cNvSpPr/>
          <p:nvPr/>
        </p:nvSpPr>
        <p:spPr>
          <a:xfrm>
            <a:off x="457200" y="777240"/>
            <a:ext cx="4572000" cy="274320"/>
          </a:xfrm>
          <a:prstGeom prst="rect">
            <a:avLst/>
          </a:prstGeom>
          <a:noFill/>
          <a:ln/>
        </p:spPr>
        <p:txBody>
          <a:bodyPr wrap="square" lIns="0" tIns="0" rIns="0" bIns="0" rtlCol="0" anchor="ctr"/>
          <a:lstStyle/>
          <a:p>
            <a:pPr indent="0" marL="0">
              <a:buNone/>
            </a:pPr>
            <a:r>
              <a:rPr lang="en-US" sz="1000" b="1" spc="200" kern="0" dirty="0">
                <a:solidFill>
                  <a:srgbClr val="C4A35A"/>
                </a:solidFill>
                <a:latin typeface="Arial" pitchFamily="34" charset="0"/>
                <a:ea typeface="Arial" pitchFamily="34" charset="-122"/>
                <a:cs typeface="Arial" pitchFamily="34" charset="-120"/>
              </a:rPr>
              <a:t>GEMINI ACCESS FOR SECOND OPINION  •  PHASE 5</a:t>
            </a:r>
            <a:endParaRPr lang="en-US" sz="1000" dirty="0"/>
          </a:p>
        </p:txBody>
      </p:sp>
      <p:sp>
        <p:nvSpPr>
          <p:cNvPr id="4" name="Shape 2"/>
          <p:cNvSpPr/>
          <p:nvPr/>
        </p:nvSpPr>
        <p:spPr>
          <a:xfrm>
            <a:off x="457200" y="1325880"/>
            <a:ext cx="457200" cy="457200"/>
          </a:xfrm>
          <a:prstGeom prst="ellipse">
            <a:avLst/>
          </a:prstGeom>
          <a:solidFill>
            <a:srgbClr val="C4A35A"/>
          </a:solidFill>
          <a:ln/>
        </p:spPr>
      </p:sp>
      <p:sp>
        <p:nvSpPr>
          <p:cNvPr id="5" name="Text 3"/>
          <p:cNvSpPr/>
          <p:nvPr/>
        </p:nvSpPr>
        <p:spPr>
          <a:xfrm>
            <a:off x="457200" y="13258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51560" y="12801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Go to AI Studio</a:t>
            </a:r>
            <a:endParaRPr lang="en-US" sz="1400" dirty="0"/>
          </a:p>
        </p:txBody>
      </p:sp>
      <p:sp>
        <p:nvSpPr>
          <p:cNvPr id="7" name="Text 5"/>
          <p:cNvSpPr/>
          <p:nvPr/>
        </p:nvSpPr>
        <p:spPr>
          <a:xfrm>
            <a:off x="1051560" y="16002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Navigate to aistudio.google.com and sign in with your Google account. Free access to Gemini models.</a:t>
            </a:r>
            <a:endParaRPr lang="en-US" sz="1100" dirty="0"/>
          </a:p>
        </p:txBody>
      </p:sp>
      <p:sp>
        <p:nvSpPr>
          <p:cNvPr id="8" name="Shape 6"/>
          <p:cNvSpPr/>
          <p:nvPr/>
        </p:nvSpPr>
        <p:spPr>
          <a:xfrm>
            <a:off x="457200" y="2240280"/>
            <a:ext cx="457200" cy="457200"/>
          </a:xfrm>
          <a:prstGeom prst="ellipse">
            <a:avLst/>
          </a:prstGeom>
          <a:solidFill>
            <a:srgbClr val="C4A35A"/>
          </a:solidFill>
          <a:ln/>
        </p:spPr>
      </p:sp>
      <p:sp>
        <p:nvSpPr>
          <p:cNvPr id="9" name="Text 7"/>
          <p:cNvSpPr/>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1051560" y="21945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Open a Chat</a:t>
            </a:r>
            <a:endParaRPr lang="en-US" sz="1400" dirty="0"/>
          </a:p>
        </p:txBody>
      </p:sp>
      <p:sp>
        <p:nvSpPr>
          <p:cNvPr id="11" name="Text 9"/>
          <p:cNvSpPr/>
          <p:nvPr/>
        </p:nvSpPr>
        <p:spPr>
          <a:xfrm>
            <a:off x="1051560" y="25146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Click 'Create new prompt' or 'Chat' to start a conversation with Gemini. Make sure you're using the latest model.</a:t>
            </a:r>
            <a:endParaRPr lang="en-US" sz="1100" dirty="0"/>
          </a:p>
        </p:txBody>
      </p:sp>
      <p:sp>
        <p:nvSpPr>
          <p:cNvPr id="12" name="Shape 10"/>
          <p:cNvSpPr/>
          <p:nvPr/>
        </p:nvSpPr>
        <p:spPr>
          <a:xfrm>
            <a:off x="457200" y="3154680"/>
            <a:ext cx="457200" cy="457200"/>
          </a:xfrm>
          <a:prstGeom prst="ellipse">
            <a:avLst/>
          </a:prstGeom>
          <a:solidFill>
            <a:srgbClr val="C4A35A"/>
          </a:solidFill>
          <a:ln/>
        </p:spPr>
      </p:sp>
      <p:sp>
        <p:nvSpPr>
          <p:cNvPr id="13" name="Text 11"/>
          <p:cNvSpPr/>
          <p:nvPr/>
        </p:nvSpPr>
        <p:spPr>
          <a:xfrm>
            <a:off x="457200" y="315468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051560" y="3108960"/>
            <a:ext cx="2743200" cy="320040"/>
          </a:xfrm>
          <a:prstGeom prst="rect">
            <a:avLst/>
          </a:prstGeom>
          <a:noFill/>
          <a:ln/>
        </p:spPr>
        <p:txBody>
          <a:bodyPr wrap="square" lIns="0" tIns="0" rIns="0" bIns="0" rtlCol="0" anchor="ctr"/>
          <a:lstStyle/>
          <a:p>
            <a:pPr indent="0" marL="0">
              <a:buNone/>
            </a:pPr>
            <a:r>
              <a:rPr lang="en-US" sz="1400" b="1" dirty="0">
                <a:solidFill>
                  <a:srgbClr val="1B365D"/>
                </a:solidFill>
                <a:latin typeface="Georgia" pitchFamily="34" charset="0"/>
                <a:ea typeface="Georgia" pitchFamily="34" charset="-122"/>
                <a:cs typeface="Georgia" pitchFamily="34" charset="-120"/>
              </a:rPr>
              <a:t>Test It</a:t>
            </a:r>
            <a:endParaRPr lang="en-US" sz="1400" dirty="0"/>
          </a:p>
        </p:txBody>
      </p:sp>
      <p:sp>
        <p:nvSpPr>
          <p:cNvPr id="15" name="Text 13"/>
          <p:cNvSpPr/>
          <p:nvPr/>
        </p:nvSpPr>
        <p:spPr>
          <a:xfrm>
            <a:off x="1051560" y="3429000"/>
            <a:ext cx="731520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Ask a question to verify it works. In Phase 5, Claude will generate a formatted evaluation prompt you'll paste here.</a:t>
            </a:r>
            <a:endParaRPr lang="en-US" sz="1100" dirty="0"/>
          </a:p>
        </p:txBody>
      </p:sp>
      <p:sp>
        <p:nvSpPr>
          <p:cNvPr id="16" name="Shape 14"/>
          <p:cNvSpPr/>
          <p:nvPr/>
        </p:nvSpPr>
        <p:spPr>
          <a:xfrm>
            <a:off x="457200" y="3657600"/>
            <a:ext cx="8229600" cy="9144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7" name="Shape 15"/>
          <p:cNvSpPr/>
          <p:nvPr/>
        </p:nvSpPr>
        <p:spPr>
          <a:xfrm>
            <a:off x="457200" y="3657600"/>
            <a:ext cx="73152" cy="914400"/>
          </a:xfrm>
          <a:prstGeom prst="rect">
            <a:avLst/>
          </a:prstGeom>
          <a:solidFill>
            <a:srgbClr val="C4A35A"/>
          </a:solidFill>
          <a:ln/>
        </p:spPr>
      </p:sp>
      <p:sp>
        <p:nvSpPr>
          <p:cNvPr id="18" name="Text 16"/>
          <p:cNvSpPr/>
          <p:nvPr/>
        </p:nvSpPr>
        <p:spPr>
          <a:xfrm>
            <a:off x="685800" y="3657600"/>
            <a:ext cx="1828800" cy="914400"/>
          </a:xfrm>
          <a:prstGeom prst="rect">
            <a:avLst/>
          </a:prstGeom>
          <a:noFill/>
          <a:ln/>
        </p:spPr>
        <p:txBody>
          <a:bodyPr wrap="square" lIns="0" tIns="0" rIns="0" bIns="0" rtlCol="0" anchor="ctr"/>
          <a:lstStyle/>
          <a:p>
            <a:pPr indent="0" marL="0">
              <a:buNone/>
            </a:pPr>
            <a:r>
              <a:rPr lang="en-US" sz="1200" b="1" dirty="0">
                <a:solidFill>
                  <a:srgbClr val="1B365D"/>
                </a:solidFill>
                <a:latin typeface="Georgia" pitchFamily="34" charset="0"/>
                <a:ea typeface="Georgia" pitchFamily="34" charset="-122"/>
                <a:cs typeface="Georgia" pitchFamily="34" charset="-120"/>
              </a:rPr>
              <a:t>Why Two Models?</a:t>
            </a:r>
            <a:endParaRPr lang="en-US" sz="1200" dirty="0"/>
          </a:p>
        </p:txBody>
      </p:sp>
      <p:sp>
        <p:nvSpPr>
          <p:cNvPr id="19" name="Text 17"/>
          <p:cNvSpPr/>
          <p:nvPr/>
        </p:nvSpPr>
        <p:spPr>
          <a:xfrm>
            <a:off x="2560320" y="3657600"/>
            <a:ext cx="5943600" cy="914400"/>
          </a:xfrm>
          <a:prstGeom prst="rect">
            <a:avLst/>
          </a:prstGeom>
          <a:noFill/>
          <a:ln/>
        </p:spPr>
        <p:txBody>
          <a:bodyPr wrap="square" rtlCol="0" anchor="ctr"/>
          <a:lstStyle/>
          <a:p>
            <a:pPr indent="0" marL="0">
              <a:lnSpc>
                <a:spcPct val="130000"/>
              </a:lnSpc>
              <a:buNone/>
            </a:pPr>
            <a:r>
              <a:rPr lang="en-US" sz="1100" dirty="0">
                <a:solidFill>
                  <a:srgbClr val="5A5A5A"/>
                </a:solidFill>
                <a:latin typeface="Arial" pitchFamily="34" charset="0"/>
                <a:ea typeface="Arial" pitchFamily="34" charset="-122"/>
                <a:cs typeface="Arial" pitchFamily="34" charset="-120"/>
              </a:rPr>
              <a:t>The 'LLM Council' approach — Claude and Gemini independently score your concepts. Where they agree, you have high confidence. Where they disagree, you investigate further. This eliminates single-model bias.</a:t>
            </a:r>
            <a:endParaRPr lang="en-US" sz="1100" dirty="0"/>
          </a:p>
        </p:txBody>
      </p:sp>
      <p:sp>
        <p:nvSpPr>
          <p:cNvPr id="20" name="Shape 18"/>
          <p:cNvSpPr/>
          <p:nvPr/>
        </p:nvSpPr>
        <p:spPr>
          <a:xfrm>
            <a:off x="6217920" y="274320"/>
            <a:ext cx="2560320" cy="914400"/>
          </a:xfrm>
          <a:prstGeom prst="rect">
            <a:avLst/>
          </a:prstGeom>
          <a:solidFill>
            <a:srgbClr val="1B365D"/>
          </a:solidFill>
          <a:ln/>
        </p:spPr>
      </p:sp>
      <p:sp>
        <p:nvSpPr>
          <p:cNvPr id="21" name="Text 19"/>
          <p:cNvSpPr/>
          <p:nvPr/>
        </p:nvSpPr>
        <p:spPr>
          <a:xfrm>
            <a:off x="6217920" y="274320"/>
            <a:ext cx="25603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aistudio</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.google.com</a:t>
            </a:r>
            <a:endParaRPr lang="en-US" sz="1400" dirty="0"/>
          </a:p>
        </p:txBody>
      </p:sp>
      <p:sp>
        <p:nvSpPr>
          <p:cNvPr id="22" name="Text 20"/>
          <p:cNvSpPr/>
          <p:nvPr/>
        </p:nvSpPr>
        <p:spPr>
          <a:xfrm>
            <a:off x="6217920" y="804672"/>
            <a:ext cx="2560320" cy="274320"/>
          </a:xfrm>
          <a:prstGeom prst="rect">
            <a:avLst/>
          </a:prstGeom>
          <a:noFill/>
          <a:ln/>
        </p:spPr>
        <p:txBody>
          <a:bodyPr wrap="square" lIns="0" tIns="0" rIns="0" bIns="0" rtlCol="0" anchor="ctr"/>
          <a:lstStyle/>
          <a:p>
            <a:pPr algn="ctr" indent="0" marL="0">
              <a:buNone/>
            </a:pPr>
            <a:r>
              <a:rPr lang="en-US" sz="1400" b="1" dirty="0">
                <a:solidFill>
                  <a:srgbClr val="4CAF50"/>
                </a:solidFill>
                <a:latin typeface="Arial" pitchFamily="34" charset="0"/>
                <a:ea typeface="Arial" pitchFamily="34" charset="-122"/>
                <a:cs typeface="Arial" pitchFamily="34" charset="-120"/>
              </a:rPr>
              <a:t>Free</a:t>
            </a:r>
            <a:endParaRPr lang="en-US" sz="1400" dirty="0"/>
          </a:p>
        </p:txBody>
      </p:sp>
      <p:sp>
        <p:nvSpPr>
          <p:cNvPr id="23" name="Text 21"/>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8"/>
        </a:solidFill>
      </p:bgPr>
    </p:bg>
    <p:spTree>
      <p:nvGrpSpPr>
        <p:cNvPr id="1" name=""/>
        <p:cNvGrpSpPr/>
        <p:nvPr/>
      </p:nvGrpSpPr>
      <p:grpSpPr>
        <a:xfrm>
          <a:off x="0" y="0"/>
          <a:ext cx="0" cy="0"/>
          <a:chOff x="0" y="0"/>
          <a:chExt cx="0" cy="0"/>
        </a:xfrm>
      </p:grpSpPr>
      <p:sp>
        <p:nvSpPr>
          <p:cNvPr id="2" name="Shape 0"/>
          <p:cNvSpPr/>
          <p:nvPr/>
        </p:nvSpPr>
        <p:spPr>
          <a:xfrm>
            <a:off x="3200400" y="1645920"/>
            <a:ext cx="2743200" cy="54864"/>
          </a:xfrm>
          <a:prstGeom prst="rect">
            <a:avLst/>
          </a:prstGeom>
          <a:solidFill>
            <a:srgbClr val="C4A35A"/>
          </a:solidFill>
          <a:ln/>
        </p:spPr>
      </p:sp>
      <p:sp>
        <p:nvSpPr>
          <p:cNvPr id="3" name="Text 1"/>
          <p:cNvSpPr/>
          <p:nvPr/>
        </p:nvSpPr>
        <p:spPr>
          <a:xfrm>
            <a:off x="457200" y="1920240"/>
            <a:ext cx="8229600" cy="457200"/>
          </a:xfrm>
          <a:prstGeom prst="rect">
            <a:avLst/>
          </a:prstGeom>
          <a:noFill/>
          <a:ln/>
        </p:spPr>
        <p:txBody>
          <a:bodyPr wrap="square" rtlCol="0" anchor="ctr"/>
          <a:lstStyle/>
          <a:p>
            <a:pPr algn="ctr" indent="0" marL="0">
              <a:buNone/>
            </a:pPr>
            <a:r>
              <a:rPr lang="en-US" sz="1600" b="1" spc="400" kern="0" dirty="0">
                <a:solidFill>
                  <a:srgbClr val="C4A35A"/>
                </a:solidFill>
                <a:latin typeface="Arial" pitchFamily="34" charset="0"/>
                <a:ea typeface="Arial" pitchFamily="34" charset="-122"/>
                <a:cs typeface="Arial" pitchFamily="34" charset="-120"/>
              </a:rPr>
              <a:t>STEP 2</a:t>
            </a:r>
            <a:endParaRPr lang="en-US" sz="1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Install the Pipeline</a:t>
            </a:r>
            <a:endParaRPr lang="en-US" sz="3600" dirty="0"/>
          </a:p>
        </p:txBody>
      </p:sp>
      <p:sp>
        <p:nvSpPr>
          <p:cNvPr id="5" name="Text 3"/>
          <p:cNvSpPr/>
          <p:nvPr/>
        </p:nvSpPr>
        <p:spPr>
          <a:xfrm>
            <a:off x="914400" y="3200400"/>
            <a:ext cx="7315200" cy="457200"/>
          </a:xfrm>
          <a:prstGeom prst="rect">
            <a:avLst/>
          </a:prstGeom>
          <a:noFill/>
          <a:ln/>
        </p:spPr>
        <p:txBody>
          <a:bodyPr wrap="square" rtlCol="0" anchor="ctr"/>
          <a:lstStyle/>
          <a:p>
            <a:pPr algn="ctr" indent="0" marL="0">
              <a:buNone/>
            </a:pPr>
            <a:r>
              <a:rPr lang="en-US" sz="1400" dirty="0">
                <a:solidFill>
                  <a:srgbClr val="C4A35A"/>
                </a:solidFill>
                <a:latin typeface="Arial" pitchFamily="34" charset="0"/>
                <a:ea typeface="Arial" pitchFamily="34" charset="-122"/>
                <a:cs typeface="Arial" pitchFamily="34" charset="-120"/>
              </a:rPr>
              <a:t>One file, one command — everything set up in seconds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The One-File Setup</a:t>
            </a:r>
            <a:endParaRPr lang="en-US" sz="28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000" b="1" spc="200" kern="0" dirty="0">
                <a:solidFill>
                  <a:srgbClr val="C4A35A"/>
                </a:solidFill>
                <a:latin typeface="Arial" pitchFamily="34" charset="0"/>
                <a:ea typeface="Arial" pitchFamily="34" charset="-122"/>
                <a:cs typeface="Arial" pitchFamily="34" charset="-120"/>
              </a:rPr>
              <a:t>DOWNLOAD ONE FILE  •  RUN ONE COMMAND  •  DONE</a:t>
            </a:r>
            <a:endParaRPr lang="en-US" sz="1000" dirty="0"/>
          </a:p>
        </p:txBody>
      </p:sp>
      <p:sp>
        <p:nvSpPr>
          <p:cNvPr id="4" name="Shape 2"/>
          <p:cNvSpPr/>
          <p:nvPr/>
        </p:nvSpPr>
        <p:spPr>
          <a:xfrm>
            <a:off x="457200" y="1280160"/>
            <a:ext cx="3931920" cy="32004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5" name="Shape 3"/>
          <p:cNvSpPr/>
          <p:nvPr/>
        </p:nvSpPr>
        <p:spPr>
          <a:xfrm>
            <a:off x="457200" y="1280160"/>
            <a:ext cx="3931920" cy="457200"/>
          </a:xfrm>
          <a:prstGeom prst="rect">
            <a:avLst/>
          </a:prstGeom>
          <a:solidFill>
            <a:srgbClr val="1B365D"/>
          </a:solidFill>
          <a:ln/>
        </p:spPr>
      </p:sp>
      <p:sp>
        <p:nvSpPr>
          <p:cNvPr id="6" name="Text 4"/>
          <p:cNvSpPr/>
          <p:nvPr/>
        </p:nvSpPr>
        <p:spPr>
          <a:xfrm>
            <a:off x="457200" y="1280160"/>
            <a:ext cx="3931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What You Download</a:t>
            </a:r>
            <a:endParaRPr lang="en-US" sz="1400" dirty="0"/>
          </a:p>
        </p:txBody>
      </p:sp>
      <p:sp>
        <p:nvSpPr>
          <p:cNvPr id="7" name="Text 5"/>
          <p:cNvSpPr/>
          <p:nvPr/>
        </p:nvSpPr>
        <p:spPr>
          <a:xfrm>
            <a:off x="731520" y="1920240"/>
            <a:ext cx="3383280" cy="2286000"/>
          </a:xfrm>
          <a:prstGeom prst="rect">
            <a:avLst/>
          </a:prstGeom>
          <a:noFill/>
          <a:ln/>
        </p:spPr>
        <p:txBody>
          <a:bodyPr wrap="square" rtlCol="0" anchor="ctr"/>
          <a:lstStyle/>
          <a:p>
            <a:pPr indent="0" marL="0">
              <a:lnSpc>
                <a:spcPct val="130000"/>
              </a:lnSpc>
              <a:buNone/>
            </a:pPr>
            <a:r>
              <a:rPr lang="en-US" sz="1300" b="1" dirty="0">
                <a:solidFill>
                  <a:srgbClr val="1B365D"/>
                </a:solidFill>
                <a:latin typeface="Courier New" pitchFamily="34" charset="0"/>
                <a:ea typeface="Courier New" pitchFamily="34" charset="-122"/>
                <a:cs typeface="Courier New" pitchFamily="34" charset="-120"/>
              </a:rPr>
              <a:t>setup-mkt2700-pipeline.sh</a:t>
            </a:r>
            <a:endParaRPr lang="en-US" sz="1300" dirty="0"/>
          </a:p>
          <a:p>
            <a:pPr indent="0" marL="0">
              <a:lnSpc>
                <a:spcPct val="130000"/>
              </a:lnSpc>
              <a:buNone/>
            </a:pPr>
            <a:endParaRPr lang="en-US" sz="13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A single setup script (~32 KB) that contains all 9 skill files, a progress tracker, and a README packed inside it.</a:t>
            </a:r>
            <a:endParaRPr lang="en-US" sz="1300" dirty="0"/>
          </a:p>
          <a:p>
            <a:pPr indent="0" marL="0">
              <a:lnSpc>
                <a:spcPct val="130000"/>
              </a:lnSpc>
              <a:buNone/>
            </a:pPr>
            <a:endParaRPr lang="en-US" sz="13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Download from:</a:t>
            </a:r>
            <a:endParaRPr lang="en-US" sz="1300" dirty="0"/>
          </a:p>
          <a:p>
            <a:pPr indent="0" marL="0">
              <a:lnSpc>
                <a:spcPct val="130000"/>
              </a:lnSpc>
              <a:buNone/>
            </a:pPr>
            <a:r>
              <a:rPr lang="en-US" sz="1100" b="1" dirty="0">
                <a:solidFill>
                  <a:srgbClr val="C4A35A"/>
                </a:solidFill>
                <a:latin typeface="Arial" pitchFamily="34" charset="0"/>
                <a:ea typeface="Arial" pitchFamily="34" charset="-122"/>
                <a:cs typeface="Arial" pitchFamily="34" charset="-120"/>
              </a:rPr>
              <a:t>[Canvas / Google Drive link]</a:t>
            </a:r>
            <a:endParaRPr lang="en-US" sz="1300" dirty="0"/>
          </a:p>
        </p:txBody>
      </p:sp>
      <p:sp>
        <p:nvSpPr>
          <p:cNvPr id="8" name="Shape 6"/>
          <p:cNvSpPr/>
          <p:nvPr/>
        </p:nvSpPr>
        <p:spPr>
          <a:xfrm>
            <a:off x="4754880" y="1280160"/>
            <a:ext cx="3931920" cy="32004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9" name="Shape 7"/>
          <p:cNvSpPr/>
          <p:nvPr/>
        </p:nvSpPr>
        <p:spPr>
          <a:xfrm>
            <a:off x="4754880" y="1280160"/>
            <a:ext cx="3931920" cy="457200"/>
          </a:xfrm>
          <a:prstGeom prst="rect">
            <a:avLst/>
          </a:prstGeom>
          <a:solidFill>
            <a:srgbClr val="1B365D"/>
          </a:solidFill>
          <a:ln/>
        </p:spPr>
      </p:sp>
      <p:sp>
        <p:nvSpPr>
          <p:cNvPr id="10" name="Text 8"/>
          <p:cNvSpPr/>
          <p:nvPr/>
        </p:nvSpPr>
        <p:spPr>
          <a:xfrm>
            <a:off x="4754880" y="1280160"/>
            <a:ext cx="3931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What It Creates</a:t>
            </a:r>
            <a:endParaRPr lang="en-US" sz="1400" dirty="0"/>
          </a:p>
        </p:txBody>
      </p:sp>
      <p:sp>
        <p:nvSpPr>
          <p:cNvPr id="11" name="Text 9"/>
          <p:cNvSpPr/>
          <p:nvPr/>
        </p:nvSpPr>
        <p:spPr>
          <a:xfrm>
            <a:off x="5029200" y="1920240"/>
            <a:ext cx="3383280" cy="2286000"/>
          </a:xfrm>
          <a:prstGeom prst="rect">
            <a:avLst/>
          </a:prstGeom>
          <a:noFill/>
          <a:ln/>
        </p:spPr>
        <p:txBody>
          <a:bodyPr wrap="square" rtlCol="0" anchor="ctr"/>
          <a:lstStyle/>
          <a:p>
            <a:pPr indent="0" marL="0">
              <a:lnSpc>
                <a:spcPct val="140000"/>
              </a:lnSpc>
              <a:buNone/>
            </a:pPr>
            <a:r>
              <a:rPr lang="en-US" sz="1100" b="1" dirty="0">
                <a:solidFill>
                  <a:srgbClr val="1B365D"/>
                </a:solidFill>
                <a:latin typeface="Courier New" pitchFamily="34" charset="0"/>
                <a:ea typeface="Courier New" pitchFamily="34" charset="-122"/>
                <a:cs typeface="Courier New" pitchFamily="34" charset="-120"/>
              </a:rPr>
              <a:t>mkt2700-pipeline/</a:t>
            </a:r>
            <a:endParaRPr lang="en-US" sz="1100" dirty="0"/>
          </a:p>
          <a:p>
            <a:pPr indent="0" marL="0">
              <a:lnSpc>
                <a:spcPct val="140000"/>
              </a:lnSpc>
              <a:buNone/>
            </a:pPr>
            <a:r>
              <a:rPr lang="en-US" sz="1000" dirty="0">
                <a:solidFill>
                  <a:srgbClr val="5A5A5A"/>
                </a:solidFill>
                <a:latin typeface="Courier New" pitchFamily="34" charset="0"/>
                <a:ea typeface="Courier New" pitchFamily="34" charset="-122"/>
                <a:cs typeface="Courier New" pitchFamily="34" charset="-120"/>
              </a:rPr>
              <a:t>├── README.md</a:t>
            </a:r>
            <a:endParaRPr lang="en-US" sz="1100" dirty="0"/>
          </a:p>
          <a:p>
            <a:pPr indent="0" marL="0">
              <a:lnSpc>
                <a:spcPct val="140000"/>
              </a:lnSpc>
              <a:buNone/>
            </a:pPr>
            <a:r>
              <a:rPr lang="en-US" sz="1000" dirty="0">
                <a:solidFill>
                  <a:srgbClr val="5A5A5A"/>
                </a:solidFill>
                <a:latin typeface="Courier New" pitchFamily="34" charset="0"/>
                <a:ea typeface="Courier New" pitchFamily="34" charset="-122"/>
                <a:cs typeface="Courier New" pitchFamily="34" charset="-120"/>
              </a:rPr>
              <a:t>├── plan.md</a:t>
            </a:r>
            <a:endParaRPr lang="en-US" sz="1100" dirty="0"/>
          </a:p>
          <a:p>
            <a:pPr indent="0" marL="0">
              <a:lnSpc>
                <a:spcPct val="140000"/>
              </a:lnSpc>
              <a:buNone/>
            </a:pPr>
            <a:r>
              <a:rPr lang="en-US" sz="1000" dirty="0">
                <a:solidFill>
                  <a:srgbClr val="5A5A5A"/>
                </a:solidFill>
                <a:latin typeface="Courier New" pitchFamily="34" charset="0"/>
                <a:ea typeface="Courier New" pitchFamily="34" charset="-122"/>
                <a:cs typeface="Courier New" pitchFamily="34" charset="-120"/>
              </a:rPr>
              <a:t>└── skills/</a:t>
            </a:r>
            <a:endParaRPr lang="en-US" sz="1100" dirty="0"/>
          </a:p>
          <a:p>
            <a:pPr indent="0" marL="0">
              <a:lnSpc>
                <a:spcPct val="140000"/>
              </a:lnSpc>
              <a:buNone/>
            </a:pPr>
            <a:r>
              <a:rPr lang="en-US" sz="1000" dirty="0">
                <a:solidFill>
                  <a:srgbClr val="C4A35A"/>
                </a:solidFill>
                <a:latin typeface="Courier New" pitchFamily="34" charset="0"/>
                <a:ea typeface="Courier New" pitchFamily="34" charset="-122"/>
                <a:cs typeface="Courier New" pitchFamily="34" charset="-120"/>
              </a:rPr>
              <a:t>    ├── orchestrator.md</a:t>
            </a:r>
            <a:endParaRPr lang="en-US" sz="1100" dirty="0"/>
          </a:p>
          <a:p>
            <a:pPr indent="0" marL="0">
              <a:lnSpc>
                <a:spcPct val="140000"/>
              </a:lnSpc>
              <a:buNone/>
            </a:pPr>
            <a:r>
              <a:rPr lang="en-US" sz="1000" dirty="0">
                <a:solidFill>
                  <a:srgbClr val="C4A35A"/>
                </a:solidFill>
                <a:latin typeface="Courier New" pitchFamily="34" charset="0"/>
                <a:ea typeface="Courier New" pitchFamily="34" charset="-122"/>
                <a:cs typeface="Courier New" pitchFamily="34" charset="-120"/>
              </a:rPr>
              <a:t>    ├── phase-1 through phase-7</a:t>
            </a:r>
            <a:endParaRPr lang="en-US" sz="1100" dirty="0"/>
          </a:p>
          <a:p>
            <a:pPr indent="0" marL="0">
              <a:lnSpc>
                <a:spcPct val="140000"/>
              </a:lnSpc>
              <a:buNone/>
            </a:pPr>
            <a:r>
              <a:rPr lang="en-US" sz="1000" dirty="0">
                <a:solidFill>
                  <a:srgbClr val="5A5A5A"/>
                </a:solidFill>
                <a:latin typeface="Courier New" pitchFamily="34" charset="0"/>
                <a:ea typeface="Courier New" pitchFamily="34" charset="-122"/>
                <a:cs typeface="Courier New" pitchFamily="34" charset="-120"/>
              </a:rPr>
              <a:t>    └── DEPLOYMENT.md</a:t>
            </a:r>
            <a:endParaRPr lang="en-US" sz="1100" dirty="0"/>
          </a:p>
        </p:txBody>
      </p:sp>
      <p:sp>
        <p:nvSpPr>
          <p:cNvPr id="12" name="Text 10"/>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Running the Setup</a:t>
            </a:r>
            <a:endParaRPr lang="en-US" sz="2800" dirty="0"/>
          </a:p>
        </p:txBody>
      </p:sp>
      <p:sp>
        <p:nvSpPr>
          <p:cNvPr id="3" name="Shape 1"/>
          <p:cNvSpPr/>
          <p:nvPr/>
        </p:nvSpPr>
        <p:spPr>
          <a:xfrm>
            <a:off x="457200" y="1005840"/>
            <a:ext cx="3931920" cy="36576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4" name="Shape 2"/>
          <p:cNvSpPr/>
          <p:nvPr/>
        </p:nvSpPr>
        <p:spPr>
          <a:xfrm>
            <a:off x="457200" y="1005840"/>
            <a:ext cx="3931920" cy="457200"/>
          </a:xfrm>
          <a:prstGeom prst="rect">
            <a:avLst/>
          </a:prstGeom>
          <a:solidFill>
            <a:srgbClr val="1B365D"/>
          </a:solidFill>
          <a:ln/>
        </p:spPr>
      </p:sp>
      <p:sp>
        <p:nvSpPr>
          <p:cNvPr id="5" name="Text 3"/>
          <p:cNvSpPr/>
          <p:nvPr/>
        </p:nvSpPr>
        <p:spPr>
          <a:xfrm>
            <a:off x="457200" y="100584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Option A: Claude Code (Terminal)</a:t>
            </a:r>
            <a:endParaRPr lang="en-US" sz="1300" dirty="0"/>
          </a:p>
        </p:txBody>
      </p:sp>
      <p:sp>
        <p:nvSpPr>
          <p:cNvPr id="6" name="Shape 4"/>
          <p:cNvSpPr/>
          <p:nvPr/>
        </p:nvSpPr>
        <p:spPr>
          <a:xfrm>
            <a:off x="640080" y="1645920"/>
            <a:ext cx="320040" cy="320040"/>
          </a:xfrm>
          <a:prstGeom prst="ellipse">
            <a:avLst/>
          </a:prstGeom>
          <a:solidFill>
            <a:srgbClr val="C4A35A"/>
          </a:solidFill>
          <a:ln/>
        </p:spPr>
      </p:sp>
      <p:sp>
        <p:nvSpPr>
          <p:cNvPr id="7" name="Text 5"/>
          <p:cNvSpPr/>
          <p:nvPr/>
        </p:nvSpPr>
        <p:spPr>
          <a:xfrm>
            <a:off x="640080" y="16459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051560" y="16459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Download the .sh file to your project folder</a:t>
            </a:r>
            <a:endParaRPr lang="en-US" sz="1000" dirty="0"/>
          </a:p>
        </p:txBody>
      </p:sp>
      <p:sp>
        <p:nvSpPr>
          <p:cNvPr id="9" name="Shape 7"/>
          <p:cNvSpPr/>
          <p:nvPr/>
        </p:nvSpPr>
        <p:spPr>
          <a:xfrm>
            <a:off x="640080" y="2103120"/>
            <a:ext cx="320040" cy="320040"/>
          </a:xfrm>
          <a:prstGeom prst="ellipse">
            <a:avLst/>
          </a:prstGeom>
          <a:solidFill>
            <a:srgbClr val="C4A35A"/>
          </a:solidFill>
          <a:ln/>
        </p:spPr>
      </p:sp>
      <p:sp>
        <p:nvSpPr>
          <p:cNvPr id="10" name="Text 8"/>
          <p:cNvSpPr/>
          <p:nvPr/>
        </p:nvSpPr>
        <p:spPr>
          <a:xfrm>
            <a:off x="640080" y="21031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2</a:t>
            </a:r>
            <a:endParaRPr lang="en-US" sz="1400" dirty="0"/>
          </a:p>
        </p:txBody>
      </p:sp>
      <p:sp>
        <p:nvSpPr>
          <p:cNvPr id="11" name="Text 9"/>
          <p:cNvSpPr/>
          <p:nvPr/>
        </p:nvSpPr>
        <p:spPr>
          <a:xfrm>
            <a:off x="1051560" y="21031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Open your terminal</a:t>
            </a:r>
            <a:endParaRPr lang="en-US" sz="1000" dirty="0"/>
          </a:p>
        </p:txBody>
      </p:sp>
      <p:sp>
        <p:nvSpPr>
          <p:cNvPr id="12" name="Shape 10"/>
          <p:cNvSpPr/>
          <p:nvPr/>
        </p:nvSpPr>
        <p:spPr>
          <a:xfrm>
            <a:off x="640080" y="2560320"/>
            <a:ext cx="320040" cy="320040"/>
          </a:xfrm>
          <a:prstGeom prst="ellipse">
            <a:avLst/>
          </a:prstGeom>
          <a:solidFill>
            <a:srgbClr val="C4A35A"/>
          </a:solidFill>
          <a:ln/>
        </p:spPr>
      </p:sp>
      <p:sp>
        <p:nvSpPr>
          <p:cNvPr id="13" name="Text 11"/>
          <p:cNvSpPr/>
          <p:nvPr/>
        </p:nvSpPr>
        <p:spPr>
          <a:xfrm>
            <a:off x="640080" y="25603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1051560" y="2560320"/>
            <a:ext cx="3108960" cy="411480"/>
          </a:xfrm>
          <a:prstGeom prst="rect">
            <a:avLst/>
          </a:prstGeom>
          <a:noFill/>
          <a:ln/>
        </p:spPr>
        <p:txBody>
          <a:bodyPr wrap="square" lIns="0" tIns="0" rIns="0" bIns="0" rtlCol="0" anchor="ctr"/>
          <a:lstStyle/>
          <a:p>
            <a:pPr indent="0" marL="0">
              <a:buNone/>
            </a:pPr>
            <a:r>
              <a:rPr lang="en-US" sz="1000" b="1" dirty="0">
                <a:solidFill>
                  <a:srgbClr val="1B365D"/>
                </a:solidFill>
                <a:latin typeface="Courier New" pitchFamily="34" charset="0"/>
                <a:ea typeface="Courier New" pitchFamily="34" charset="-122"/>
                <a:cs typeface="Courier New" pitchFamily="34" charset="-120"/>
              </a:rPr>
              <a:t>Run:  bash setup-mkt2700-pipeline.sh</a:t>
            </a:r>
            <a:endParaRPr lang="en-US" sz="1000" dirty="0"/>
          </a:p>
        </p:txBody>
      </p:sp>
      <p:sp>
        <p:nvSpPr>
          <p:cNvPr id="15" name="Shape 13"/>
          <p:cNvSpPr/>
          <p:nvPr/>
        </p:nvSpPr>
        <p:spPr>
          <a:xfrm>
            <a:off x="640080" y="3017520"/>
            <a:ext cx="320040" cy="320040"/>
          </a:xfrm>
          <a:prstGeom prst="ellipse">
            <a:avLst/>
          </a:prstGeom>
          <a:solidFill>
            <a:srgbClr val="C4A35A"/>
          </a:solidFill>
          <a:ln/>
        </p:spPr>
      </p:sp>
      <p:sp>
        <p:nvSpPr>
          <p:cNvPr id="16" name="Text 14"/>
          <p:cNvSpPr/>
          <p:nvPr/>
        </p:nvSpPr>
        <p:spPr>
          <a:xfrm>
            <a:off x="640080" y="30175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4</a:t>
            </a:r>
            <a:endParaRPr lang="en-US" sz="1400" dirty="0"/>
          </a:p>
        </p:txBody>
      </p:sp>
      <p:sp>
        <p:nvSpPr>
          <p:cNvPr id="17" name="Text 15"/>
          <p:cNvSpPr/>
          <p:nvPr/>
        </p:nvSpPr>
        <p:spPr>
          <a:xfrm>
            <a:off x="1051560" y="3017520"/>
            <a:ext cx="3108960" cy="411480"/>
          </a:xfrm>
          <a:prstGeom prst="rect">
            <a:avLst/>
          </a:prstGeom>
          <a:noFill/>
          <a:ln/>
        </p:spPr>
        <p:txBody>
          <a:bodyPr wrap="square" lIns="0" tIns="0" rIns="0" bIns="0" rtlCol="0" anchor="ctr"/>
          <a:lstStyle/>
          <a:p>
            <a:pPr indent="0" marL="0">
              <a:buNone/>
            </a:pPr>
            <a:r>
              <a:rPr lang="en-US" sz="1000" b="1" dirty="0">
                <a:solidFill>
                  <a:srgbClr val="1B365D"/>
                </a:solidFill>
                <a:latin typeface="Courier New" pitchFamily="34" charset="0"/>
                <a:ea typeface="Courier New" pitchFamily="34" charset="-122"/>
                <a:cs typeface="Courier New" pitchFamily="34" charset="-120"/>
              </a:rPr>
              <a:t>Then:  cd mkt2700-pipeline</a:t>
            </a:r>
            <a:endParaRPr lang="en-US" sz="1000" dirty="0"/>
          </a:p>
        </p:txBody>
      </p:sp>
      <p:sp>
        <p:nvSpPr>
          <p:cNvPr id="18" name="Shape 16"/>
          <p:cNvSpPr/>
          <p:nvPr/>
        </p:nvSpPr>
        <p:spPr>
          <a:xfrm>
            <a:off x="640080" y="3474720"/>
            <a:ext cx="320040" cy="320040"/>
          </a:xfrm>
          <a:prstGeom prst="ellipse">
            <a:avLst/>
          </a:prstGeom>
          <a:solidFill>
            <a:srgbClr val="C4A35A"/>
          </a:solidFill>
          <a:ln/>
        </p:spPr>
      </p:sp>
      <p:sp>
        <p:nvSpPr>
          <p:cNvPr id="19" name="Text 17"/>
          <p:cNvSpPr/>
          <p:nvPr/>
        </p:nvSpPr>
        <p:spPr>
          <a:xfrm>
            <a:off x="640080" y="34747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5</a:t>
            </a:r>
            <a:endParaRPr lang="en-US" sz="1400" dirty="0"/>
          </a:p>
        </p:txBody>
      </p:sp>
      <p:sp>
        <p:nvSpPr>
          <p:cNvPr id="20" name="Text 18"/>
          <p:cNvSpPr/>
          <p:nvPr/>
        </p:nvSpPr>
        <p:spPr>
          <a:xfrm>
            <a:off x="1051560" y="3474720"/>
            <a:ext cx="3108960" cy="411480"/>
          </a:xfrm>
          <a:prstGeom prst="rect">
            <a:avLst/>
          </a:prstGeom>
          <a:noFill/>
          <a:ln/>
        </p:spPr>
        <p:txBody>
          <a:bodyPr wrap="square" lIns="0" tIns="0" rIns="0" bIns="0" rtlCol="0" anchor="ctr"/>
          <a:lstStyle/>
          <a:p>
            <a:pPr indent="0" marL="0">
              <a:buNone/>
            </a:pPr>
            <a:r>
              <a:rPr lang="en-US" sz="1000" b="1" dirty="0">
                <a:solidFill>
                  <a:srgbClr val="1B365D"/>
                </a:solidFill>
                <a:latin typeface="Courier New" pitchFamily="34" charset="0"/>
                <a:ea typeface="Courier New" pitchFamily="34" charset="-122"/>
                <a:cs typeface="Courier New" pitchFamily="34" charset="-120"/>
              </a:rPr>
              <a:t>Then:  claude</a:t>
            </a:r>
            <a:endParaRPr lang="en-US" sz="1000" dirty="0"/>
          </a:p>
        </p:txBody>
      </p:sp>
      <p:sp>
        <p:nvSpPr>
          <p:cNvPr id="21" name="Shape 19"/>
          <p:cNvSpPr/>
          <p:nvPr/>
        </p:nvSpPr>
        <p:spPr>
          <a:xfrm>
            <a:off x="640080" y="3931920"/>
            <a:ext cx="320040" cy="320040"/>
          </a:xfrm>
          <a:prstGeom prst="ellipse">
            <a:avLst/>
          </a:prstGeom>
          <a:solidFill>
            <a:srgbClr val="C4A35A"/>
          </a:solidFill>
          <a:ln/>
        </p:spPr>
      </p:sp>
      <p:sp>
        <p:nvSpPr>
          <p:cNvPr id="22" name="Text 20"/>
          <p:cNvSpPr/>
          <p:nvPr/>
        </p:nvSpPr>
        <p:spPr>
          <a:xfrm>
            <a:off x="640080" y="39319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6</a:t>
            </a:r>
            <a:endParaRPr lang="en-US" sz="1400" dirty="0"/>
          </a:p>
        </p:txBody>
      </p:sp>
      <p:sp>
        <p:nvSpPr>
          <p:cNvPr id="23" name="Text 21"/>
          <p:cNvSpPr/>
          <p:nvPr/>
        </p:nvSpPr>
        <p:spPr>
          <a:xfrm>
            <a:off x="1051560" y="39319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Say: 'Read the orchestrator skill and</a:t>
            </a:r>
            <a:endParaRPr lang="en-US" sz="1000" dirty="0"/>
          </a:p>
          <a:p>
            <a:pPr indent="0" marL="0">
              <a:buNone/>
            </a:pPr>
            <a:r>
              <a:rPr lang="en-US" sz="1000" dirty="0">
                <a:solidFill>
                  <a:srgbClr val="5A5A5A"/>
                </a:solidFill>
                <a:latin typeface="Arial" pitchFamily="34" charset="0"/>
                <a:ea typeface="Arial" pitchFamily="34" charset="-122"/>
                <a:cs typeface="Arial" pitchFamily="34" charset="-120"/>
              </a:rPr>
              <a:t>     start Phase 1'</a:t>
            </a:r>
            <a:endParaRPr lang="en-US" sz="1000" dirty="0"/>
          </a:p>
        </p:txBody>
      </p:sp>
      <p:sp>
        <p:nvSpPr>
          <p:cNvPr id="24" name="Shape 22"/>
          <p:cNvSpPr/>
          <p:nvPr/>
        </p:nvSpPr>
        <p:spPr>
          <a:xfrm>
            <a:off x="4754880" y="1005840"/>
            <a:ext cx="3931920" cy="36576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25" name="Shape 23"/>
          <p:cNvSpPr/>
          <p:nvPr/>
        </p:nvSpPr>
        <p:spPr>
          <a:xfrm>
            <a:off x="4754880" y="1005840"/>
            <a:ext cx="3931920" cy="457200"/>
          </a:xfrm>
          <a:prstGeom prst="rect">
            <a:avLst/>
          </a:prstGeom>
          <a:solidFill>
            <a:srgbClr val="1B365D"/>
          </a:solidFill>
          <a:ln/>
        </p:spPr>
      </p:sp>
      <p:sp>
        <p:nvSpPr>
          <p:cNvPr id="26" name="Text 24"/>
          <p:cNvSpPr/>
          <p:nvPr/>
        </p:nvSpPr>
        <p:spPr>
          <a:xfrm>
            <a:off x="4754880" y="100584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Option B: Claude.ai Project (Web)</a:t>
            </a:r>
            <a:endParaRPr lang="en-US" sz="1300" dirty="0"/>
          </a:p>
        </p:txBody>
      </p:sp>
      <p:sp>
        <p:nvSpPr>
          <p:cNvPr id="27" name="Shape 25"/>
          <p:cNvSpPr/>
          <p:nvPr/>
        </p:nvSpPr>
        <p:spPr>
          <a:xfrm>
            <a:off x="4937760" y="1645920"/>
            <a:ext cx="320040" cy="320040"/>
          </a:xfrm>
          <a:prstGeom prst="ellipse">
            <a:avLst/>
          </a:prstGeom>
          <a:solidFill>
            <a:srgbClr val="C4A35A"/>
          </a:solidFill>
          <a:ln/>
        </p:spPr>
      </p:sp>
      <p:sp>
        <p:nvSpPr>
          <p:cNvPr id="28" name="Text 26"/>
          <p:cNvSpPr/>
          <p:nvPr/>
        </p:nvSpPr>
        <p:spPr>
          <a:xfrm>
            <a:off x="4937760" y="16459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1</a:t>
            </a:r>
            <a:endParaRPr lang="en-US" sz="1400" dirty="0"/>
          </a:p>
        </p:txBody>
      </p:sp>
      <p:sp>
        <p:nvSpPr>
          <p:cNvPr id="29" name="Text 27"/>
          <p:cNvSpPr/>
          <p:nvPr/>
        </p:nvSpPr>
        <p:spPr>
          <a:xfrm>
            <a:off x="5349240" y="16459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Download + run the .sh file to get files</a:t>
            </a:r>
            <a:endParaRPr lang="en-US" sz="1000" dirty="0"/>
          </a:p>
          <a:p>
            <a:pPr indent="0" marL="0">
              <a:buNone/>
            </a:pPr>
            <a:r>
              <a:rPr lang="en-US" sz="1000" dirty="0">
                <a:solidFill>
                  <a:srgbClr val="5A5A5A"/>
                </a:solidFill>
                <a:latin typeface="Arial" pitchFamily="34" charset="0"/>
                <a:ea typeface="Arial" pitchFamily="34" charset="-122"/>
                <a:cs typeface="Arial" pitchFamily="34" charset="-120"/>
              </a:rPr>
              <a:t>(or download the zip from Canvas)</a:t>
            </a:r>
            <a:endParaRPr lang="en-US" sz="1000" dirty="0"/>
          </a:p>
        </p:txBody>
      </p:sp>
      <p:sp>
        <p:nvSpPr>
          <p:cNvPr id="30" name="Shape 28"/>
          <p:cNvSpPr/>
          <p:nvPr/>
        </p:nvSpPr>
        <p:spPr>
          <a:xfrm>
            <a:off x="4937760" y="2103120"/>
            <a:ext cx="320040" cy="320040"/>
          </a:xfrm>
          <a:prstGeom prst="ellipse">
            <a:avLst/>
          </a:prstGeom>
          <a:solidFill>
            <a:srgbClr val="C4A35A"/>
          </a:solidFill>
          <a:ln/>
        </p:spPr>
      </p:sp>
      <p:sp>
        <p:nvSpPr>
          <p:cNvPr id="31" name="Text 29"/>
          <p:cNvSpPr/>
          <p:nvPr/>
        </p:nvSpPr>
        <p:spPr>
          <a:xfrm>
            <a:off x="4937760" y="21031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2</a:t>
            </a:r>
            <a:endParaRPr lang="en-US" sz="1400" dirty="0"/>
          </a:p>
        </p:txBody>
      </p:sp>
      <p:sp>
        <p:nvSpPr>
          <p:cNvPr id="32" name="Text 30"/>
          <p:cNvSpPr/>
          <p:nvPr/>
        </p:nvSpPr>
        <p:spPr>
          <a:xfrm>
            <a:off x="5349240" y="21031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Open your Claude.ai Project</a:t>
            </a:r>
            <a:endParaRPr lang="en-US" sz="1000" dirty="0"/>
          </a:p>
        </p:txBody>
      </p:sp>
      <p:sp>
        <p:nvSpPr>
          <p:cNvPr id="33" name="Shape 31"/>
          <p:cNvSpPr/>
          <p:nvPr/>
        </p:nvSpPr>
        <p:spPr>
          <a:xfrm>
            <a:off x="4937760" y="2560320"/>
            <a:ext cx="320040" cy="320040"/>
          </a:xfrm>
          <a:prstGeom prst="ellipse">
            <a:avLst/>
          </a:prstGeom>
          <a:solidFill>
            <a:srgbClr val="C4A35A"/>
          </a:solidFill>
          <a:ln/>
        </p:spPr>
      </p:sp>
      <p:sp>
        <p:nvSpPr>
          <p:cNvPr id="34" name="Text 32"/>
          <p:cNvSpPr/>
          <p:nvPr/>
        </p:nvSpPr>
        <p:spPr>
          <a:xfrm>
            <a:off x="4937760" y="25603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3</a:t>
            </a:r>
            <a:endParaRPr lang="en-US" sz="1400" dirty="0"/>
          </a:p>
        </p:txBody>
      </p:sp>
      <p:sp>
        <p:nvSpPr>
          <p:cNvPr id="35" name="Text 33"/>
          <p:cNvSpPr/>
          <p:nvPr/>
        </p:nvSpPr>
        <p:spPr>
          <a:xfrm>
            <a:off x="5349240" y="25603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Go to Project Instructions →</a:t>
            </a:r>
            <a:endParaRPr lang="en-US" sz="1000" dirty="0"/>
          </a:p>
          <a:p>
            <a:pPr indent="0" marL="0">
              <a:buNone/>
            </a:pPr>
            <a:r>
              <a:rPr lang="en-US" sz="1000" dirty="0">
                <a:solidFill>
                  <a:srgbClr val="5A5A5A"/>
                </a:solidFill>
                <a:latin typeface="Arial" pitchFamily="34" charset="0"/>
                <a:ea typeface="Arial" pitchFamily="34" charset="-122"/>
                <a:cs typeface="Arial" pitchFamily="34" charset="-120"/>
              </a:rPr>
              <a:t>paste contents of orchestrator.md</a:t>
            </a:r>
            <a:endParaRPr lang="en-US" sz="1000" dirty="0"/>
          </a:p>
        </p:txBody>
      </p:sp>
      <p:sp>
        <p:nvSpPr>
          <p:cNvPr id="36" name="Shape 34"/>
          <p:cNvSpPr/>
          <p:nvPr/>
        </p:nvSpPr>
        <p:spPr>
          <a:xfrm>
            <a:off x="4937760" y="3017520"/>
            <a:ext cx="320040" cy="320040"/>
          </a:xfrm>
          <a:prstGeom prst="ellipse">
            <a:avLst/>
          </a:prstGeom>
          <a:solidFill>
            <a:srgbClr val="C4A35A"/>
          </a:solidFill>
          <a:ln/>
        </p:spPr>
      </p:sp>
      <p:sp>
        <p:nvSpPr>
          <p:cNvPr id="37" name="Text 35"/>
          <p:cNvSpPr/>
          <p:nvPr/>
        </p:nvSpPr>
        <p:spPr>
          <a:xfrm>
            <a:off x="4937760" y="30175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4</a:t>
            </a:r>
            <a:endParaRPr lang="en-US" sz="1400" dirty="0"/>
          </a:p>
        </p:txBody>
      </p:sp>
      <p:sp>
        <p:nvSpPr>
          <p:cNvPr id="38" name="Text 36"/>
          <p:cNvSpPr/>
          <p:nvPr/>
        </p:nvSpPr>
        <p:spPr>
          <a:xfrm>
            <a:off x="5349240" y="30175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Go to Project Knowledge →</a:t>
            </a:r>
            <a:endParaRPr lang="en-US" sz="1000" dirty="0"/>
          </a:p>
          <a:p>
            <a:pPr indent="0" marL="0">
              <a:buNone/>
            </a:pPr>
            <a:r>
              <a:rPr lang="en-US" sz="1000" dirty="0">
                <a:solidFill>
                  <a:srgbClr val="5A5A5A"/>
                </a:solidFill>
                <a:latin typeface="Arial" pitchFamily="34" charset="0"/>
                <a:ea typeface="Arial" pitchFamily="34" charset="-122"/>
                <a:cs typeface="Arial" pitchFamily="34" charset="-120"/>
              </a:rPr>
              <a:t>upload all files from skills/ folder</a:t>
            </a:r>
            <a:endParaRPr lang="en-US" sz="1000" dirty="0"/>
          </a:p>
        </p:txBody>
      </p:sp>
      <p:sp>
        <p:nvSpPr>
          <p:cNvPr id="39" name="Shape 37"/>
          <p:cNvSpPr/>
          <p:nvPr/>
        </p:nvSpPr>
        <p:spPr>
          <a:xfrm>
            <a:off x="4937760" y="3474720"/>
            <a:ext cx="320040" cy="320040"/>
          </a:xfrm>
          <a:prstGeom prst="ellipse">
            <a:avLst/>
          </a:prstGeom>
          <a:solidFill>
            <a:srgbClr val="C4A35A"/>
          </a:solidFill>
          <a:ln/>
        </p:spPr>
      </p:sp>
      <p:sp>
        <p:nvSpPr>
          <p:cNvPr id="40" name="Text 38"/>
          <p:cNvSpPr/>
          <p:nvPr/>
        </p:nvSpPr>
        <p:spPr>
          <a:xfrm>
            <a:off x="4937760" y="34747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5</a:t>
            </a:r>
            <a:endParaRPr lang="en-US" sz="1400" dirty="0"/>
          </a:p>
        </p:txBody>
      </p:sp>
      <p:sp>
        <p:nvSpPr>
          <p:cNvPr id="41" name="Text 39"/>
          <p:cNvSpPr/>
          <p:nvPr/>
        </p:nvSpPr>
        <p:spPr>
          <a:xfrm>
            <a:off x="5349240" y="34747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Start a new chat</a:t>
            </a:r>
            <a:endParaRPr lang="en-US" sz="1000" dirty="0"/>
          </a:p>
        </p:txBody>
      </p:sp>
      <p:sp>
        <p:nvSpPr>
          <p:cNvPr id="42" name="Shape 40"/>
          <p:cNvSpPr/>
          <p:nvPr/>
        </p:nvSpPr>
        <p:spPr>
          <a:xfrm>
            <a:off x="4937760" y="3931920"/>
            <a:ext cx="320040" cy="320040"/>
          </a:xfrm>
          <a:prstGeom prst="ellipse">
            <a:avLst/>
          </a:prstGeom>
          <a:solidFill>
            <a:srgbClr val="C4A35A"/>
          </a:solidFill>
          <a:ln/>
        </p:spPr>
      </p:sp>
      <p:sp>
        <p:nvSpPr>
          <p:cNvPr id="43" name="Text 41"/>
          <p:cNvSpPr/>
          <p:nvPr/>
        </p:nvSpPr>
        <p:spPr>
          <a:xfrm>
            <a:off x="4937760" y="3931920"/>
            <a:ext cx="320040" cy="320040"/>
          </a:xfrm>
          <a:prstGeom prst="rect">
            <a:avLst/>
          </a:prstGeom>
          <a:noFill/>
          <a:ln/>
        </p:spPr>
        <p:txBody>
          <a:bodyPr wrap="square" lIns="0" tIns="0" rIns="0" bIns="0" rtlCol="0" anchor="ctr"/>
          <a:lstStyle/>
          <a:p>
            <a:pPr algn="ctr" indent="0" marL="0">
              <a:buNone/>
            </a:pPr>
            <a:r>
              <a:rPr lang="en-US" sz="1400" b="1" dirty="0">
                <a:solidFill>
                  <a:srgbClr val="1B365D"/>
                </a:solidFill>
                <a:latin typeface="Georgia" pitchFamily="34" charset="0"/>
                <a:ea typeface="Georgia" pitchFamily="34" charset="-122"/>
                <a:cs typeface="Georgia" pitchFamily="34" charset="-120"/>
              </a:rPr>
              <a:t>6</a:t>
            </a:r>
            <a:endParaRPr lang="en-US" sz="1400" dirty="0"/>
          </a:p>
        </p:txBody>
      </p:sp>
      <p:sp>
        <p:nvSpPr>
          <p:cNvPr id="44" name="Text 42"/>
          <p:cNvSpPr/>
          <p:nvPr/>
        </p:nvSpPr>
        <p:spPr>
          <a:xfrm>
            <a:off x="5349240" y="3931920"/>
            <a:ext cx="3108960" cy="411480"/>
          </a:xfrm>
          <a:prstGeom prst="rect">
            <a:avLst/>
          </a:prstGeom>
          <a:noFill/>
          <a:ln/>
        </p:spPr>
        <p:txBody>
          <a:bodyPr wrap="square" lIns="0" tIns="0" rIns="0" bIns="0" rtlCol="0" anchor="ctr"/>
          <a:lstStyle/>
          <a:p>
            <a:pPr indent="0" marL="0">
              <a:buNone/>
            </a:pPr>
            <a:r>
              <a:rPr lang="en-US" sz="1000" dirty="0">
                <a:solidFill>
                  <a:srgbClr val="5A5A5A"/>
                </a:solidFill>
                <a:latin typeface="Arial" pitchFamily="34" charset="0"/>
                <a:ea typeface="Arial" pitchFamily="34" charset="-122"/>
                <a:cs typeface="Arial" pitchFamily="34" charset="-120"/>
              </a:rPr>
              <a:t>Type: 'Start project'</a:t>
            </a:r>
            <a:endParaRPr lang="en-US" sz="1000" dirty="0"/>
          </a:p>
        </p:txBody>
      </p:sp>
      <p:sp>
        <p:nvSpPr>
          <p:cNvPr id="45" name="Shape 43"/>
          <p:cNvSpPr/>
          <p:nvPr/>
        </p:nvSpPr>
        <p:spPr>
          <a:xfrm>
            <a:off x="3108960" y="1051560"/>
            <a:ext cx="1188720" cy="320040"/>
          </a:xfrm>
          <a:prstGeom prst="rect">
            <a:avLst/>
          </a:prstGeom>
          <a:solidFill>
            <a:srgbClr val="C4A35A"/>
          </a:solidFill>
          <a:ln/>
        </p:spPr>
      </p:sp>
      <p:sp>
        <p:nvSpPr>
          <p:cNvPr id="46" name="Text 44"/>
          <p:cNvSpPr/>
          <p:nvPr/>
        </p:nvSpPr>
        <p:spPr>
          <a:xfrm>
            <a:off x="3108960" y="1051560"/>
            <a:ext cx="118872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ADVANCED</a:t>
            </a:r>
            <a:endParaRPr lang="en-US" sz="800" dirty="0"/>
          </a:p>
        </p:txBody>
      </p:sp>
      <p:sp>
        <p:nvSpPr>
          <p:cNvPr id="47" name="Shape 45"/>
          <p:cNvSpPr/>
          <p:nvPr/>
        </p:nvSpPr>
        <p:spPr>
          <a:xfrm>
            <a:off x="7406640" y="1051560"/>
            <a:ext cx="1234440" cy="320040"/>
          </a:xfrm>
          <a:prstGeom prst="rect">
            <a:avLst/>
          </a:prstGeom>
          <a:solidFill>
            <a:srgbClr val="2E7D32"/>
          </a:solidFill>
          <a:ln/>
        </p:spPr>
      </p:sp>
      <p:sp>
        <p:nvSpPr>
          <p:cNvPr id="48" name="Text 46"/>
          <p:cNvSpPr/>
          <p:nvPr/>
        </p:nvSpPr>
        <p:spPr>
          <a:xfrm>
            <a:off x="7406640" y="1051560"/>
            <a:ext cx="12344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RECOMMENDED</a:t>
            </a:r>
            <a:endParaRPr lang="en-US" sz="800" dirty="0"/>
          </a:p>
        </p:txBody>
      </p:sp>
      <p:sp>
        <p:nvSpPr>
          <p:cNvPr id="49" name="Text 47"/>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365D"/>
                </a:solidFill>
                <a:latin typeface="Georgia" pitchFamily="34" charset="0"/>
                <a:ea typeface="Georgia" pitchFamily="34" charset="-122"/>
                <a:cs typeface="Georgia" pitchFamily="34" charset="-120"/>
              </a:rPr>
              <a:t>What Each File Does</a:t>
            </a:r>
            <a:endParaRPr lang="en-US" sz="2800" dirty="0"/>
          </a:p>
        </p:txBody>
      </p:sp>
      <p:sp>
        <p:nvSpPr>
          <p:cNvPr id="3" name="Shape 1"/>
          <p:cNvSpPr/>
          <p:nvPr/>
        </p:nvSpPr>
        <p:spPr>
          <a:xfrm>
            <a:off x="457200" y="914400"/>
            <a:ext cx="8229600" cy="411480"/>
          </a:xfrm>
          <a:prstGeom prst="rect">
            <a:avLst/>
          </a:prstGeom>
          <a:solidFill>
            <a:srgbClr val="1B365D"/>
          </a:solidFill>
          <a:ln/>
        </p:spPr>
      </p:sp>
      <p:sp>
        <p:nvSpPr>
          <p:cNvPr id="4" name="Text 2"/>
          <p:cNvSpPr/>
          <p:nvPr/>
        </p:nvSpPr>
        <p:spPr>
          <a:xfrm>
            <a:off x="548640" y="914400"/>
            <a:ext cx="2926080" cy="4114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Skill File</a:t>
            </a:r>
            <a:endParaRPr lang="en-US" sz="1100" dirty="0"/>
          </a:p>
        </p:txBody>
      </p:sp>
      <p:sp>
        <p:nvSpPr>
          <p:cNvPr id="5" name="Text 3"/>
          <p:cNvSpPr/>
          <p:nvPr/>
        </p:nvSpPr>
        <p:spPr>
          <a:xfrm>
            <a:off x="3474720" y="914400"/>
            <a:ext cx="5120640" cy="4114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What It Does</a:t>
            </a:r>
            <a:endParaRPr lang="en-US" sz="1100" dirty="0"/>
          </a:p>
        </p:txBody>
      </p:sp>
      <p:sp>
        <p:nvSpPr>
          <p:cNvPr id="6" name="Shape 4"/>
          <p:cNvSpPr/>
          <p:nvPr/>
        </p:nvSpPr>
        <p:spPr>
          <a:xfrm>
            <a:off x="457200" y="1325880"/>
            <a:ext cx="8229600" cy="411480"/>
          </a:xfrm>
          <a:prstGeom prst="rect">
            <a:avLst/>
          </a:prstGeom>
          <a:solidFill>
            <a:srgbClr val="FFFFFF"/>
          </a:solidFill>
          <a:ln/>
        </p:spPr>
      </p:sp>
      <p:sp>
        <p:nvSpPr>
          <p:cNvPr id="7" name="Text 5"/>
          <p:cNvSpPr/>
          <p:nvPr/>
        </p:nvSpPr>
        <p:spPr>
          <a:xfrm>
            <a:off x="548640" y="132588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orchestrator.md</a:t>
            </a:r>
            <a:endParaRPr lang="en-US" sz="900" dirty="0"/>
          </a:p>
        </p:txBody>
      </p:sp>
      <p:sp>
        <p:nvSpPr>
          <p:cNvPr id="8" name="Text 6"/>
          <p:cNvSpPr/>
          <p:nvPr/>
        </p:nvSpPr>
        <p:spPr>
          <a:xfrm>
            <a:off x="3474720" y="132588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Master coordinator — manages all 7 phases, tracks progress, enforces decision gates</a:t>
            </a:r>
            <a:endParaRPr lang="en-US" sz="950" dirty="0"/>
          </a:p>
        </p:txBody>
      </p:sp>
      <p:sp>
        <p:nvSpPr>
          <p:cNvPr id="9" name="Shape 7"/>
          <p:cNvSpPr/>
          <p:nvPr/>
        </p:nvSpPr>
        <p:spPr>
          <a:xfrm>
            <a:off x="457200" y="1737360"/>
            <a:ext cx="8229600" cy="411480"/>
          </a:xfrm>
          <a:prstGeom prst="rect">
            <a:avLst/>
          </a:prstGeom>
          <a:solidFill>
            <a:srgbClr val="F8F7F4"/>
          </a:solidFill>
          <a:ln/>
        </p:spPr>
      </p:sp>
      <p:sp>
        <p:nvSpPr>
          <p:cNvPr id="10" name="Text 8"/>
          <p:cNvSpPr/>
          <p:nvPr/>
        </p:nvSpPr>
        <p:spPr>
          <a:xfrm>
            <a:off x="548640" y="173736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phase-1-strategic-foundation.md</a:t>
            </a:r>
            <a:endParaRPr lang="en-US" sz="900" dirty="0"/>
          </a:p>
        </p:txBody>
      </p:sp>
      <p:sp>
        <p:nvSpPr>
          <p:cNvPr id="11" name="Text 9"/>
          <p:cNvSpPr/>
          <p:nvPr/>
        </p:nvSpPr>
        <p:spPr>
          <a:xfrm>
            <a:off x="3474720" y="173736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Interviews your team about the company, runs PESTEL/SWOT/Porter's/VRIO analyses</a:t>
            </a:r>
            <a:endParaRPr lang="en-US" sz="950" dirty="0"/>
          </a:p>
        </p:txBody>
      </p:sp>
      <p:sp>
        <p:nvSpPr>
          <p:cNvPr id="12" name="Shape 10"/>
          <p:cNvSpPr/>
          <p:nvPr/>
        </p:nvSpPr>
        <p:spPr>
          <a:xfrm>
            <a:off x="457200" y="2148840"/>
            <a:ext cx="8229600" cy="411480"/>
          </a:xfrm>
          <a:prstGeom prst="rect">
            <a:avLst/>
          </a:prstGeom>
          <a:solidFill>
            <a:srgbClr val="FFFFFF"/>
          </a:solidFill>
          <a:ln/>
        </p:spPr>
      </p:sp>
      <p:sp>
        <p:nvSpPr>
          <p:cNvPr id="13" name="Text 11"/>
          <p:cNvSpPr/>
          <p:nvPr/>
        </p:nvSpPr>
        <p:spPr>
          <a:xfrm>
            <a:off x="548640" y="214884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phase-2-rubric-creation.md</a:t>
            </a:r>
            <a:endParaRPr lang="en-US" sz="900" dirty="0"/>
          </a:p>
        </p:txBody>
      </p:sp>
      <p:sp>
        <p:nvSpPr>
          <p:cNvPr id="14" name="Text 12"/>
          <p:cNvSpPr/>
          <p:nvPr/>
        </p:nvSpPr>
        <p:spPr>
          <a:xfrm>
            <a:off x="3474720" y="214884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Builds your weighted evaluation rubric with 0-4 scoring and decision thresholds</a:t>
            </a:r>
            <a:endParaRPr lang="en-US" sz="950" dirty="0"/>
          </a:p>
        </p:txBody>
      </p:sp>
      <p:sp>
        <p:nvSpPr>
          <p:cNvPr id="15" name="Shape 13"/>
          <p:cNvSpPr/>
          <p:nvPr/>
        </p:nvSpPr>
        <p:spPr>
          <a:xfrm>
            <a:off x="457200" y="2560320"/>
            <a:ext cx="8229600" cy="411480"/>
          </a:xfrm>
          <a:prstGeom prst="rect">
            <a:avLst/>
          </a:prstGeom>
          <a:solidFill>
            <a:srgbClr val="F8F7F4"/>
          </a:solidFill>
          <a:ln/>
        </p:spPr>
      </p:sp>
      <p:sp>
        <p:nvSpPr>
          <p:cNvPr id="16" name="Text 14"/>
          <p:cNvSpPr/>
          <p:nvPr/>
        </p:nvSpPr>
        <p:spPr>
          <a:xfrm>
            <a:off x="548640" y="256032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phase-3-concept-discovery.md</a:t>
            </a:r>
            <a:endParaRPr lang="en-US" sz="900" dirty="0"/>
          </a:p>
        </p:txBody>
      </p:sp>
      <p:sp>
        <p:nvSpPr>
          <p:cNvPr id="17" name="Text 15"/>
          <p:cNvSpPr/>
          <p:nvPr/>
        </p:nvSpPr>
        <p:spPr>
          <a:xfrm>
            <a:off x="3474720" y="256032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Generates search queries for Perplexity, synthesizes up to 40 concept candidates</a:t>
            </a:r>
            <a:endParaRPr lang="en-US" sz="950" dirty="0"/>
          </a:p>
        </p:txBody>
      </p:sp>
      <p:sp>
        <p:nvSpPr>
          <p:cNvPr id="18" name="Shape 16"/>
          <p:cNvSpPr/>
          <p:nvPr/>
        </p:nvSpPr>
        <p:spPr>
          <a:xfrm>
            <a:off x="457200" y="2971800"/>
            <a:ext cx="8229600" cy="411480"/>
          </a:xfrm>
          <a:prstGeom prst="rect">
            <a:avLst/>
          </a:prstGeom>
          <a:solidFill>
            <a:srgbClr val="FFFFFF"/>
          </a:solidFill>
          <a:ln/>
        </p:spPr>
      </p:sp>
      <p:sp>
        <p:nvSpPr>
          <p:cNvPr id="19" name="Text 17"/>
          <p:cNvSpPr/>
          <p:nvPr/>
        </p:nvSpPr>
        <p:spPr>
          <a:xfrm>
            <a:off x="548640" y="297180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phase-4-deep-research.md</a:t>
            </a:r>
            <a:endParaRPr lang="en-US" sz="900" dirty="0"/>
          </a:p>
        </p:txBody>
      </p:sp>
      <p:sp>
        <p:nvSpPr>
          <p:cNvPr id="20" name="Text 18"/>
          <p:cNvSpPr/>
          <p:nvPr/>
        </p:nvSpPr>
        <p:spPr>
          <a:xfrm>
            <a:off x="3474720" y="297180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Structures NotebookLM notebooks, generates research questions, maps to rubric</a:t>
            </a:r>
            <a:endParaRPr lang="en-US" sz="950" dirty="0"/>
          </a:p>
        </p:txBody>
      </p:sp>
      <p:sp>
        <p:nvSpPr>
          <p:cNvPr id="21" name="Shape 19"/>
          <p:cNvSpPr/>
          <p:nvPr/>
        </p:nvSpPr>
        <p:spPr>
          <a:xfrm>
            <a:off x="457200" y="3383280"/>
            <a:ext cx="8229600" cy="411480"/>
          </a:xfrm>
          <a:prstGeom prst="rect">
            <a:avLst/>
          </a:prstGeom>
          <a:solidFill>
            <a:srgbClr val="F8F7F4"/>
          </a:solidFill>
          <a:ln/>
        </p:spPr>
      </p:sp>
      <p:sp>
        <p:nvSpPr>
          <p:cNvPr id="22" name="Text 20"/>
          <p:cNvSpPr/>
          <p:nvPr/>
        </p:nvSpPr>
        <p:spPr>
          <a:xfrm>
            <a:off x="548640" y="338328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phase-5-concept-evaluation.md</a:t>
            </a:r>
            <a:endParaRPr lang="en-US" sz="900" dirty="0"/>
          </a:p>
        </p:txBody>
      </p:sp>
      <p:sp>
        <p:nvSpPr>
          <p:cNvPr id="23" name="Text 21"/>
          <p:cNvSpPr/>
          <p:nvPr/>
        </p:nvSpPr>
        <p:spPr>
          <a:xfrm>
            <a:off x="3474720" y="338328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Scores concepts, generates Gemini prompt, runs LLM Council comparison</a:t>
            </a:r>
            <a:endParaRPr lang="en-US" sz="950" dirty="0"/>
          </a:p>
        </p:txBody>
      </p:sp>
      <p:sp>
        <p:nvSpPr>
          <p:cNvPr id="24" name="Shape 22"/>
          <p:cNvSpPr/>
          <p:nvPr/>
        </p:nvSpPr>
        <p:spPr>
          <a:xfrm>
            <a:off x="457200" y="3794760"/>
            <a:ext cx="8229600" cy="411480"/>
          </a:xfrm>
          <a:prstGeom prst="rect">
            <a:avLst/>
          </a:prstGeom>
          <a:solidFill>
            <a:srgbClr val="FFFFFF"/>
          </a:solidFill>
          <a:ln/>
        </p:spPr>
      </p:sp>
      <p:sp>
        <p:nvSpPr>
          <p:cNvPr id="25" name="Text 23"/>
          <p:cNvSpPr/>
          <p:nvPr/>
        </p:nvSpPr>
        <p:spPr>
          <a:xfrm>
            <a:off x="548640" y="379476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phase-6-refinement-specification.md</a:t>
            </a:r>
            <a:endParaRPr lang="en-US" sz="900" dirty="0"/>
          </a:p>
        </p:txBody>
      </p:sp>
      <p:sp>
        <p:nvSpPr>
          <p:cNvPr id="26" name="Text 24"/>
          <p:cNvSpPr/>
          <p:nvPr/>
        </p:nvSpPr>
        <p:spPr>
          <a:xfrm>
            <a:off x="3474720" y="379476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Runs SCAMPER, builds morphological chart, conducts KANO interview</a:t>
            </a:r>
            <a:endParaRPr lang="en-US" sz="950" dirty="0"/>
          </a:p>
        </p:txBody>
      </p:sp>
      <p:sp>
        <p:nvSpPr>
          <p:cNvPr id="27" name="Shape 25"/>
          <p:cNvSpPr/>
          <p:nvPr/>
        </p:nvSpPr>
        <p:spPr>
          <a:xfrm>
            <a:off x="457200" y="4206240"/>
            <a:ext cx="8229600" cy="411480"/>
          </a:xfrm>
          <a:prstGeom prst="rect">
            <a:avLst/>
          </a:prstGeom>
          <a:solidFill>
            <a:srgbClr val="F8F7F4"/>
          </a:solidFill>
          <a:ln/>
        </p:spPr>
      </p:sp>
      <p:sp>
        <p:nvSpPr>
          <p:cNvPr id="28" name="Text 26"/>
          <p:cNvSpPr/>
          <p:nvPr/>
        </p:nvSpPr>
        <p:spPr>
          <a:xfrm>
            <a:off x="548640" y="4206240"/>
            <a:ext cx="2926080" cy="411480"/>
          </a:xfrm>
          <a:prstGeom prst="rect">
            <a:avLst/>
          </a:prstGeom>
          <a:noFill/>
          <a:ln/>
        </p:spPr>
        <p:txBody>
          <a:bodyPr wrap="square" lIns="0" tIns="0" rIns="0" bIns="0" rtlCol="0" anchor="ctr"/>
          <a:lstStyle/>
          <a:p>
            <a:pPr indent="0" marL="0">
              <a:buNone/>
            </a:pPr>
            <a:r>
              <a:rPr lang="en-US" sz="900" b="1" dirty="0">
                <a:solidFill>
                  <a:srgbClr val="1B365D"/>
                </a:solidFill>
                <a:latin typeface="Courier New" pitchFamily="34" charset="0"/>
                <a:ea typeface="Courier New" pitchFamily="34" charset="-122"/>
                <a:cs typeface="Courier New" pitchFamily="34" charset="-120"/>
              </a:rPr>
              <a:t>phase-7-prd-generation.md</a:t>
            </a:r>
            <a:endParaRPr lang="en-US" sz="900" dirty="0"/>
          </a:p>
        </p:txBody>
      </p:sp>
      <p:sp>
        <p:nvSpPr>
          <p:cNvPr id="29" name="Text 27"/>
          <p:cNvSpPr/>
          <p:nvPr/>
        </p:nvSpPr>
        <p:spPr>
          <a:xfrm>
            <a:off x="3474720" y="4206240"/>
            <a:ext cx="5120640" cy="411480"/>
          </a:xfrm>
          <a:prstGeom prst="rect">
            <a:avLst/>
          </a:prstGeom>
          <a:noFill/>
          <a:ln/>
        </p:spPr>
        <p:txBody>
          <a:bodyPr wrap="square" lIns="0" tIns="0" rIns="0" bIns="0" rtlCol="0" anchor="ctr"/>
          <a:lstStyle/>
          <a:p>
            <a:pPr indent="0" marL="0">
              <a:buNone/>
            </a:pPr>
            <a:r>
              <a:rPr lang="en-US" sz="950" dirty="0">
                <a:solidFill>
                  <a:srgbClr val="5A5A5A"/>
                </a:solidFill>
                <a:latin typeface="Arial" pitchFamily="34" charset="0"/>
                <a:ea typeface="Arial" pitchFamily="34" charset="-122"/>
                <a:cs typeface="Arial" pitchFamily="34" charset="-120"/>
              </a:rPr>
              <a:t>Synthesizes all prior work into a complete Product Requirements Document</a:t>
            </a:r>
            <a:endParaRPr lang="en-US" sz="950" dirty="0"/>
          </a:p>
        </p:txBody>
      </p:sp>
      <p:sp>
        <p:nvSpPr>
          <p:cNvPr id="30" name="Text 28"/>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F38"/>
        </a:solidFill>
      </p:bgPr>
    </p:bg>
    <p:spTree>
      <p:nvGrpSpPr>
        <p:cNvPr id="1" name=""/>
        <p:cNvGrpSpPr/>
        <p:nvPr/>
      </p:nvGrpSpPr>
      <p:grpSpPr>
        <a:xfrm>
          <a:off x="0" y="0"/>
          <a:ext cx="0" cy="0"/>
          <a:chOff x="0" y="0"/>
          <a:chExt cx="0" cy="0"/>
        </a:xfrm>
      </p:grpSpPr>
      <p:sp>
        <p:nvSpPr>
          <p:cNvPr id="2" name="Shape 0"/>
          <p:cNvSpPr/>
          <p:nvPr/>
        </p:nvSpPr>
        <p:spPr>
          <a:xfrm>
            <a:off x="3200400" y="1645920"/>
            <a:ext cx="2743200" cy="54864"/>
          </a:xfrm>
          <a:prstGeom prst="rect">
            <a:avLst/>
          </a:prstGeom>
          <a:solidFill>
            <a:srgbClr val="C4A35A"/>
          </a:solidFill>
          <a:ln/>
        </p:spPr>
      </p:sp>
      <p:sp>
        <p:nvSpPr>
          <p:cNvPr id="3" name="Text 1"/>
          <p:cNvSpPr/>
          <p:nvPr/>
        </p:nvSpPr>
        <p:spPr>
          <a:xfrm>
            <a:off x="457200" y="1920240"/>
            <a:ext cx="8229600" cy="457200"/>
          </a:xfrm>
          <a:prstGeom prst="rect">
            <a:avLst/>
          </a:prstGeom>
          <a:noFill/>
          <a:ln/>
        </p:spPr>
        <p:txBody>
          <a:bodyPr wrap="square" rtlCol="0" anchor="ctr"/>
          <a:lstStyle/>
          <a:p>
            <a:pPr algn="ctr" indent="0" marL="0">
              <a:buNone/>
            </a:pPr>
            <a:r>
              <a:rPr lang="en-US" sz="1600" b="1" spc="400" kern="0" dirty="0">
                <a:solidFill>
                  <a:srgbClr val="C4A35A"/>
                </a:solidFill>
                <a:latin typeface="Arial" pitchFamily="34" charset="0"/>
                <a:ea typeface="Arial" pitchFamily="34" charset="-122"/>
                <a:cs typeface="Arial" pitchFamily="34" charset="-120"/>
              </a:rPr>
              <a:t>STEP 3</a:t>
            </a:r>
            <a:endParaRPr lang="en-US" sz="1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Know Your Phases</a:t>
            </a:r>
            <a:endParaRPr lang="en-US" sz="3600" dirty="0"/>
          </a:p>
        </p:txBody>
      </p:sp>
      <p:sp>
        <p:nvSpPr>
          <p:cNvPr id="5" name="Text 3"/>
          <p:cNvSpPr/>
          <p:nvPr/>
        </p:nvSpPr>
        <p:spPr>
          <a:xfrm>
            <a:off x="914400" y="3200400"/>
            <a:ext cx="7315200" cy="457200"/>
          </a:xfrm>
          <a:prstGeom prst="rect">
            <a:avLst/>
          </a:prstGeom>
          <a:noFill/>
          <a:ln/>
        </p:spPr>
        <p:txBody>
          <a:bodyPr wrap="square" rtlCol="0" anchor="ctr"/>
          <a:lstStyle/>
          <a:p>
            <a:pPr algn="ctr" indent="0" marL="0">
              <a:buNone/>
            </a:pPr>
            <a:r>
              <a:rPr lang="en-US" sz="1400" dirty="0">
                <a:solidFill>
                  <a:srgbClr val="C4A35A"/>
                </a:solidFill>
                <a:latin typeface="Arial" pitchFamily="34" charset="0"/>
                <a:ea typeface="Arial" pitchFamily="34" charset="-122"/>
                <a:cs typeface="Arial" pitchFamily="34" charset="-120"/>
              </a:rPr>
              <a:t>Which tools to use and when to go outside Claude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Phases 1–2: All Inside Claude</a:t>
            </a:r>
            <a:endParaRPr lang="en-US" sz="2600" dirty="0"/>
          </a:p>
        </p:txBody>
      </p:sp>
      <p:sp>
        <p:nvSpPr>
          <p:cNvPr id="3" name="Shape 1"/>
          <p:cNvSpPr/>
          <p:nvPr/>
        </p:nvSpPr>
        <p:spPr>
          <a:xfrm>
            <a:off x="457200" y="1005840"/>
            <a:ext cx="3931920" cy="347472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4" name="Shape 2"/>
          <p:cNvSpPr/>
          <p:nvPr/>
        </p:nvSpPr>
        <p:spPr>
          <a:xfrm>
            <a:off x="457200" y="1005840"/>
            <a:ext cx="3931920" cy="54864"/>
          </a:xfrm>
          <a:prstGeom prst="rect">
            <a:avLst/>
          </a:prstGeom>
          <a:solidFill>
            <a:srgbClr val="C4A35A"/>
          </a:solidFill>
          <a:ln/>
        </p:spPr>
      </p:sp>
      <p:sp>
        <p:nvSpPr>
          <p:cNvPr id="5" name="Shape 3"/>
          <p:cNvSpPr/>
          <p:nvPr/>
        </p:nvSpPr>
        <p:spPr>
          <a:xfrm>
            <a:off x="731520" y="1234440"/>
            <a:ext cx="457200" cy="457200"/>
          </a:xfrm>
          <a:prstGeom prst="ellipse">
            <a:avLst/>
          </a:prstGeom>
          <a:solidFill>
            <a:srgbClr val="C4A35A"/>
          </a:solidFill>
          <a:ln/>
        </p:spPr>
      </p:sp>
      <p:sp>
        <p:nvSpPr>
          <p:cNvPr id="6" name="Text 4"/>
          <p:cNvSpPr/>
          <p:nvPr/>
        </p:nvSpPr>
        <p:spPr>
          <a:xfrm>
            <a:off x="731520" y="123444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325880" y="1188720"/>
            <a:ext cx="2743200" cy="365760"/>
          </a:xfrm>
          <a:prstGeom prst="rect">
            <a:avLst/>
          </a:prstGeom>
          <a:noFill/>
          <a:ln/>
        </p:spPr>
        <p:txBody>
          <a:bodyPr wrap="square" lIns="0" tIns="0" rIns="0" bIns="0" rtlCol="0" anchor="ctr"/>
          <a:lstStyle/>
          <a:p>
            <a:pPr indent="0" marL="0">
              <a:buNone/>
            </a:pPr>
            <a:r>
              <a:rPr lang="en-US" sz="1600" b="1" dirty="0">
                <a:solidFill>
                  <a:srgbClr val="1B365D"/>
                </a:solidFill>
                <a:latin typeface="Georgia" pitchFamily="34" charset="0"/>
                <a:ea typeface="Georgia" pitchFamily="34" charset="-122"/>
                <a:cs typeface="Georgia" pitchFamily="34" charset="-120"/>
              </a:rPr>
              <a:t>Strategic Foundation</a:t>
            </a:r>
            <a:endParaRPr lang="en-US" sz="1600" dirty="0"/>
          </a:p>
        </p:txBody>
      </p:sp>
      <p:sp>
        <p:nvSpPr>
          <p:cNvPr id="8" name="Text 6"/>
          <p:cNvSpPr/>
          <p:nvPr/>
        </p:nvSpPr>
        <p:spPr>
          <a:xfrm>
            <a:off x="731520" y="1691640"/>
            <a:ext cx="3474720" cy="2560320"/>
          </a:xfrm>
          <a:prstGeom prst="rect">
            <a:avLst/>
          </a:prstGeom>
          <a:noFill/>
          <a:ln/>
        </p:spPr>
        <p:txBody>
          <a:bodyPr wrap="square" rtlCol="0" anchor="ctr"/>
          <a:lstStyle/>
          <a:p>
            <a:pPr indent="0" marL="0">
              <a:lnSpc>
                <a:spcPct val="130000"/>
              </a:lnSpc>
              <a:buNone/>
            </a:pPr>
            <a:r>
              <a:rPr lang="en-US" sz="1100" b="1" dirty="0">
                <a:solidFill>
                  <a:srgbClr val="1B365D"/>
                </a:solidFill>
                <a:latin typeface="Arial" pitchFamily="34" charset="0"/>
                <a:ea typeface="Arial" pitchFamily="34" charset="-122"/>
                <a:cs typeface="Arial" pitchFamily="34" charset="-120"/>
              </a:rPr>
              <a:t>What happens:</a:t>
            </a:r>
            <a:endParaRPr lang="en-US" sz="11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Claude interviews your team about your company, industry, and competitive landscape. Then it generates PESTEL, SWOT, Porter's Five Forces, and VRIO analyses.</a:t>
            </a:r>
            <a:endParaRPr lang="en-US" sz="1100" dirty="0"/>
          </a:p>
          <a:p>
            <a:pPr indent="0" marL="0">
              <a:lnSpc>
                <a:spcPct val="130000"/>
              </a:lnSpc>
              <a:buNone/>
            </a:pPr>
            <a:endParaRPr lang="en-US" sz="1100" dirty="0"/>
          </a:p>
          <a:p>
            <a:pPr indent="0" marL="0">
              <a:lnSpc>
                <a:spcPct val="130000"/>
              </a:lnSpc>
              <a:buNone/>
            </a:pPr>
            <a:r>
              <a:rPr lang="en-US" sz="1100" b="1" dirty="0">
                <a:solidFill>
                  <a:srgbClr val="1B365D"/>
                </a:solidFill>
                <a:latin typeface="Arial" pitchFamily="34" charset="0"/>
                <a:ea typeface="Arial" pitchFamily="34" charset="-122"/>
                <a:cs typeface="Arial" pitchFamily="34" charset="-120"/>
              </a:rPr>
              <a:t>What you do:</a:t>
            </a:r>
            <a:endParaRPr lang="en-US" sz="11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Answer questions in the chat. Review and approve the strategic brief when Claude generates it.</a:t>
            </a:r>
            <a:endParaRPr lang="en-US" sz="1100" dirty="0"/>
          </a:p>
          <a:p>
            <a:pPr indent="0" marL="0">
              <a:lnSpc>
                <a:spcPct val="130000"/>
              </a:lnSpc>
              <a:buNone/>
            </a:pPr>
            <a:endParaRPr lang="en-US" sz="1100" dirty="0"/>
          </a:p>
          <a:p>
            <a:pPr indent="0" marL="0">
              <a:lnSpc>
                <a:spcPct val="130000"/>
              </a:lnSpc>
              <a:buNone/>
            </a:pPr>
            <a:r>
              <a:rPr lang="en-US" sz="1100" b="1" dirty="0">
                <a:solidFill>
                  <a:srgbClr val="C4A35A"/>
                </a:solidFill>
                <a:latin typeface="Courier New" pitchFamily="34" charset="0"/>
                <a:ea typeface="Courier New" pitchFamily="34" charset="-122"/>
                <a:cs typeface="Courier New" pitchFamily="34" charset="-120"/>
              </a:rPr>
              <a:t>Output:  strategic-brief.md</a:t>
            </a:r>
            <a:endParaRPr lang="en-US" sz="1100" dirty="0"/>
          </a:p>
        </p:txBody>
      </p:sp>
      <p:sp>
        <p:nvSpPr>
          <p:cNvPr id="9" name="Shape 7"/>
          <p:cNvSpPr/>
          <p:nvPr/>
        </p:nvSpPr>
        <p:spPr>
          <a:xfrm>
            <a:off x="4754880" y="1005840"/>
            <a:ext cx="3931920" cy="347472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10" name="Shape 8"/>
          <p:cNvSpPr/>
          <p:nvPr/>
        </p:nvSpPr>
        <p:spPr>
          <a:xfrm>
            <a:off x="4754880" y="1005840"/>
            <a:ext cx="3931920" cy="54864"/>
          </a:xfrm>
          <a:prstGeom prst="rect">
            <a:avLst/>
          </a:prstGeom>
          <a:solidFill>
            <a:srgbClr val="C4A35A"/>
          </a:solidFill>
          <a:ln/>
        </p:spPr>
      </p:sp>
      <p:sp>
        <p:nvSpPr>
          <p:cNvPr id="11" name="Shape 9"/>
          <p:cNvSpPr/>
          <p:nvPr/>
        </p:nvSpPr>
        <p:spPr>
          <a:xfrm>
            <a:off x="5029200" y="1234440"/>
            <a:ext cx="457200" cy="457200"/>
          </a:xfrm>
          <a:prstGeom prst="ellipse">
            <a:avLst/>
          </a:prstGeom>
          <a:solidFill>
            <a:srgbClr val="C4A35A"/>
          </a:solidFill>
          <a:ln/>
        </p:spPr>
      </p:sp>
      <p:sp>
        <p:nvSpPr>
          <p:cNvPr id="12" name="Text 10"/>
          <p:cNvSpPr/>
          <p:nvPr/>
        </p:nvSpPr>
        <p:spPr>
          <a:xfrm>
            <a:off x="5029200" y="123444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5623560" y="1188720"/>
            <a:ext cx="2743200" cy="365760"/>
          </a:xfrm>
          <a:prstGeom prst="rect">
            <a:avLst/>
          </a:prstGeom>
          <a:noFill/>
          <a:ln/>
        </p:spPr>
        <p:txBody>
          <a:bodyPr wrap="square" lIns="0" tIns="0" rIns="0" bIns="0" rtlCol="0" anchor="ctr"/>
          <a:lstStyle/>
          <a:p>
            <a:pPr indent="0" marL="0">
              <a:buNone/>
            </a:pPr>
            <a:r>
              <a:rPr lang="en-US" sz="1600" b="1" dirty="0">
                <a:solidFill>
                  <a:srgbClr val="1B365D"/>
                </a:solidFill>
                <a:latin typeface="Georgia" pitchFamily="34" charset="0"/>
                <a:ea typeface="Georgia" pitchFamily="34" charset="-122"/>
                <a:cs typeface="Georgia" pitchFamily="34" charset="-120"/>
              </a:rPr>
              <a:t>Rubric Creation</a:t>
            </a:r>
            <a:endParaRPr lang="en-US" sz="1600" dirty="0"/>
          </a:p>
        </p:txBody>
      </p:sp>
      <p:sp>
        <p:nvSpPr>
          <p:cNvPr id="14" name="Text 12"/>
          <p:cNvSpPr/>
          <p:nvPr/>
        </p:nvSpPr>
        <p:spPr>
          <a:xfrm>
            <a:off x="5029200" y="1691640"/>
            <a:ext cx="3474720" cy="2560320"/>
          </a:xfrm>
          <a:prstGeom prst="rect">
            <a:avLst/>
          </a:prstGeom>
          <a:noFill/>
          <a:ln/>
        </p:spPr>
        <p:txBody>
          <a:bodyPr wrap="square" rtlCol="0" anchor="ctr"/>
          <a:lstStyle/>
          <a:p>
            <a:pPr indent="0" marL="0">
              <a:lnSpc>
                <a:spcPct val="130000"/>
              </a:lnSpc>
              <a:buNone/>
            </a:pPr>
            <a:r>
              <a:rPr lang="en-US" sz="1100" b="1" dirty="0">
                <a:solidFill>
                  <a:srgbClr val="1B365D"/>
                </a:solidFill>
                <a:latin typeface="Arial" pitchFamily="34" charset="0"/>
                <a:ea typeface="Arial" pitchFamily="34" charset="-122"/>
                <a:cs typeface="Arial" pitchFamily="34" charset="-120"/>
              </a:rPr>
              <a:t>What happens:</a:t>
            </a:r>
            <a:endParaRPr lang="en-US" sz="11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Claude discovers external evaluation criteria via Deep Research, then interviews you about internal criteria specific to your company.</a:t>
            </a:r>
            <a:endParaRPr lang="en-US" sz="1100" dirty="0"/>
          </a:p>
          <a:p>
            <a:pPr indent="0" marL="0">
              <a:lnSpc>
                <a:spcPct val="130000"/>
              </a:lnSpc>
              <a:buNone/>
            </a:pPr>
            <a:endParaRPr lang="en-US" sz="1100" dirty="0"/>
          </a:p>
          <a:p>
            <a:pPr indent="0" marL="0">
              <a:lnSpc>
                <a:spcPct val="130000"/>
              </a:lnSpc>
              <a:buNone/>
            </a:pPr>
            <a:r>
              <a:rPr lang="en-US" sz="1100" b="1" dirty="0">
                <a:solidFill>
                  <a:srgbClr val="1B365D"/>
                </a:solidFill>
                <a:latin typeface="Arial" pitchFamily="34" charset="0"/>
                <a:ea typeface="Arial" pitchFamily="34" charset="-122"/>
                <a:cs typeface="Arial" pitchFamily="34" charset="-120"/>
              </a:rPr>
              <a:t>What you do:</a:t>
            </a:r>
            <a:endParaRPr lang="en-US" sz="1100" dirty="0"/>
          </a:p>
          <a:p>
            <a:pPr indent="0" marL="0">
              <a:lnSpc>
                <a:spcPct val="130000"/>
              </a:lnSpc>
              <a:buNone/>
            </a:pPr>
            <a:r>
              <a:rPr lang="en-US" sz="1100" dirty="0">
                <a:solidFill>
                  <a:srgbClr val="5A5A5A"/>
                </a:solidFill>
                <a:latin typeface="Arial" pitchFamily="34" charset="0"/>
                <a:ea typeface="Arial" pitchFamily="34" charset="-122"/>
                <a:cs typeface="Arial" pitchFamily="34" charset="-120"/>
              </a:rPr>
              <a:t>Discuss criteria, assign weights, approve 0-4 scoring definitions. Lock the rubric before Phase 3.</a:t>
            </a:r>
            <a:endParaRPr lang="en-US" sz="1100" dirty="0"/>
          </a:p>
          <a:p>
            <a:pPr indent="0" marL="0">
              <a:lnSpc>
                <a:spcPct val="130000"/>
              </a:lnSpc>
              <a:buNone/>
            </a:pPr>
            <a:endParaRPr lang="en-US" sz="1100" dirty="0"/>
          </a:p>
          <a:p>
            <a:pPr indent="0" marL="0">
              <a:lnSpc>
                <a:spcPct val="130000"/>
              </a:lnSpc>
              <a:buNone/>
            </a:pPr>
            <a:r>
              <a:rPr lang="en-US" sz="1100" b="1" dirty="0">
                <a:solidFill>
                  <a:srgbClr val="C4A35A"/>
                </a:solidFill>
                <a:latin typeface="Courier New" pitchFamily="34" charset="0"/>
                <a:ea typeface="Courier New" pitchFamily="34" charset="-122"/>
                <a:cs typeface="Courier New" pitchFamily="34" charset="-120"/>
              </a:rPr>
              <a:t>Output:  evaluation-rubric.md</a:t>
            </a:r>
            <a:endParaRPr lang="en-US" sz="1100" dirty="0"/>
          </a:p>
        </p:txBody>
      </p:sp>
      <p:sp>
        <p:nvSpPr>
          <p:cNvPr id="15" name="Shape 13"/>
          <p:cNvSpPr/>
          <p:nvPr/>
        </p:nvSpPr>
        <p:spPr>
          <a:xfrm>
            <a:off x="2926080" y="320040"/>
            <a:ext cx="2286000" cy="320040"/>
          </a:xfrm>
          <a:prstGeom prst="rect">
            <a:avLst/>
          </a:prstGeom>
          <a:solidFill>
            <a:srgbClr val="2E7D32"/>
          </a:solidFill>
          <a:ln/>
        </p:spPr>
      </p:sp>
      <p:sp>
        <p:nvSpPr>
          <p:cNvPr id="16" name="Text 14"/>
          <p:cNvSpPr/>
          <p:nvPr/>
        </p:nvSpPr>
        <p:spPr>
          <a:xfrm>
            <a:off x="2926080" y="320040"/>
            <a:ext cx="22860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Claude Only — No External Tools</a:t>
            </a:r>
            <a:endParaRPr lang="en-US" sz="900" dirty="0"/>
          </a:p>
        </p:txBody>
      </p:sp>
      <p:sp>
        <p:nvSpPr>
          <p:cNvPr id="17" name="Text 15"/>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5486400" cy="548640"/>
          </a:xfrm>
          <a:prstGeom prst="rect">
            <a:avLst/>
          </a:prstGeom>
          <a:noFill/>
          <a:ln/>
        </p:spPr>
        <p:txBody>
          <a:bodyPr wrap="square" lIns="0" tIns="0" rIns="0" bIns="0"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Phase 3: Concept Discovery</a:t>
            </a:r>
            <a:endParaRPr lang="en-US" sz="2600" dirty="0"/>
          </a:p>
        </p:txBody>
      </p:sp>
      <p:sp>
        <p:nvSpPr>
          <p:cNvPr id="3" name="Shape 1"/>
          <p:cNvSpPr/>
          <p:nvPr/>
        </p:nvSpPr>
        <p:spPr>
          <a:xfrm>
            <a:off x="6035040" y="320040"/>
            <a:ext cx="2743200" cy="320040"/>
          </a:xfrm>
          <a:prstGeom prst="rect">
            <a:avLst/>
          </a:prstGeom>
          <a:solidFill>
            <a:srgbClr val="E65100"/>
          </a:solidFill>
          <a:ln/>
        </p:spPr>
      </p:sp>
      <p:sp>
        <p:nvSpPr>
          <p:cNvPr id="4" name="Text 2"/>
          <p:cNvSpPr/>
          <p:nvPr/>
        </p:nvSpPr>
        <p:spPr>
          <a:xfrm>
            <a:off x="6035040" y="320040"/>
            <a:ext cx="27432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Claude + Perplexity Pro</a:t>
            </a:r>
            <a:endParaRPr lang="en-US" sz="900" dirty="0"/>
          </a:p>
        </p:txBody>
      </p:sp>
      <p:sp>
        <p:nvSpPr>
          <p:cNvPr id="5" name="Shape 3"/>
          <p:cNvSpPr/>
          <p:nvPr/>
        </p:nvSpPr>
        <p:spPr>
          <a:xfrm>
            <a:off x="457200" y="1124712"/>
            <a:ext cx="457200" cy="457200"/>
          </a:xfrm>
          <a:prstGeom prst="ellipse">
            <a:avLst/>
          </a:prstGeom>
          <a:solidFill>
            <a:srgbClr val="C4A35A"/>
          </a:solidFill>
          <a:ln/>
        </p:spPr>
      </p:sp>
      <p:sp>
        <p:nvSpPr>
          <p:cNvPr id="6" name="Text 4"/>
          <p:cNvSpPr/>
          <p:nvPr/>
        </p:nvSpPr>
        <p:spPr>
          <a:xfrm>
            <a:off x="457200" y="1124712"/>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7" name="Shape 5"/>
          <p:cNvSpPr/>
          <p:nvPr/>
        </p:nvSpPr>
        <p:spPr>
          <a:xfrm>
            <a:off x="1051560" y="1069848"/>
            <a:ext cx="749808" cy="256032"/>
          </a:xfrm>
          <a:prstGeom prst="rect">
            <a:avLst/>
          </a:prstGeom>
          <a:solidFill>
            <a:srgbClr val="1B365D"/>
          </a:solidFill>
          <a:ln/>
        </p:spPr>
      </p:sp>
      <p:sp>
        <p:nvSpPr>
          <p:cNvPr id="8" name="Text 6"/>
          <p:cNvSpPr/>
          <p:nvPr/>
        </p:nvSpPr>
        <p:spPr>
          <a:xfrm>
            <a:off x="1051560" y="1069848"/>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Claude</a:t>
            </a:r>
            <a:endParaRPr lang="en-US" sz="800" dirty="0"/>
          </a:p>
        </p:txBody>
      </p:sp>
      <p:sp>
        <p:nvSpPr>
          <p:cNvPr id="9" name="Text 7"/>
          <p:cNvSpPr/>
          <p:nvPr/>
        </p:nvSpPr>
        <p:spPr>
          <a:xfrm>
            <a:off x="1938528" y="1051560"/>
            <a:ext cx="6565392" cy="320040"/>
          </a:xfrm>
          <a:prstGeom prst="rect">
            <a:avLst/>
          </a:prstGeom>
          <a:noFill/>
          <a:ln/>
        </p:spPr>
        <p:txBody>
          <a:bodyPr wrap="square" lIns="0" tIns="0" rIns="0" bIns="0" rtlCol="0" anchor="ctr"/>
          <a:lstStyle/>
          <a:p>
            <a:pPr indent="0" marL="0">
              <a:buNone/>
            </a:pPr>
            <a:r>
              <a:rPr lang="en-US" sz="1300" b="1" dirty="0">
                <a:solidFill>
                  <a:srgbClr val="1B365D"/>
                </a:solidFill>
                <a:latin typeface="Georgia" pitchFamily="34" charset="0"/>
                <a:ea typeface="Georgia" pitchFamily="34" charset="-122"/>
                <a:cs typeface="Georgia" pitchFamily="34" charset="-120"/>
              </a:rPr>
              <a:t>Claude generates search queries</a:t>
            </a:r>
            <a:endParaRPr lang="en-US" sz="1300" dirty="0"/>
          </a:p>
        </p:txBody>
      </p:sp>
      <p:sp>
        <p:nvSpPr>
          <p:cNvPr id="10" name="Text 8"/>
          <p:cNvSpPr/>
          <p:nvPr/>
        </p:nvSpPr>
        <p:spPr>
          <a:xfrm>
            <a:off x="1051560" y="1417320"/>
            <a:ext cx="7498080" cy="45720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Based on your strategic brief + rubric, Claude creates targeted search queries for YouTube, Reddit, X, and Skool.</a:t>
            </a:r>
            <a:endParaRPr lang="en-US" sz="1100" dirty="0"/>
          </a:p>
        </p:txBody>
      </p:sp>
      <p:sp>
        <p:nvSpPr>
          <p:cNvPr id="11" name="Shape 9"/>
          <p:cNvSpPr/>
          <p:nvPr/>
        </p:nvSpPr>
        <p:spPr>
          <a:xfrm>
            <a:off x="457200" y="2084832"/>
            <a:ext cx="457200" cy="457200"/>
          </a:xfrm>
          <a:prstGeom prst="ellipse">
            <a:avLst/>
          </a:prstGeom>
          <a:solidFill>
            <a:srgbClr val="C4A35A"/>
          </a:solidFill>
          <a:ln/>
        </p:spPr>
      </p:sp>
      <p:sp>
        <p:nvSpPr>
          <p:cNvPr id="12" name="Text 10"/>
          <p:cNvSpPr/>
          <p:nvPr/>
        </p:nvSpPr>
        <p:spPr>
          <a:xfrm>
            <a:off x="457200" y="2084832"/>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3" name="Shape 11"/>
          <p:cNvSpPr/>
          <p:nvPr/>
        </p:nvSpPr>
        <p:spPr>
          <a:xfrm>
            <a:off x="1051560" y="2029968"/>
            <a:ext cx="1581912" cy="256032"/>
          </a:xfrm>
          <a:prstGeom prst="rect">
            <a:avLst/>
          </a:prstGeom>
          <a:solidFill>
            <a:srgbClr val="E65100"/>
          </a:solidFill>
          <a:ln/>
        </p:spPr>
      </p:sp>
      <p:sp>
        <p:nvSpPr>
          <p:cNvPr id="14" name="Text 12"/>
          <p:cNvSpPr/>
          <p:nvPr/>
        </p:nvSpPr>
        <p:spPr>
          <a:xfrm>
            <a:off x="1051560" y="2029968"/>
            <a:ext cx="158191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Perplexity + Gemini</a:t>
            </a:r>
            <a:endParaRPr lang="en-US" sz="800" dirty="0"/>
          </a:p>
        </p:txBody>
      </p:sp>
      <p:sp>
        <p:nvSpPr>
          <p:cNvPr id="15" name="Text 13"/>
          <p:cNvSpPr/>
          <p:nvPr/>
        </p:nvSpPr>
        <p:spPr>
          <a:xfrm>
            <a:off x="2770632" y="2011680"/>
            <a:ext cx="5733288" cy="320040"/>
          </a:xfrm>
          <a:prstGeom prst="rect">
            <a:avLst/>
          </a:prstGeom>
          <a:noFill/>
          <a:ln/>
        </p:spPr>
        <p:txBody>
          <a:bodyPr wrap="square" lIns="0" tIns="0" rIns="0" bIns="0" rtlCol="0" anchor="ctr"/>
          <a:lstStyle/>
          <a:p>
            <a:pPr indent="0" marL="0">
              <a:buNone/>
            </a:pPr>
            <a:r>
              <a:rPr lang="en-US" sz="1300" b="1" dirty="0">
                <a:solidFill>
                  <a:srgbClr val="1B365D"/>
                </a:solidFill>
                <a:latin typeface="Georgia" pitchFamily="34" charset="0"/>
                <a:ea typeface="Georgia" pitchFamily="34" charset="-122"/>
                <a:cs typeface="Georgia" pitchFamily="34" charset="-120"/>
              </a:rPr>
              <a:t>You run queries in Perplexity</a:t>
            </a:r>
            <a:endParaRPr lang="en-US" sz="1300" dirty="0"/>
          </a:p>
        </p:txBody>
      </p:sp>
      <p:sp>
        <p:nvSpPr>
          <p:cNvPr id="16" name="Text 14"/>
          <p:cNvSpPr/>
          <p:nvPr/>
        </p:nvSpPr>
        <p:spPr>
          <a:xfrm>
            <a:off x="1051560" y="2377440"/>
            <a:ext cx="7498080" cy="45720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Copy each query into Perplexity Pro. It searches the live web and returns sourced results. Also run Gemini Deep Research queries.</a:t>
            </a:r>
            <a:endParaRPr lang="en-US" sz="1100" dirty="0"/>
          </a:p>
        </p:txBody>
      </p:sp>
      <p:sp>
        <p:nvSpPr>
          <p:cNvPr id="17" name="Shape 15"/>
          <p:cNvSpPr/>
          <p:nvPr/>
        </p:nvSpPr>
        <p:spPr>
          <a:xfrm>
            <a:off x="457200" y="3044952"/>
            <a:ext cx="457200" cy="457200"/>
          </a:xfrm>
          <a:prstGeom prst="ellipse">
            <a:avLst/>
          </a:prstGeom>
          <a:solidFill>
            <a:srgbClr val="C4A35A"/>
          </a:solidFill>
          <a:ln/>
        </p:spPr>
      </p:sp>
      <p:sp>
        <p:nvSpPr>
          <p:cNvPr id="18" name="Text 16"/>
          <p:cNvSpPr/>
          <p:nvPr/>
        </p:nvSpPr>
        <p:spPr>
          <a:xfrm>
            <a:off x="457200" y="3044952"/>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9" name="Shape 17"/>
          <p:cNvSpPr/>
          <p:nvPr/>
        </p:nvSpPr>
        <p:spPr>
          <a:xfrm>
            <a:off x="1051560" y="2990088"/>
            <a:ext cx="749808" cy="256032"/>
          </a:xfrm>
          <a:prstGeom prst="rect">
            <a:avLst/>
          </a:prstGeom>
          <a:solidFill>
            <a:srgbClr val="1B365D"/>
          </a:solidFill>
          <a:ln/>
        </p:spPr>
      </p:sp>
      <p:sp>
        <p:nvSpPr>
          <p:cNvPr id="20" name="Text 18"/>
          <p:cNvSpPr/>
          <p:nvPr/>
        </p:nvSpPr>
        <p:spPr>
          <a:xfrm>
            <a:off x="1051560" y="2990088"/>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Claude</a:t>
            </a:r>
            <a:endParaRPr lang="en-US" sz="800" dirty="0"/>
          </a:p>
        </p:txBody>
      </p:sp>
      <p:sp>
        <p:nvSpPr>
          <p:cNvPr id="21" name="Text 19"/>
          <p:cNvSpPr/>
          <p:nvPr/>
        </p:nvSpPr>
        <p:spPr>
          <a:xfrm>
            <a:off x="1938528" y="2971800"/>
            <a:ext cx="6565392" cy="320040"/>
          </a:xfrm>
          <a:prstGeom prst="rect">
            <a:avLst/>
          </a:prstGeom>
          <a:noFill/>
          <a:ln/>
        </p:spPr>
        <p:txBody>
          <a:bodyPr wrap="square" lIns="0" tIns="0" rIns="0" bIns="0" rtlCol="0" anchor="ctr"/>
          <a:lstStyle/>
          <a:p>
            <a:pPr indent="0" marL="0">
              <a:buNone/>
            </a:pPr>
            <a:r>
              <a:rPr lang="en-US" sz="1300" b="1" dirty="0">
                <a:solidFill>
                  <a:srgbClr val="1B365D"/>
                </a:solidFill>
                <a:latin typeface="Georgia" pitchFamily="34" charset="0"/>
                <a:ea typeface="Georgia" pitchFamily="34" charset="-122"/>
                <a:cs typeface="Georgia" pitchFamily="34" charset="-120"/>
              </a:rPr>
              <a:t>Bring results back to Claude</a:t>
            </a:r>
            <a:endParaRPr lang="en-US" sz="1300" dirty="0"/>
          </a:p>
        </p:txBody>
      </p:sp>
      <p:sp>
        <p:nvSpPr>
          <p:cNvPr id="22" name="Text 20"/>
          <p:cNvSpPr/>
          <p:nvPr/>
        </p:nvSpPr>
        <p:spPr>
          <a:xfrm>
            <a:off x="1051560" y="3337560"/>
            <a:ext cx="7498080" cy="45720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Copy Perplexity's findings back into Claude. It synthesizes everything into ranked concept candidates.</a:t>
            </a:r>
            <a:endParaRPr lang="en-US" sz="1100" dirty="0"/>
          </a:p>
        </p:txBody>
      </p:sp>
      <p:sp>
        <p:nvSpPr>
          <p:cNvPr id="23" name="Shape 21"/>
          <p:cNvSpPr/>
          <p:nvPr/>
        </p:nvSpPr>
        <p:spPr>
          <a:xfrm>
            <a:off x="457200" y="4005072"/>
            <a:ext cx="457200" cy="457200"/>
          </a:xfrm>
          <a:prstGeom prst="ellipse">
            <a:avLst/>
          </a:prstGeom>
          <a:solidFill>
            <a:srgbClr val="C4A35A"/>
          </a:solidFill>
          <a:ln/>
        </p:spPr>
      </p:sp>
      <p:sp>
        <p:nvSpPr>
          <p:cNvPr id="24" name="Text 22"/>
          <p:cNvSpPr/>
          <p:nvPr/>
        </p:nvSpPr>
        <p:spPr>
          <a:xfrm>
            <a:off x="457200" y="4005072"/>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4</a:t>
            </a:r>
            <a:endParaRPr lang="en-US" sz="1600" dirty="0"/>
          </a:p>
        </p:txBody>
      </p:sp>
      <p:sp>
        <p:nvSpPr>
          <p:cNvPr id="25" name="Shape 23"/>
          <p:cNvSpPr/>
          <p:nvPr/>
        </p:nvSpPr>
        <p:spPr>
          <a:xfrm>
            <a:off x="1051560" y="3950208"/>
            <a:ext cx="749808" cy="256032"/>
          </a:xfrm>
          <a:prstGeom prst="rect">
            <a:avLst/>
          </a:prstGeom>
          <a:solidFill>
            <a:srgbClr val="1B365D"/>
          </a:solidFill>
          <a:ln/>
        </p:spPr>
      </p:sp>
      <p:sp>
        <p:nvSpPr>
          <p:cNvPr id="26" name="Text 24"/>
          <p:cNvSpPr/>
          <p:nvPr/>
        </p:nvSpPr>
        <p:spPr>
          <a:xfrm>
            <a:off x="1051560" y="3950208"/>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Claude</a:t>
            </a:r>
            <a:endParaRPr lang="en-US" sz="800" dirty="0"/>
          </a:p>
        </p:txBody>
      </p:sp>
      <p:sp>
        <p:nvSpPr>
          <p:cNvPr id="27" name="Text 25"/>
          <p:cNvSpPr/>
          <p:nvPr/>
        </p:nvSpPr>
        <p:spPr>
          <a:xfrm>
            <a:off x="1938528" y="3931920"/>
            <a:ext cx="6565392" cy="320040"/>
          </a:xfrm>
          <a:prstGeom prst="rect">
            <a:avLst/>
          </a:prstGeom>
          <a:noFill/>
          <a:ln/>
        </p:spPr>
        <p:txBody>
          <a:bodyPr wrap="square" lIns="0" tIns="0" rIns="0" bIns="0" rtlCol="0" anchor="ctr"/>
          <a:lstStyle/>
          <a:p>
            <a:pPr indent="0" marL="0">
              <a:buNone/>
            </a:pPr>
            <a:r>
              <a:rPr lang="en-US" sz="1300" b="1" dirty="0">
                <a:solidFill>
                  <a:srgbClr val="1B365D"/>
                </a:solidFill>
                <a:latin typeface="Georgia" pitchFamily="34" charset="0"/>
                <a:ea typeface="Georgia" pitchFamily="34" charset="-122"/>
                <a:cs typeface="Georgia" pitchFamily="34" charset="-120"/>
              </a:rPr>
              <a:t>Claude ranks up to 40 concepts</a:t>
            </a:r>
            <a:endParaRPr lang="en-US" sz="1300" dirty="0"/>
          </a:p>
        </p:txBody>
      </p:sp>
      <p:sp>
        <p:nvSpPr>
          <p:cNvPr id="28" name="Text 26"/>
          <p:cNvSpPr/>
          <p:nvPr/>
        </p:nvSpPr>
        <p:spPr>
          <a:xfrm>
            <a:off x="1051560" y="4297680"/>
            <a:ext cx="7498080" cy="45720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Claude applies must-have constraints as a filter, then ranks concepts by demand evidence, strategic fit, and competitive gap.</a:t>
            </a:r>
            <a:endParaRPr lang="en-US" sz="1100" dirty="0"/>
          </a:p>
        </p:txBody>
      </p:sp>
      <p:sp>
        <p:nvSpPr>
          <p:cNvPr id="29" name="Shape 27"/>
          <p:cNvSpPr/>
          <p:nvPr/>
        </p:nvSpPr>
        <p:spPr>
          <a:xfrm>
            <a:off x="457200" y="4297680"/>
            <a:ext cx="8229600" cy="320040"/>
          </a:xfrm>
          <a:prstGeom prst="rect">
            <a:avLst/>
          </a:prstGeom>
          <a:solidFill>
            <a:srgbClr val="1B365D"/>
          </a:solidFill>
          <a:ln/>
        </p:spPr>
      </p:sp>
      <p:sp>
        <p:nvSpPr>
          <p:cNvPr id="30" name="Text 28"/>
          <p:cNvSpPr/>
          <p:nvPr/>
        </p:nvSpPr>
        <p:spPr>
          <a:xfrm>
            <a:off x="457200" y="4297680"/>
            <a:ext cx="822960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Output:  concept-candidates.md   •   Up to 40 ranked concepts in 3 tiers</a:t>
            </a:r>
            <a:endParaRPr lang="en-US" sz="1100" dirty="0"/>
          </a:p>
        </p:txBody>
      </p:sp>
      <p:sp>
        <p:nvSpPr>
          <p:cNvPr id="31" name="Text 29"/>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5486400" cy="548640"/>
          </a:xfrm>
          <a:prstGeom prst="rect">
            <a:avLst/>
          </a:prstGeom>
          <a:noFill/>
          <a:ln/>
        </p:spPr>
        <p:txBody>
          <a:bodyPr wrap="square" lIns="0" tIns="0" rIns="0" bIns="0"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Phase 4: Deep Research</a:t>
            </a:r>
            <a:endParaRPr lang="en-US" sz="2600" dirty="0"/>
          </a:p>
        </p:txBody>
      </p:sp>
      <p:sp>
        <p:nvSpPr>
          <p:cNvPr id="3" name="Shape 1"/>
          <p:cNvSpPr/>
          <p:nvPr/>
        </p:nvSpPr>
        <p:spPr>
          <a:xfrm>
            <a:off x="5486400" y="320040"/>
            <a:ext cx="3291840" cy="320040"/>
          </a:xfrm>
          <a:prstGeom prst="rect">
            <a:avLst/>
          </a:prstGeom>
          <a:solidFill>
            <a:srgbClr val="E65100"/>
          </a:solidFill>
          <a:ln/>
        </p:spPr>
      </p:sp>
      <p:sp>
        <p:nvSpPr>
          <p:cNvPr id="4" name="Text 2"/>
          <p:cNvSpPr/>
          <p:nvPr/>
        </p:nvSpPr>
        <p:spPr>
          <a:xfrm>
            <a:off x="5486400" y="320040"/>
            <a:ext cx="329184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  NotebookLM + Perplexity (Most External)</a:t>
            </a:r>
            <a:endParaRPr lang="en-US" sz="800" dirty="0"/>
          </a:p>
        </p:txBody>
      </p:sp>
      <p:sp>
        <p:nvSpPr>
          <p:cNvPr id="5" name="Shape 3"/>
          <p:cNvSpPr/>
          <p:nvPr/>
        </p:nvSpPr>
        <p:spPr>
          <a:xfrm>
            <a:off x="457200" y="1005840"/>
            <a:ext cx="3931920" cy="301752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6" name="Shape 4"/>
          <p:cNvSpPr/>
          <p:nvPr/>
        </p:nvSpPr>
        <p:spPr>
          <a:xfrm>
            <a:off x="457200" y="1005840"/>
            <a:ext cx="3931920" cy="457200"/>
          </a:xfrm>
          <a:prstGeom prst="rect">
            <a:avLst/>
          </a:prstGeom>
          <a:solidFill>
            <a:srgbClr val="1565C0"/>
          </a:solidFill>
          <a:ln/>
        </p:spPr>
      </p:sp>
      <p:sp>
        <p:nvSpPr>
          <p:cNvPr id="7" name="Text 5"/>
          <p:cNvSpPr/>
          <p:nvPr/>
        </p:nvSpPr>
        <p:spPr>
          <a:xfrm>
            <a:off x="457200" y="100584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NotebookLM Deep Research</a:t>
            </a:r>
            <a:endParaRPr lang="en-US" sz="1300" dirty="0"/>
          </a:p>
        </p:txBody>
      </p:sp>
      <p:sp>
        <p:nvSpPr>
          <p:cNvPr id="8" name="Text 6"/>
          <p:cNvSpPr/>
          <p:nvPr/>
        </p:nvSpPr>
        <p:spPr>
          <a:xfrm>
            <a:off x="640080" y="1600200"/>
            <a:ext cx="3566160" cy="2286000"/>
          </a:xfrm>
          <a:prstGeom prst="rect">
            <a:avLst/>
          </a:prstGeom>
          <a:noFill/>
          <a:ln/>
        </p:spPr>
        <p:txBody>
          <a:bodyPr wrap="square" rtlCol="0" anchor="ctr"/>
          <a:lstStyle/>
          <a:p>
            <a:pPr indent="0" marL="0">
              <a:lnSpc>
                <a:spcPct val="160000"/>
              </a:lnSpc>
              <a:buNone/>
            </a:pPr>
            <a:r>
              <a:rPr lang="en-US" sz="1100" b="1" dirty="0">
                <a:solidFill>
                  <a:srgbClr val="1B365D"/>
                </a:solidFill>
                <a:latin typeface="Arial" pitchFamily="34" charset="0"/>
                <a:ea typeface="Arial" pitchFamily="34" charset="-122"/>
                <a:cs typeface="Arial" pitchFamily="34" charset="-120"/>
              </a:rPr>
              <a:t>1. Create one notebook per Tier 1 concept</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2. Upload sources: articles, reports, competitor pages</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3. Activate Deep Research with questions Claude generated</a:t>
            </a:r>
            <a:endParaRPr lang="en-US" sz="1100" dirty="0"/>
          </a:p>
          <a:p>
            <a:pPr indent="0" marL="0">
              <a:lnSpc>
                <a:spcPct val="160000"/>
              </a:lnSpc>
              <a:buNone/>
            </a:pPr>
            <a:r>
              <a:rPr lang="en-US" sz="1100" b="1" dirty="0">
                <a:solidFill>
                  <a:srgbClr val="C62828"/>
                </a:solidFill>
                <a:latin typeface="Arial" pitchFamily="34" charset="0"/>
                <a:ea typeface="Arial" pitchFamily="34" charset="-122"/>
                <a:cs typeface="Arial" pitchFamily="34" charset="-120"/>
              </a:rPr>
              <a:t>4. CRITICAL: Follow every suggested follow-up question</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5. Export findings back to Claude for synthesis</a:t>
            </a:r>
            <a:endParaRPr lang="en-US" sz="1100" dirty="0"/>
          </a:p>
        </p:txBody>
      </p:sp>
      <p:sp>
        <p:nvSpPr>
          <p:cNvPr id="9" name="Shape 7"/>
          <p:cNvSpPr/>
          <p:nvPr/>
        </p:nvSpPr>
        <p:spPr>
          <a:xfrm>
            <a:off x="4754880" y="1005840"/>
            <a:ext cx="3931920" cy="301752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10" name="Shape 8"/>
          <p:cNvSpPr/>
          <p:nvPr/>
        </p:nvSpPr>
        <p:spPr>
          <a:xfrm>
            <a:off x="4754880" y="1005840"/>
            <a:ext cx="3931920" cy="457200"/>
          </a:xfrm>
          <a:prstGeom prst="rect">
            <a:avLst/>
          </a:prstGeom>
          <a:solidFill>
            <a:srgbClr val="00695C"/>
          </a:solidFill>
          <a:ln/>
        </p:spPr>
      </p:sp>
      <p:sp>
        <p:nvSpPr>
          <p:cNvPr id="11" name="Text 9"/>
          <p:cNvSpPr/>
          <p:nvPr/>
        </p:nvSpPr>
        <p:spPr>
          <a:xfrm>
            <a:off x="4754880" y="100584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Perplexity Pro Research</a:t>
            </a:r>
            <a:endParaRPr lang="en-US" sz="1300" dirty="0"/>
          </a:p>
        </p:txBody>
      </p:sp>
      <p:sp>
        <p:nvSpPr>
          <p:cNvPr id="12" name="Text 10"/>
          <p:cNvSpPr/>
          <p:nvPr/>
        </p:nvSpPr>
        <p:spPr>
          <a:xfrm>
            <a:off x="4937760" y="1600200"/>
            <a:ext cx="3566160" cy="2286000"/>
          </a:xfrm>
          <a:prstGeom prst="rect">
            <a:avLst/>
          </a:prstGeom>
          <a:noFill/>
          <a:ln/>
        </p:spPr>
        <p:txBody>
          <a:bodyPr wrap="square" rtlCol="0" anchor="ctr"/>
          <a:lstStyle/>
          <a:p>
            <a:pPr indent="0" marL="0">
              <a:lnSpc>
                <a:spcPct val="160000"/>
              </a:lnSpc>
              <a:buNone/>
            </a:pPr>
            <a:r>
              <a:rPr lang="en-US" sz="1100" b="1" dirty="0">
                <a:solidFill>
                  <a:srgbClr val="1B365D"/>
                </a:solidFill>
                <a:latin typeface="Arial" pitchFamily="34" charset="0"/>
                <a:ea typeface="Arial" pitchFamily="34" charset="-122"/>
                <a:cs typeface="Arial" pitchFamily="34" charset="-120"/>
              </a:rPr>
              <a:t>1. Run Claude's research questions in Perplexity</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2. Focus on: market size, competitors, customer data</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3. Follow Perplexity's suggested follow-ups too</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4. Save source URLs for citation</a:t>
            </a:r>
            <a:endParaRPr lang="en-US" sz="1100" dirty="0"/>
          </a:p>
          <a:p>
            <a:pPr indent="0" marL="0">
              <a:lnSpc>
                <a:spcPct val="160000"/>
              </a:lnSpc>
              <a:buNone/>
            </a:pPr>
            <a:r>
              <a:rPr lang="en-US" sz="1100" dirty="0">
                <a:solidFill>
                  <a:srgbClr val="5A5A5A"/>
                </a:solidFill>
                <a:latin typeface="Arial" pitchFamily="34" charset="0"/>
                <a:ea typeface="Arial" pitchFamily="34" charset="-122"/>
                <a:cs typeface="Arial" pitchFamily="34" charset="-120"/>
              </a:rPr>
              <a:t>5. Bring findings back to Claude for cross-reference</a:t>
            </a:r>
            <a:endParaRPr lang="en-US" sz="1100" dirty="0"/>
          </a:p>
        </p:txBody>
      </p:sp>
      <p:sp>
        <p:nvSpPr>
          <p:cNvPr id="13" name="Shape 11"/>
          <p:cNvSpPr/>
          <p:nvPr/>
        </p:nvSpPr>
        <p:spPr>
          <a:xfrm>
            <a:off x="457200" y="4160520"/>
            <a:ext cx="8229600" cy="45720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4" name="Shape 12"/>
          <p:cNvSpPr/>
          <p:nvPr/>
        </p:nvSpPr>
        <p:spPr>
          <a:xfrm>
            <a:off x="457200" y="4160520"/>
            <a:ext cx="73152" cy="457200"/>
          </a:xfrm>
          <a:prstGeom prst="rect">
            <a:avLst/>
          </a:prstGeom>
          <a:solidFill>
            <a:srgbClr val="C62828"/>
          </a:solidFill>
          <a:ln/>
        </p:spPr>
      </p:sp>
      <p:sp>
        <p:nvSpPr>
          <p:cNvPr id="15" name="Text 13"/>
          <p:cNvSpPr/>
          <p:nvPr/>
        </p:nvSpPr>
        <p:spPr>
          <a:xfrm>
            <a:off x="685800" y="4160520"/>
            <a:ext cx="7772400" cy="457200"/>
          </a:xfrm>
          <a:prstGeom prst="rect">
            <a:avLst/>
          </a:prstGeom>
          <a:noFill/>
          <a:ln/>
        </p:spPr>
        <p:txBody>
          <a:bodyPr wrap="square" rtlCol="0" anchor="ctr"/>
          <a:lstStyle/>
          <a:p>
            <a:pPr indent="0" marL="0">
              <a:buNone/>
            </a:pPr>
            <a:r>
              <a:rPr lang="en-US" sz="1100" b="1" dirty="0">
                <a:solidFill>
                  <a:srgbClr val="1B365D"/>
                </a:solidFill>
                <a:latin typeface="Arial" pitchFamily="34" charset="0"/>
                <a:ea typeface="Arial" pitchFamily="34" charset="-122"/>
                <a:cs typeface="Arial" pitchFamily="34" charset="-120"/>
              </a:rPr>
              <a:t>Phase 4 is the MOST time outside Claude. Budget extra time here. Quality of research = quality of final PRD.</a:t>
            </a:r>
            <a:endParaRPr lang="en-US" sz="1100" dirty="0"/>
          </a:p>
        </p:txBody>
      </p:sp>
      <p:sp>
        <p:nvSpPr>
          <p:cNvPr id="16" name="Text 14"/>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5486400" cy="548640"/>
          </a:xfrm>
          <a:prstGeom prst="rect">
            <a:avLst/>
          </a:prstGeom>
          <a:noFill/>
          <a:ln/>
        </p:spPr>
        <p:txBody>
          <a:bodyPr wrap="square" lIns="0" tIns="0" rIns="0" bIns="0"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Phase 5: Concept Evaluation</a:t>
            </a:r>
            <a:endParaRPr lang="en-US" sz="2600" dirty="0"/>
          </a:p>
        </p:txBody>
      </p:sp>
      <p:sp>
        <p:nvSpPr>
          <p:cNvPr id="3" name="Shape 1"/>
          <p:cNvSpPr/>
          <p:nvPr/>
        </p:nvSpPr>
        <p:spPr>
          <a:xfrm>
            <a:off x="5760720" y="320040"/>
            <a:ext cx="3017520" cy="320040"/>
          </a:xfrm>
          <a:prstGeom prst="rect">
            <a:avLst/>
          </a:prstGeom>
          <a:solidFill>
            <a:srgbClr val="E65100"/>
          </a:solidFill>
          <a:ln/>
        </p:spPr>
      </p:sp>
      <p:sp>
        <p:nvSpPr>
          <p:cNvPr id="4" name="Text 2"/>
          <p:cNvSpPr/>
          <p:nvPr/>
        </p:nvSpPr>
        <p:spPr>
          <a:xfrm>
            <a:off x="5760720" y="320040"/>
            <a:ext cx="301752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  Claude + Google AI Studio (Gemini)</a:t>
            </a:r>
            <a:endParaRPr lang="en-US" sz="800" dirty="0"/>
          </a:p>
        </p:txBody>
      </p:sp>
      <p:sp>
        <p:nvSpPr>
          <p:cNvPr id="5" name="Shape 3"/>
          <p:cNvSpPr/>
          <p:nvPr/>
        </p:nvSpPr>
        <p:spPr>
          <a:xfrm>
            <a:off x="457200" y="1051560"/>
            <a:ext cx="8229600" cy="10972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6" name="Shape 4"/>
          <p:cNvSpPr/>
          <p:nvPr/>
        </p:nvSpPr>
        <p:spPr>
          <a:xfrm>
            <a:off x="457200" y="1051560"/>
            <a:ext cx="73152" cy="1097280"/>
          </a:xfrm>
          <a:prstGeom prst="rect">
            <a:avLst/>
          </a:prstGeom>
          <a:solidFill>
            <a:srgbClr val="1B365D"/>
          </a:solidFill>
          <a:ln/>
        </p:spPr>
      </p:sp>
      <p:sp>
        <p:nvSpPr>
          <p:cNvPr id="7" name="Shape 5"/>
          <p:cNvSpPr/>
          <p:nvPr/>
        </p:nvSpPr>
        <p:spPr>
          <a:xfrm>
            <a:off x="685800" y="1280160"/>
            <a:ext cx="548640" cy="548640"/>
          </a:xfrm>
          <a:prstGeom prst="ellipse">
            <a:avLst/>
          </a:prstGeom>
          <a:solidFill>
            <a:srgbClr val="1B365D"/>
          </a:solidFill>
          <a:ln/>
        </p:spPr>
      </p:sp>
      <p:sp>
        <p:nvSpPr>
          <p:cNvPr id="8" name="Text 6"/>
          <p:cNvSpPr/>
          <p:nvPr/>
        </p:nvSpPr>
        <p:spPr>
          <a:xfrm>
            <a:off x="68580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9" name="Shape 7"/>
          <p:cNvSpPr/>
          <p:nvPr/>
        </p:nvSpPr>
        <p:spPr>
          <a:xfrm>
            <a:off x="1417320" y="1143000"/>
            <a:ext cx="1188720" cy="256032"/>
          </a:xfrm>
          <a:prstGeom prst="rect">
            <a:avLst/>
          </a:prstGeom>
          <a:solidFill>
            <a:srgbClr val="1B365D"/>
          </a:solidFill>
          <a:ln/>
        </p:spPr>
      </p:sp>
      <p:sp>
        <p:nvSpPr>
          <p:cNvPr id="10" name="Text 8"/>
          <p:cNvSpPr/>
          <p:nvPr/>
        </p:nvSpPr>
        <p:spPr>
          <a:xfrm>
            <a:off x="1417320" y="114300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 Claude</a:t>
            </a:r>
            <a:endParaRPr lang="en-US" sz="800" dirty="0"/>
          </a:p>
        </p:txBody>
      </p:sp>
      <p:sp>
        <p:nvSpPr>
          <p:cNvPr id="11" name="Text 9"/>
          <p:cNvSpPr/>
          <p:nvPr/>
        </p:nvSpPr>
        <p:spPr>
          <a:xfrm>
            <a:off x="2743200" y="1097280"/>
            <a:ext cx="2743200" cy="320040"/>
          </a:xfrm>
          <a:prstGeom prst="rect">
            <a:avLst/>
          </a:prstGeom>
          <a:noFill/>
          <a:ln/>
        </p:spPr>
        <p:txBody>
          <a:bodyPr wrap="square" lIns="0" tIns="0" rIns="0" bIns="0" rtlCol="0" anchor="ctr"/>
          <a:lstStyle/>
          <a:p>
            <a:pPr indent="0" marL="0">
              <a:buNone/>
            </a:pPr>
            <a:r>
              <a:rPr lang="en-US" sz="1500" b="1" dirty="0">
                <a:solidFill>
                  <a:srgbClr val="1B365D"/>
                </a:solidFill>
                <a:latin typeface="Georgia" pitchFamily="34" charset="0"/>
                <a:ea typeface="Georgia" pitchFamily="34" charset="-122"/>
                <a:cs typeface="Georgia" pitchFamily="34" charset="-120"/>
              </a:rPr>
              <a:t>Claude Scores</a:t>
            </a:r>
            <a:endParaRPr lang="en-US" sz="1500" dirty="0"/>
          </a:p>
        </p:txBody>
      </p:sp>
      <p:sp>
        <p:nvSpPr>
          <p:cNvPr id="12" name="Text 10"/>
          <p:cNvSpPr/>
          <p:nvPr/>
        </p:nvSpPr>
        <p:spPr>
          <a:xfrm>
            <a:off x="1417320" y="1463040"/>
            <a:ext cx="7040880" cy="594360"/>
          </a:xfrm>
          <a:prstGeom prst="rect">
            <a:avLst/>
          </a:prstGeom>
          <a:noFill/>
          <a:ln/>
        </p:spPr>
        <p:txBody>
          <a:bodyPr wrap="square" rtlCol="0" anchor="t"/>
          <a:lstStyle/>
          <a:p>
            <a:pPr indent="0" marL="0">
              <a:lnSpc>
                <a:spcPct val="130000"/>
              </a:lnSpc>
              <a:buNone/>
            </a:pPr>
            <a:r>
              <a:rPr lang="en-US" sz="1100" dirty="0">
                <a:solidFill>
                  <a:srgbClr val="5A5A5A"/>
                </a:solidFill>
                <a:latin typeface="Arial" pitchFamily="34" charset="0"/>
                <a:ea typeface="Arial" pitchFamily="34" charset="-122"/>
                <a:cs typeface="Arial" pitchFamily="34" charset="-120"/>
              </a:rPr>
              <a:t>Claude applies must-have constraints, then scores each concept 0-4 on every rubric criterion. Calculates weighted percentages. Applies decision thresholds: &lt;90% kill, 90-95% revise, &gt;95% continue.</a:t>
            </a:r>
            <a:endParaRPr lang="en-US" sz="1100" dirty="0"/>
          </a:p>
        </p:txBody>
      </p:sp>
      <p:sp>
        <p:nvSpPr>
          <p:cNvPr id="13" name="Shape 11"/>
          <p:cNvSpPr/>
          <p:nvPr/>
        </p:nvSpPr>
        <p:spPr>
          <a:xfrm>
            <a:off x="457200" y="2286000"/>
            <a:ext cx="8229600" cy="10972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4" name="Shape 12"/>
          <p:cNvSpPr/>
          <p:nvPr/>
        </p:nvSpPr>
        <p:spPr>
          <a:xfrm>
            <a:off x="457200" y="2286000"/>
            <a:ext cx="73152" cy="1097280"/>
          </a:xfrm>
          <a:prstGeom prst="rect">
            <a:avLst/>
          </a:prstGeom>
          <a:solidFill>
            <a:srgbClr val="E65100"/>
          </a:solidFill>
          <a:ln/>
        </p:spPr>
      </p:sp>
      <p:sp>
        <p:nvSpPr>
          <p:cNvPr id="15" name="Shape 13"/>
          <p:cNvSpPr/>
          <p:nvPr/>
        </p:nvSpPr>
        <p:spPr>
          <a:xfrm>
            <a:off x="685800" y="2514600"/>
            <a:ext cx="548640" cy="548640"/>
          </a:xfrm>
          <a:prstGeom prst="ellipse">
            <a:avLst/>
          </a:prstGeom>
          <a:solidFill>
            <a:srgbClr val="E65100"/>
          </a:solidFill>
          <a:ln/>
        </p:spPr>
      </p:sp>
      <p:sp>
        <p:nvSpPr>
          <p:cNvPr id="16" name="Text 14"/>
          <p:cNvSpPr/>
          <p:nvPr/>
        </p:nvSpPr>
        <p:spPr>
          <a:xfrm>
            <a:off x="685800" y="2514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B</a:t>
            </a:r>
            <a:endParaRPr lang="en-US" sz="2000" dirty="0"/>
          </a:p>
        </p:txBody>
      </p:sp>
      <p:sp>
        <p:nvSpPr>
          <p:cNvPr id="17" name="Shape 15"/>
          <p:cNvSpPr/>
          <p:nvPr/>
        </p:nvSpPr>
        <p:spPr>
          <a:xfrm>
            <a:off x="1417320" y="2377440"/>
            <a:ext cx="1188720" cy="256032"/>
          </a:xfrm>
          <a:prstGeom prst="rect">
            <a:avLst/>
          </a:prstGeom>
          <a:solidFill>
            <a:srgbClr val="E65100"/>
          </a:solidFill>
          <a:ln/>
        </p:spPr>
      </p:sp>
      <p:sp>
        <p:nvSpPr>
          <p:cNvPr id="18" name="Text 16"/>
          <p:cNvSpPr/>
          <p:nvPr/>
        </p:nvSpPr>
        <p:spPr>
          <a:xfrm>
            <a:off x="1417320" y="2377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 AI Studio</a:t>
            </a:r>
            <a:endParaRPr lang="en-US" sz="800" dirty="0"/>
          </a:p>
        </p:txBody>
      </p:sp>
      <p:sp>
        <p:nvSpPr>
          <p:cNvPr id="19" name="Text 17"/>
          <p:cNvSpPr/>
          <p:nvPr/>
        </p:nvSpPr>
        <p:spPr>
          <a:xfrm>
            <a:off x="2743200" y="2331720"/>
            <a:ext cx="2743200" cy="320040"/>
          </a:xfrm>
          <a:prstGeom prst="rect">
            <a:avLst/>
          </a:prstGeom>
          <a:noFill/>
          <a:ln/>
        </p:spPr>
        <p:txBody>
          <a:bodyPr wrap="square" lIns="0" tIns="0" rIns="0" bIns="0" rtlCol="0" anchor="ctr"/>
          <a:lstStyle/>
          <a:p>
            <a:pPr indent="0" marL="0">
              <a:buNone/>
            </a:pPr>
            <a:r>
              <a:rPr lang="en-US" sz="1500" b="1" dirty="0">
                <a:solidFill>
                  <a:srgbClr val="1B365D"/>
                </a:solidFill>
                <a:latin typeface="Georgia" pitchFamily="34" charset="0"/>
                <a:ea typeface="Georgia" pitchFamily="34" charset="-122"/>
                <a:cs typeface="Georgia" pitchFamily="34" charset="-120"/>
              </a:rPr>
              <a:t>Gemini Scores</a:t>
            </a:r>
            <a:endParaRPr lang="en-US" sz="1500" dirty="0"/>
          </a:p>
        </p:txBody>
      </p:sp>
      <p:sp>
        <p:nvSpPr>
          <p:cNvPr id="20" name="Text 18"/>
          <p:cNvSpPr/>
          <p:nvPr/>
        </p:nvSpPr>
        <p:spPr>
          <a:xfrm>
            <a:off x="1417320" y="2697480"/>
            <a:ext cx="7040880" cy="594360"/>
          </a:xfrm>
          <a:prstGeom prst="rect">
            <a:avLst/>
          </a:prstGeom>
          <a:noFill/>
          <a:ln/>
        </p:spPr>
        <p:txBody>
          <a:bodyPr wrap="square" rtlCol="0" anchor="t"/>
          <a:lstStyle/>
          <a:p>
            <a:pPr indent="0" marL="0">
              <a:lnSpc>
                <a:spcPct val="130000"/>
              </a:lnSpc>
              <a:buNone/>
            </a:pPr>
            <a:r>
              <a:rPr lang="en-US" sz="1100" dirty="0">
                <a:solidFill>
                  <a:srgbClr val="5A5A5A"/>
                </a:solidFill>
                <a:latin typeface="Arial" pitchFamily="34" charset="0"/>
                <a:ea typeface="Arial" pitchFamily="34" charset="-122"/>
                <a:cs typeface="Arial" pitchFamily="34" charset="-120"/>
              </a:rPr>
              <a:t>Claude generates a formatted evaluation prompt containing your rubric + concept research. You paste this into Google AI Studio. Gemini independently scores the same concepts.</a:t>
            </a:r>
            <a:endParaRPr lang="en-US" sz="1100" dirty="0"/>
          </a:p>
        </p:txBody>
      </p:sp>
      <p:sp>
        <p:nvSpPr>
          <p:cNvPr id="21" name="Shape 19"/>
          <p:cNvSpPr/>
          <p:nvPr/>
        </p:nvSpPr>
        <p:spPr>
          <a:xfrm>
            <a:off x="457200" y="3520440"/>
            <a:ext cx="8229600" cy="10972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22" name="Shape 20"/>
          <p:cNvSpPr/>
          <p:nvPr/>
        </p:nvSpPr>
        <p:spPr>
          <a:xfrm>
            <a:off x="457200" y="3520440"/>
            <a:ext cx="73152" cy="1097280"/>
          </a:xfrm>
          <a:prstGeom prst="rect">
            <a:avLst/>
          </a:prstGeom>
          <a:solidFill>
            <a:srgbClr val="1B365D"/>
          </a:solidFill>
          <a:ln/>
        </p:spPr>
      </p:sp>
      <p:sp>
        <p:nvSpPr>
          <p:cNvPr id="23" name="Shape 21"/>
          <p:cNvSpPr/>
          <p:nvPr/>
        </p:nvSpPr>
        <p:spPr>
          <a:xfrm>
            <a:off x="685800" y="3749040"/>
            <a:ext cx="548640" cy="548640"/>
          </a:xfrm>
          <a:prstGeom prst="ellipse">
            <a:avLst/>
          </a:prstGeom>
          <a:solidFill>
            <a:srgbClr val="1B365D"/>
          </a:solidFill>
          <a:ln/>
        </p:spPr>
      </p:sp>
      <p:sp>
        <p:nvSpPr>
          <p:cNvPr id="24" name="Text 22"/>
          <p:cNvSpPr/>
          <p:nvPr/>
        </p:nvSpPr>
        <p:spPr>
          <a:xfrm>
            <a:off x="685800" y="3749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C</a:t>
            </a:r>
            <a:endParaRPr lang="en-US" sz="2000" dirty="0"/>
          </a:p>
        </p:txBody>
      </p:sp>
      <p:sp>
        <p:nvSpPr>
          <p:cNvPr id="25" name="Shape 23"/>
          <p:cNvSpPr/>
          <p:nvPr/>
        </p:nvSpPr>
        <p:spPr>
          <a:xfrm>
            <a:off x="1417320" y="3611880"/>
            <a:ext cx="1188720" cy="256032"/>
          </a:xfrm>
          <a:prstGeom prst="rect">
            <a:avLst/>
          </a:prstGeom>
          <a:solidFill>
            <a:srgbClr val="1B365D"/>
          </a:solidFill>
          <a:ln/>
        </p:spPr>
      </p:sp>
      <p:sp>
        <p:nvSpPr>
          <p:cNvPr id="26" name="Text 24"/>
          <p:cNvSpPr/>
          <p:nvPr/>
        </p:nvSpPr>
        <p:spPr>
          <a:xfrm>
            <a:off x="1417320" y="361188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 Claude</a:t>
            </a:r>
            <a:endParaRPr lang="en-US" sz="800" dirty="0"/>
          </a:p>
        </p:txBody>
      </p:sp>
      <p:sp>
        <p:nvSpPr>
          <p:cNvPr id="27" name="Text 25"/>
          <p:cNvSpPr/>
          <p:nvPr/>
        </p:nvSpPr>
        <p:spPr>
          <a:xfrm>
            <a:off x="2743200" y="3566160"/>
            <a:ext cx="2743200" cy="320040"/>
          </a:xfrm>
          <a:prstGeom prst="rect">
            <a:avLst/>
          </a:prstGeom>
          <a:noFill/>
          <a:ln/>
        </p:spPr>
        <p:txBody>
          <a:bodyPr wrap="square" lIns="0" tIns="0" rIns="0" bIns="0" rtlCol="0" anchor="ctr"/>
          <a:lstStyle/>
          <a:p>
            <a:pPr indent="0" marL="0">
              <a:buNone/>
            </a:pPr>
            <a:r>
              <a:rPr lang="en-US" sz="1500" b="1" dirty="0">
                <a:solidFill>
                  <a:srgbClr val="1B365D"/>
                </a:solidFill>
                <a:latin typeface="Georgia" pitchFamily="34" charset="0"/>
                <a:ea typeface="Georgia" pitchFamily="34" charset="-122"/>
                <a:cs typeface="Georgia" pitchFamily="34" charset="-120"/>
              </a:rPr>
              <a:t>LLM Council</a:t>
            </a:r>
            <a:endParaRPr lang="en-US" sz="1500" dirty="0"/>
          </a:p>
        </p:txBody>
      </p:sp>
      <p:sp>
        <p:nvSpPr>
          <p:cNvPr id="28" name="Text 26"/>
          <p:cNvSpPr/>
          <p:nvPr/>
        </p:nvSpPr>
        <p:spPr>
          <a:xfrm>
            <a:off x="1417320" y="3931920"/>
            <a:ext cx="7040880" cy="594360"/>
          </a:xfrm>
          <a:prstGeom prst="rect">
            <a:avLst/>
          </a:prstGeom>
          <a:noFill/>
          <a:ln/>
        </p:spPr>
        <p:txBody>
          <a:bodyPr wrap="square" rtlCol="0" anchor="t"/>
          <a:lstStyle/>
          <a:p>
            <a:pPr indent="0" marL="0">
              <a:lnSpc>
                <a:spcPct val="130000"/>
              </a:lnSpc>
              <a:buNone/>
            </a:pPr>
            <a:r>
              <a:rPr lang="en-US" sz="1100" dirty="0">
                <a:solidFill>
                  <a:srgbClr val="5A5A5A"/>
                </a:solidFill>
                <a:latin typeface="Arial" pitchFamily="34" charset="0"/>
                <a:ea typeface="Arial" pitchFamily="34" charset="-122"/>
                <a:cs typeface="Arial" pitchFamily="34" charset="-120"/>
              </a:rPr>
              <a:t>Back in Claude, paste Gemini's scores. Claude compares both evaluations, identifies agreements and disagreements, produces reconciled final scores with confidence levels.</a:t>
            </a:r>
            <a:endParaRPr lang="en-US" sz="1100" dirty="0"/>
          </a:p>
        </p:txBody>
      </p:sp>
      <p:sp>
        <p:nvSpPr>
          <p:cNvPr id="29" name="Shape 27"/>
          <p:cNvSpPr/>
          <p:nvPr/>
        </p:nvSpPr>
        <p:spPr>
          <a:xfrm>
            <a:off x="457200" y="4343400"/>
            <a:ext cx="8229600" cy="320040"/>
          </a:xfrm>
          <a:prstGeom prst="rect">
            <a:avLst/>
          </a:prstGeom>
          <a:solidFill>
            <a:srgbClr val="1B365D"/>
          </a:solidFill>
          <a:ln/>
        </p:spPr>
      </p:sp>
      <p:sp>
        <p:nvSpPr>
          <p:cNvPr id="30" name="Text 28"/>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Output:  evaluation-results.md   •   Scored concepts with kill / revise / continue decisions</a:t>
            </a:r>
            <a:endParaRPr lang="en-US" sz="1100" dirty="0"/>
          </a:p>
        </p:txBody>
      </p:sp>
      <p:sp>
        <p:nvSpPr>
          <p:cNvPr id="31" name="Text 29"/>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5486400" cy="548640"/>
          </a:xfrm>
          <a:prstGeom prst="rect">
            <a:avLst/>
          </a:prstGeom>
          <a:noFill/>
          <a:ln/>
        </p:spPr>
        <p:txBody>
          <a:bodyPr wrap="square" lIns="0" tIns="0" rIns="0" bIns="0" rtlCol="0" anchor="ctr"/>
          <a:lstStyle/>
          <a:p>
            <a:pPr indent="0" marL="0">
              <a:buNone/>
            </a:pPr>
            <a:r>
              <a:rPr lang="en-US" sz="2600" b="1" dirty="0">
                <a:solidFill>
                  <a:srgbClr val="1B365D"/>
                </a:solidFill>
                <a:latin typeface="Georgia" pitchFamily="34" charset="0"/>
                <a:ea typeface="Georgia" pitchFamily="34" charset="-122"/>
                <a:cs typeface="Georgia" pitchFamily="34" charset="-120"/>
              </a:rPr>
              <a:t>Phases 6–7: Back in Claude</a:t>
            </a:r>
            <a:endParaRPr lang="en-US" sz="2600" dirty="0"/>
          </a:p>
        </p:txBody>
      </p:sp>
      <p:sp>
        <p:nvSpPr>
          <p:cNvPr id="3" name="Shape 1"/>
          <p:cNvSpPr/>
          <p:nvPr/>
        </p:nvSpPr>
        <p:spPr>
          <a:xfrm>
            <a:off x="5943600" y="320040"/>
            <a:ext cx="2834640" cy="320040"/>
          </a:xfrm>
          <a:prstGeom prst="rect">
            <a:avLst/>
          </a:prstGeom>
          <a:solidFill>
            <a:srgbClr val="2E7D32"/>
          </a:solidFill>
          <a:ln/>
        </p:spPr>
      </p:sp>
      <p:sp>
        <p:nvSpPr>
          <p:cNvPr id="4" name="Text 2"/>
          <p:cNvSpPr/>
          <p:nvPr/>
        </p:nvSpPr>
        <p:spPr>
          <a:xfrm>
            <a:off x="5943600" y="320040"/>
            <a:ext cx="28346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Claude Only — Final Stretch</a:t>
            </a:r>
            <a:endParaRPr lang="en-US" sz="900" dirty="0"/>
          </a:p>
        </p:txBody>
      </p:sp>
      <p:sp>
        <p:nvSpPr>
          <p:cNvPr id="5" name="Shape 3"/>
          <p:cNvSpPr/>
          <p:nvPr/>
        </p:nvSpPr>
        <p:spPr>
          <a:xfrm>
            <a:off x="457200" y="1005840"/>
            <a:ext cx="3931920" cy="32004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6" name="Shape 4"/>
          <p:cNvSpPr/>
          <p:nvPr/>
        </p:nvSpPr>
        <p:spPr>
          <a:xfrm>
            <a:off x="457200" y="1005840"/>
            <a:ext cx="3931920" cy="54864"/>
          </a:xfrm>
          <a:prstGeom prst="rect">
            <a:avLst/>
          </a:prstGeom>
          <a:solidFill>
            <a:srgbClr val="C4A35A"/>
          </a:solidFill>
          <a:ln/>
        </p:spPr>
      </p:sp>
      <p:sp>
        <p:nvSpPr>
          <p:cNvPr id="7" name="Shape 5"/>
          <p:cNvSpPr/>
          <p:nvPr/>
        </p:nvSpPr>
        <p:spPr>
          <a:xfrm>
            <a:off x="731520" y="1234440"/>
            <a:ext cx="457200" cy="457200"/>
          </a:xfrm>
          <a:prstGeom prst="ellipse">
            <a:avLst/>
          </a:prstGeom>
          <a:solidFill>
            <a:srgbClr val="C4A35A"/>
          </a:solidFill>
          <a:ln/>
        </p:spPr>
      </p:sp>
      <p:sp>
        <p:nvSpPr>
          <p:cNvPr id="8" name="Text 6"/>
          <p:cNvSpPr/>
          <p:nvPr/>
        </p:nvSpPr>
        <p:spPr>
          <a:xfrm>
            <a:off x="731520" y="123444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6</a:t>
            </a:r>
            <a:endParaRPr lang="en-US" sz="1600" dirty="0"/>
          </a:p>
        </p:txBody>
      </p:sp>
      <p:sp>
        <p:nvSpPr>
          <p:cNvPr id="9" name="Text 7"/>
          <p:cNvSpPr/>
          <p:nvPr/>
        </p:nvSpPr>
        <p:spPr>
          <a:xfrm>
            <a:off x="1325880" y="1188720"/>
            <a:ext cx="2743200" cy="365760"/>
          </a:xfrm>
          <a:prstGeom prst="rect">
            <a:avLst/>
          </a:prstGeom>
          <a:noFill/>
          <a:ln/>
        </p:spPr>
        <p:txBody>
          <a:bodyPr wrap="square" lIns="0" tIns="0" rIns="0" bIns="0" rtlCol="0" anchor="ctr"/>
          <a:lstStyle/>
          <a:p>
            <a:pPr indent="0" marL="0">
              <a:buNone/>
            </a:pPr>
            <a:r>
              <a:rPr lang="en-US" sz="1500" b="1" dirty="0">
                <a:solidFill>
                  <a:srgbClr val="1B365D"/>
                </a:solidFill>
                <a:latin typeface="Georgia" pitchFamily="34" charset="0"/>
                <a:ea typeface="Georgia" pitchFamily="34" charset="-122"/>
                <a:cs typeface="Georgia" pitchFamily="34" charset="-120"/>
              </a:rPr>
              <a:t>Refinement &amp; Specification</a:t>
            </a:r>
            <a:endParaRPr lang="en-US" sz="1500" dirty="0"/>
          </a:p>
        </p:txBody>
      </p:sp>
      <p:sp>
        <p:nvSpPr>
          <p:cNvPr id="10" name="Text 8"/>
          <p:cNvSpPr/>
          <p:nvPr/>
        </p:nvSpPr>
        <p:spPr>
          <a:xfrm>
            <a:off x="640080" y="1691640"/>
            <a:ext cx="3566160" cy="2377440"/>
          </a:xfrm>
          <a:prstGeom prst="rect">
            <a:avLst/>
          </a:prstGeom>
          <a:noFill/>
          <a:ln/>
        </p:spPr>
        <p:txBody>
          <a:bodyPr wrap="square" rtlCol="0" anchor="ctr"/>
          <a:lstStyle/>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SCAMPER Ideation</a:t>
            </a:r>
            <a:endParaRPr lang="en-US" sz="1100" dirty="0"/>
          </a:p>
          <a:p>
            <a:pPr indent="0" marL="0">
              <a:lnSpc>
                <a:spcPct val="120000"/>
              </a:lnSpc>
              <a:buNone/>
            </a:pPr>
            <a:r>
              <a:rPr lang="en-US" sz="1000" dirty="0">
                <a:solidFill>
                  <a:srgbClr val="5A5A5A"/>
                </a:solidFill>
                <a:latin typeface="Arial" pitchFamily="34" charset="0"/>
                <a:ea typeface="Arial" pitchFamily="34" charset="-122"/>
                <a:cs typeface="Arial" pitchFamily="34" charset="-120"/>
              </a:rPr>
              <a:t>7 creative prompts to refine your winning concept</a:t>
            </a:r>
            <a:endParaRPr lang="en-US" sz="1100" dirty="0"/>
          </a:p>
          <a:p>
            <a:pPr indent="0" marL="0">
              <a:lnSpc>
                <a:spcPct val="120000"/>
              </a:lnSpc>
              <a:buNone/>
            </a:pPr>
            <a:endParaRPr lang="en-US" sz="1100" dirty="0"/>
          </a:p>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Morphological Chart</a:t>
            </a:r>
            <a:endParaRPr lang="en-US" sz="1100" dirty="0"/>
          </a:p>
          <a:p>
            <a:pPr indent="0" marL="0">
              <a:lnSpc>
                <a:spcPct val="120000"/>
              </a:lnSpc>
              <a:buNone/>
            </a:pPr>
            <a:r>
              <a:rPr lang="en-US" sz="1000" dirty="0">
                <a:solidFill>
                  <a:srgbClr val="5A5A5A"/>
                </a:solidFill>
                <a:latin typeface="Arial" pitchFamily="34" charset="0"/>
                <a:ea typeface="Arial" pitchFamily="34" charset="-122"/>
                <a:cs typeface="Arial" pitchFamily="34" charset="-120"/>
              </a:rPr>
              <a:t>Decompose into components with implementation options</a:t>
            </a:r>
            <a:endParaRPr lang="en-US" sz="1100" dirty="0"/>
          </a:p>
          <a:p>
            <a:pPr indent="0" marL="0">
              <a:lnSpc>
                <a:spcPct val="120000"/>
              </a:lnSpc>
              <a:buNone/>
            </a:pPr>
            <a:endParaRPr lang="en-US" sz="1100" dirty="0"/>
          </a:p>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KANO Interview</a:t>
            </a:r>
            <a:endParaRPr lang="en-US" sz="1100" dirty="0"/>
          </a:p>
          <a:p>
            <a:pPr indent="0" marL="0">
              <a:lnSpc>
                <a:spcPct val="120000"/>
              </a:lnSpc>
              <a:buNone/>
            </a:pPr>
            <a:r>
              <a:rPr lang="en-US" sz="1000" dirty="0">
                <a:solidFill>
                  <a:srgbClr val="5A5A5A"/>
                </a:solidFill>
                <a:latin typeface="Arial" pitchFamily="34" charset="0"/>
                <a:ea typeface="Arial" pitchFamily="34" charset="-122"/>
                <a:cs typeface="Arial" pitchFamily="34" charset="-120"/>
              </a:rPr>
              <a:t>Classify every feature: Must-Be, Performance, Excitement, Indifferent, Reverse</a:t>
            </a:r>
            <a:endParaRPr lang="en-US" sz="1100" dirty="0"/>
          </a:p>
          <a:p>
            <a:pPr indent="0" marL="0">
              <a:lnSpc>
                <a:spcPct val="120000"/>
              </a:lnSpc>
              <a:buNone/>
            </a:pPr>
            <a:endParaRPr lang="en-US" sz="1100" dirty="0"/>
          </a:p>
          <a:p>
            <a:pPr indent="0" marL="0">
              <a:lnSpc>
                <a:spcPct val="120000"/>
              </a:lnSpc>
              <a:buNone/>
            </a:pPr>
            <a:r>
              <a:rPr lang="en-US" sz="1100" b="1" dirty="0">
                <a:solidFill>
                  <a:srgbClr val="C4A35A"/>
                </a:solidFill>
                <a:latin typeface="Courier New" pitchFamily="34" charset="0"/>
                <a:ea typeface="Courier New" pitchFamily="34" charset="-122"/>
                <a:cs typeface="Courier New" pitchFamily="34" charset="-120"/>
              </a:rPr>
              <a:t>Output:  refined-concept.md</a:t>
            </a:r>
            <a:endParaRPr lang="en-US" sz="1100" dirty="0"/>
          </a:p>
        </p:txBody>
      </p:sp>
      <p:sp>
        <p:nvSpPr>
          <p:cNvPr id="11" name="Shape 9"/>
          <p:cNvSpPr/>
          <p:nvPr/>
        </p:nvSpPr>
        <p:spPr>
          <a:xfrm>
            <a:off x="4754880" y="1005840"/>
            <a:ext cx="3931920" cy="3200400"/>
          </a:xfrm>
          <a:prstGeom prst="rect">
            <a:avLst/>
          </a:prstGeom>
          <a:solidFill>
            <a:srgbClr val="FFFFFF"/>
          </a:solidFill>
          <a:ln/>
          <a:effectLst>
            <a:outerShdw sx="100000" sy="100000" kx="0" ky="0" algn="bl" rotWithShape="0" blurRad="76200" dist="38100" dir="8100000">
              <a:srgbClr val="000000">
                <a:alpha val="10000"/>
              </a:srgbClr>
            </a:outerShdw>
          </a:effectLst>
        </p:spPr>
      </p:sp>
      <p:sp>
        <p:nvSpPr>
          <p:cNvPr id="12" name="Shape 10"/>
          <p:cNvSpPr/>
          <p:nvPr/>
        </p:nvSpPr>
        <p:spPr>
          <a:xfrm>
            <a:off x="4754880" y="1005840"/>
            <a:ext cx="3931920" cy="54864"/>
          </a:xfrm>
          <a:prstGeom prst="rect">
            <a:avLst/>
          </a:prstGeom>
          <a:solidFill>
            <a:srgbClr val="C4A35A"/>
          </a:solidFill>
          <a:ln/>
        </p:spPr>
      </p:sp>
      <p:sp>
        <p:nvSpPr>
          <p:cNvPr id="13" name="Shape 11"/>
          <p:cNvSpPr/>
          <p:nvPr/>
        </p:nvSpPr>
        <p:spPr>
          <a:xfrm>
            <a:off x="5029200" y="1234440"/>
            <a:ext cx="457200" cy="457200"/>
          </a:xfrm>
          <a:prstGeom prst="ellipse">
            <a:avLst/>
          </a:prstGeom>
          <a:solidFill>
            <a:srgbClr val="C4A35A"/>
          </a:solidFill>
          <a:ln/>
        </p:spPr>
      </p:sp>
      <p:sp>
        <p:nvSpPr>
          <p:cNvPr id="14" name="Text 12"/>
          <p:cNvSpPr/>
          <p:nvPr/>
        </p:nvSpPr>
        <p:spPr>
          <a:xfrm>
            <a:off x="5029200" y="1234440"/>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7</a:t>
            </a:r>
            <a:endParaRPr lang="en-US" sz="1600" dirty="0"/>
          </a:p>
        </p:txBody>
      </p:sp>
      <p:sp>
        <p:nvSpPr>
          <p:cNvPr id="15" name="Text 13"/>
          <p:cNvSpPr/>
          <p:nvPr/>
        </p:nvSpPr>
        <p:spPr>
          <a:xfrm>
            <a:off x="5623560" y="1188720"/>
            <a:ext cx="2743200" cy="365760"/>
          </a:xfrm>
          <a:prstGeom prst="rect">
            <a:avLst/>
          </a:prstGeom>
          <a:noFill/>
          <a:ln/>
        </p:spPr>
        <p:txBody>
          <a:bodyPr wrap="square" lIns="0" tIns="0" rIns="0" bIns="0" rtlCol="0" anchor="ctr"/>
          <a:lstStyle/>
          <a:p>
            <a:pPr indent="0" marL="0">
              <a:buNone/>
            </a:pPr>
            <a:r>
              <a:rPr lang="en-US" sz="1500" b="1" dirty="0">
                <a:solidFill>
                  <a:srgbClr val="1B365D"/>
                </a:solidFill>
                <a:latin typeface="Georgia" pitchFamily="34" charset="0"/>
                <a:ea typeface="Georgia" pitchFamily="34" charset="-122"/>
                <a:cs typeface="Georgia" pitchFamily="34" charset="-120"/>
              </a:rPr>
              <a:t>PRD Generation</a:t>
            </a:r>
            <a:endParaRPr lang="en-US" sz="1500" dirty="0"/>
          </a:p>
        </p:txBody>
      </p:sp>
      <p:sp>
        <p:nvSpPr>
          <p:cNvPr id="16" name="Text 14"/>
          <p:cNvSpPr/>
          <p:nvPr/>
        </p:nvSpPr>
        <p:spPr>
          <a:xfrm>
            <a:off x="4937760" y="1691640"/>
            <a:ext cx="3566160" cy="2377440"/>
          </a:xfrm>
          <a:prstGeom prst="rect">
            <a:avLst/>
          </a:prstGeom>
          <a:noFill/>
          <a:ln/>
        </p:spPr>
        <p:txBody>
          <a:bodyPr wrap="square" rtlCol="0" anchor="ctr"/>
          <a:lstStyle/>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The Grand Finale</a:t>
            </a:r>
            <a:endParaRPr lang="en-US" sz="1100" dirty="0"/>
          </a:p>
          <a:p>
            <a:pPr indent="0" marL="0">
              <a:lnSpc>
                <a:spcPct val="120000"/>
              </a:lnSpc>
              <a:buNone/>
            </a:pPr>
            <a:r>
              <a:rPr lang="en-US" sz="1000" dirty="0">
                <a:solidFill>
                  <a:srgbClr val="5A5A5A"/>
                </a:solidFill>
                <a:latin typeface="Arial" pitchFamily="34" charset="0"/>
                <a:ea typeface="Arial" pitchFamily="34" charset="-122"/>
                <a:cs typeface="Arial" pitchFamily="34" charset="-120"/>
              </a:rPr>
              <a:t>Claude synthesizes ALL prior artifacts into a complete Product Requirements Document</a:t>
            </a:r>
            <a:endParaRPr lang="en-US" sz="1100" dirty="0"/>
          </a:p>
          <a:p>
            <a:pPr indent="0" marL="0">
              <a:lnSpc>
                <a:spcPct val="120000"/>
              </a:lnSpc>
              <a:buNone/>
            </a:pPr>
            <a:endParaRPr lang="en-US" sz="1100" dirty="0"/>
          </a:p>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10 Sections:</a:t>
            </a:r>
            <a:endParaRPr lang="en-US" sz="1100" dirty="0"/>
          </a:p>
          <a:p>
            <a:pPr indent="0" marL="0">
              <a:lnSpc>
                <a:spcPct val="120000"/>
              </a:lnSpc>
              <a:buNone/>
            </a:pPr>
            <a:r>
              <a:rPr lang="en-US" sz="1000" dirty="0">
                <a:solidFill>
                  <a:srgbClr val="5A5A5A"/>
                </a:solidFill>
                <a:latin typeface="Arial" pitchFamily="34" charset="0"/>
                <a:ea typeface="Arial" pitchFamily="34" charset="-122"/>
                <a:cs typeface="Arial" pitchFamily="34" charset="-120"/>
              </a:rPr>
              <a:t>Executive Summary, Strategic Context, Problem &amp; Market, Target Users, Vision &amp; Scope, Features (KANO), Architecture, Evidence, Risks, Metrics</a:t>
            </a:r>
            <a:endParaRPr lang="en-US" sz="1100" dirty="0"/>
          </a:p>
          <a:p>
            <a:pPr indent="0" marL="0">
              <a:lnSpc>
                <a:spcPct val="120000"/>
              </a:lnSpc>
              <a:buNone/>
            </a:pPr>
            <a:endParaRPr lang="en-US" sz="1100" dirty="0"/>
          </a:p>
          <a:p>
            <a:pPr indent="0" marL="0">
              <a:lnSpc>
                <a:spcPct val="120000"/>
              </a:lnSpc>
              <a:buNone/>
            </a:pPr>
            <a:r>
              <a:rPr lang="en-US" sz="1100" b="1" dirty="0">
                <a:solidFill>
                  <a:srgbClr val="1B365D"/>
                </a:solidFill>
                <a:latin typeface="Arial" pitchFamily="34" charset="0"/>
                <a:ea typeface="Arial" pitchFamily="34" charset="-122"/>
                <a:cs typeface="Arial" pitchFamily="34" charset="-120"/>
              </a:rPr>
              <a:t>Output:</a:t>
            </a:r>
            <a:endParaRPr lang="en-US" sz="1100" dirty="0"/>
          </a:p>
          <a:p>
            <a:pPr indent="0" marL="0">
              <a:lnSpc>
                <a:spcPct val="120000"/>
              </a:lnSpc>
              <a:buNone/>
            </a:pPr>
            <a:r>
              <a:rPr lang="en-US" sz="1000" b="1" dirty="0">
                <a:solidFill>
                  <a:srgbClr val="C4A35A"/>
                </a:solidFill>
                <a:latin typeface="Courier New" pitchFamily="34" charset="0"/>
                <a:ea typeface="Courier New" pitchFamily="34" charset="-122"/>
                <a:cs typeface="Courier New" pitchFamily="34" charset="-120"/>
              </a:rPr>
              <a:t>product-requirements-document.md</a:t>
            </a:r>
            <a:endParaRPr lang="en-US" sz="1100" dirty="0"/>
          </a:p>
          <a:p>
            <a:pPr indent="0" marL="0">
              <a:lnSpc>
                <a:spcPct val="120000"/>
              </a:lnSpc>
              <a:buNone/>
            </a:pPr>
            <a:r>
              <a:rPr lang="en-US" sz="1000" b="1" dirty="0">
                <a:solidFill>
                  <a:srgbClr val="C4A35A"/>
                </a:solidFill>
                <a:latin typeface="Courier New" pitchFamily="34" charset="0"/>
                <a:ea typeface="Courier New" pitchFamily="34" charset="-122"/>
                <a:cs typeface="Courier New" pitchFamily="34" charset="-120"/>
              </a:rPr>
              <a:t>product-requirements-document.docx</a:t>
            </a:r>
            <a:endParaRPr lang="en-US" sz="1100" dirty="0"/>
          </a:p>
        </p:txBody>
      </p:sp>
      <p:sp>
        <p:nvSpPr>
          <p:cNvPr id="17" name="Text 15"/>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1B365D"/>
                </a:solidFill>
                <a:latin typeface="Georgia" pitchFamily="34" charset="0"/>
                <a:ea typeface="Georgia" pitchFamily="34" charset="-122"/>
                <a:cs typeface="Georgia" pitchFamily="34" charset="-120"/>
              </a:rPr>
              <a:t>Tool Usage by Phase — Quick Reference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3200400"/>
        </p:xfrm>
        <a:graphic>
          <a:graphicData uri="http://schemas.openxmlformats.org/drawingml/2006/table">
            <a:tbl>
              <a:tblPr/>
              <a:tblGrid>
                <a:gridCol w="2194560"/>
                <a:gridCol w="1371600"/>
                <a:gridCol w="1371600"/>
                <a:gridCol w="1645920"/>
                <a:gridCol w="1645920"/>
              </a:tblGrid>
              <a:tr h="36576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Phase</a:t>
                      </a:r>
                      <a:endParaRPr lang="en-US" sz="1000" dirty="0">
                        <a:latin typeface="Arial" charset="0"/>
                        <a:ea typeface="Arial" charset="0"/>
                        <a:cs typeface="Arial" charset="0"/>
                      </a:endParaRPr>
                    </a:p>
                  </a:txBody>
                  <a:tcPr marL="91440" marR="91440" marT="45720" marB="45720">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Claude</a:t>
                      </a:r>
                      <a:endParaRPr lang="en-US" sz="1000" dirty="0">
                        <a:latin typeface="Arial" charset="0"/>
                        <a:ea typeface="Arial" charset="0"/>
                        <a:cs typeface="Arial" charset="0"/>
                      </a:endParaRPr>
                    </a:p>
                  </a:txBody>
                  <a:tcPr marL="91440" marR="91440" marT="45720" marB="45720">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Perplexity</a:t>
                      </a:r>
                      <a:endParaRPr lang="en-US" sz="1000" dirty="0">
                        <a:latin typeface="Arial" charset="0"/>
                        <a:ea typeface="Arial" charset="0"/>
                        <a:cs typeface="Arial" charset="0"/>
                      </a:endParaRPr>
                    </a:p>
                  </a:txBody>
                  <a:tcPr marL="91440" marR="91440" marT="45720" marB="45720">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NotebookLM</a:t>
                      </a:r>
                      <a:endParaRPr lang="en-US" sz="1000" dirty="0">
                        <a:latin typeface="Arial" charset="0"/>
                        <a:ea typeface="Arial" charset="0"/>
                        <a:cs typeface="Arial" charset="0"/>
                      </a:endParaRPr>
                    </a:p>
                  </a:txBody>
                  <a:tcPr marL="91440" marR="91440" marT="45720" marB="45720">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AI Studio</a:t>
                      </a:r>
                      <a:endParaRPr lang="en-US" sz="1000" dirty="0">
                        <a:latin typeface="Arial" charset="0"/>
                        <a:ea typeface="Arial" charset="0"/>
                        <a:cs typeface="Arial" charset="0"/>
                      </a:endParaRPr>
                    </a:p>
                  </a:txBody>
                  <a:tcPr marL="91440" marR="91440" marT="45720" marB="45720">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B365D"/>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1 • Strategic Foundation</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2 • Rubric Creation</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3 • Concept Discovery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PARALLEL</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4 • Deep Research</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Synthesis</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PARALLEL</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DEEP RESEARCH</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5 • Concept Evaluation</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2ND OPINION</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6 • Refinement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r h="384048">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7 • PRD Generation</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b="1" dirty="0">
                          <a:solidFill>
                            <a:srgbClr val="1B365D"/>
                          </a:solidFill>
                          <a:latin typeface="Arial" pitchFamily="34" charset="0"/>
                          <a:ea typeface="Arial" pitchFamily="34" charset="-122"/>
                          <a:cs typeface="Arial" pitchFamily="34" charset="-120"/>
                        </a:rPr>
                        <a:t>★ PRIMARY</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8F0E8"/>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A5A5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206240"/>
            <a:ext cx="8229600" cy="365760"/>
          </a:xfrm>
          <a:prstGeom prst="rect">
            <a:avLst/>
          </a:prstGeom>
          <a:noFill/>
          <a:ln/>
        </p:spPr>
        <p:txBody>
          <a:bodyPr wrap="square" rtlCol="0" anchor="ctr"/>
          <a:lstStyle/>
          <a:p>
            <a:pPr indent="0" marL="0">
              <a:buNone/>
            </a:pPr>
            <a:r>
              <a:rPr lang="en-US" sz="1000" b="1" dirty="0">
                <a:solidFill>
                  <a:srgbClr val="1B365D"/>
                </a:solidFill>
                <a:latin typeface="Arial" pitchFamily="34" charset="0"/>
                <a:ea typeface="Arial" pitchFamily="34" charset="-122"/>
                <a:cs typeface="Arial" pitchFamily="34" charset="-120"/>
              </a:rPr>
              <a:t>★ PRIMARY</a:t>
            </a:r>
            <a:pPr indent="0" marL="0">
              <a:buNone/>
            </a:pPr>
            <a:r>
              <a:rPr lang="en-US" sz="1000" dirty="0">
                <a:solidFill>
                  <a:srgbClr val="5A5A5A"/>
                </a:solidFill>
                <a:latin typeface="Arial" pitchFamily="34" charset="0"/>
                <a:ea typeface="Arial" pitchFamily="34" charset="-122"/>
                <a:cs typeface="Arial" pitchFamily="34" charset="-120"/>
              </a:rPr>
              <a:t> = Main tool for this phase     </a:t>
            </a:r>
            <a:pPr indent="0" marL="0">
              <a:buNone/>
            </a:pPr>
            <a:r>
              <a:rPr lang="en-US" sz="1000" b="1" dirty="0">
                <a:solidFill>
                  <a:srgbClr val="E65100"/>
                </a:solidFill>
                <a:latin typeface="Arial" pitchFamily="34" charset="0"/>
                <a:ea typeface="Arial" pitchFamily="34" charset="-122"/>
                <a:cs typeface="Arial" pitchFamily="34" charset="-120"/>
              </a:rPr>
              <a:t>✦ PARALLEL / EXTERNAL</a:t>
            </a:r>
            <a:pPr indent="0" marL="0">
              <a:buNone/>
            </a:pPr>
            <a:r>
              <a:rPr lang="en-US" sz="1000" dirty="0">
                <a:solidFill>
                  <a:srgbClr val="5A5A5A"/>
                </a:solidFill>
                <a:latin typeface="Arial" pitchFamily="34" charset="0"/>
                <a:ea typeface="Arial" pitchFamily="34" charset="-122"/>
                <a:cs typeface="Arial" pitchFamily="34" charset="-120"/>
              </a:rPr>
              <a:t> = Step outside Claude for this task</a:t>
            </a:r>
            <a:endParaRPr lang="en-US" sz="1000" dirty="0"/>
          </a:p>
        </p:txBody>
      </p:sp>
      <p:sp>
        <p:nvSpPr>
          <p:cNvPr id="5" name="Text 2"/>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1B365D"/>
                </a:solidFill>
                <a:latin typeface="Georgia" pitchFamily="34" charset="0"/>
                <a:ea typeface="Georgia" pitchFamily="34" charset="-122"/>
                <a:cs typeface="Georgia" pitchFamily="34" charset="-120"/>
              </a:rPr>
              <a:t>Your 6-Day Timeline</a:t>
            </a:r>
            <a:endParaRPr lang="en-US" sz="24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100" b="1" dirty="0">
                <a:solidFill>
                  <a:srgbClr val="C4A35A"/>
                </a:solidFill>
                <a:latin typeface="Arial" pitchFamily="34" charset="0"/>
                <a:ea typeface="Arial" pitchFamily="34" charset="-122"/>
                <a:cs typeface="Arial" pitchFamily="34" charset="-120"/>
              </a:rPr>
              <a:t>February 5–10, 2026  •  Final deliverable due Feb 10</a:t>
            </a:r>
            <a:endParaRPr lang="en-US" sz="1100" dirty="0"/>
          </a:p>
        </p:txBody>
      </p:sp>
      <p:sp>
        <p:nvSpPr>
          <p:cNvPr id="4" name="Shape 2"/>
          <p:cNvSpPr/>
          <p:nvPr/>
        </p:nvSpPr>
        <p:spPr>
          <a:xfrm>
            <a:off x="457200" y="1097280"/>
            <a:ext cx="8229600" cy="530352"/>
          </a:xfrm>
          <a:prstGeom prst="rect">
            <a:avLst/>
          </a:prstGeom>
          <a:solidFill>
            <a:srgbClr val="FFFFFF"/>
          </a:solidFill>
          <a:ln/>
        </p:spPr>
      </p:sp>
      <p:sp>
        <p:nvSpPr>
          <p:cNvPr id="5" name="Shape 3"/>
          <p:cNvSpPr/>
          <p:nvPr/>
        </p:nvSpPr>
        <p:spPr>
          <a:xfrm>
            <a:off x="457200" y="1097280"/>
            <a:ext cx="822960" cy="530352"/>
          </a:xfrm>
          <a:prstGeom prst="rect">
            <a:avLst/>
          </a:prstGeom>
          <a:solidFill>
            <a:srgbClr val="1B365D"/>
          </a:solidFill>
          <a:ln/>
        </p:spPr>
      </p:sp>
      <p:sp>
        <p:nvSpPr>
          <p:cNvPr id="6" name="Text 4"/>
          <p:cNvSpPr/>
          <p:nvPr/>
        </p:nvSpPr>
        <p:spPr>
          <a:xfrm>
            <a:off x="457200" y="109728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1</a:t>
            </a:r>
            <a:endParaRPr lang="en-US" sz="1000" dirty="0"/>
          </a:p>
        </p:txBody>
      </p:sp>
      <p:sp>
        <p:nvSpPr>
          <p:cNvPr id="7" name="Text 5"/>
          <p:cNvSpPr/>
          <p:nvPr/>
        </p:nvSpPr>
        <p:spPr>
          <a:xfrm>
            <a:off x="457200" y="135331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Wed Feb 5</a:t>
            </a:r>
            <a:endParaRPr lang="en-US" sz="700" dirty="0"/>
          </a:p>
        </p:txBody>
      </p:sp>
      <p:sp>
        <p:nvSpPr>
          <p:cNvPr id="8" name="Text 6"/>
          <p:cNvSpPr/>
          <p:nvPr/>
        </p:nvSpPr>
        <p:spPr>
          <a:xfrm>
            <a:off x="1417320" y="109728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Setup + Phase 1</a:t>
            </a:r>
            <a:endParaRPr lang="en-US" sz="1100" dirty="0"/>
          </a:p>
        </p:txBody>
      </p:sp>
      <p:sp>
        <p:nvSpPr>
          <p:cNvPr id="9" name="Text 7"/>
          <p:cNvSpPr/>
          <p:nvPr/>
        </p:nvSpPr>
        <p:spPr>
          <a:xfrm>
            <a:off x="3566160" y="109728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Install pipeline, create accounts, complete Strategic Foundation</a:t>
            </a:r>
            <a:endParaRPr lang="en-US" sz="1000" dirty="0"/>
          </a:p>
        </p:txBody>
      </p:sp>
      <p:sp>
        <p:nvSpPr>
          <p:cNvPr id="10" name="Text 8"/>
          <p:cNvSpPr/>
          <p:nvPr/>
        </p:nvSpPr>
        <p:spPr>
          <a:xfrm>
            <a:off x="7498080" y="109728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2-3 hrs</a:t>
            </a:r>
            <a:endParaRPr lang="en-US" sz="1100" dirty="0"/>
          </a:p>
        </p:txBody>
      </p:sp>
      <p:sp>
        <p:nvSpPr>
          <p:cNvPr id="11" name="Shape 9"/>
          <p:cNvSpPr/>
          <p:nvPr/>
        </p:nvSpPr>
        <p:spPr>
          <a:xfrm>
            <a:off x="457200" y="1691640"/>
            <a:ext cx="8229600" cy="530352"/>
          </a:xfrm>
          <a:prstGeom prst="rect">
            <a:avLst/>
          </a:prstGeom>
          <a:solidFill>
            <a:srgbClr val="F8F7F4"/>
          </a:solidFill>
          <a:ln/>
        </p:spPr>
      </p:sp>
      <p:sp>
        <p:nvSpPr>
          <p:cNvPr id="12" name="Shape 10"/>
          <p:cNvSpPr/>
          <p:nvPr/>
        </p:nvSpPr>
        <p:spPr>
          <a:xfrm>
            <a:off x="457200" y="1691640"/>
            <a:ext cx="822960" cy="530352"/>
          </a:xfrm>
          <a:prstGeom prst="rect">
            <a:avLst/>
          </a:prstGeom>
          <a:solidFill>
            <a:srgbClr val="1B365D"/>
          </a:solidFill>
          <a:ln/>
        </p:spPr>
      </p:sp>
      <p:sp>
        <p:nvSpPr>
          <p:cNvPr id="13" name="Text 11"/>
          <p:cNvSpPr/>
          <p:nvPr/>
        </p:nvSpPr>
        <p:spPr>
          <a:xfrm>
            <a:off x="457200" y="169164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2</a:t>
            </a:r>
            <a:endParaRPr lang="en-US" sz="1000" dirty="0"/>
          </a:p>
        </p:txBody>
      </p:sp>
      <p:sp>
        <p:nvSpPr>
          <p:cNvPr id="14" name="Text 12"/>
          <p:cNvSpPr/>
          <p:nvPr/>
        </p:nvSpPr>
        <p:spPr>
          <a:xfrm>
            <a:off x="457200" y="194767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Thu Feb 6</a:t>
            </a:r>
            <a:endParaRPr lang="en-US" sz="700" dirty="0"/>
          </a:p>
        </p:txBody>
      </p:sp>
      <p:sp>
        <p:nvSpPr>
          <p:cNvPr id="15" name="Text 13"/>
          <p:cNvSpPr/>
          <p:nvPr/>
        </p:nvSpPr>
        <p:spPr>
          <a:xfrm>
            <a:off x="1417320" y="169164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Phase 2 + Phase 3 Start</a:t>
            </a:r>
            <a:endParaRPr lang="en-US" sz="1100" dirty="0"/>
          </a:p>
        </p:txBody>
      </p:sp>
      <p:sp>
        <p:nvSpPr>
          <p:cNvPr id="16" name="Text 14"/>
          <p:cNvSpPr/>
          <p:nvPr/>
        </p:nvSpPr>
        <p:spPr>
          <a:xfrm>
            <a:off x="3566160" y="169164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Build rubric, begin concept discovery searches</a:t>
            </a:r>
            <a:endParaRPr lang="en-US" sz="1000" dirty="0"/>
          </a:p>
        </p:txBody>
      </p:sp>
      <p:sp>
        <p:nvSpPr>
          <p:cNvPr id="17" name="Text 15"/>
          <p:cNvSpPr/>
          <p:nvPr/>
        </p:nvSpPr>
        <p:spPr>
          <a:xfrm>
            <a:off x="7498080" y="169164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3-4 hrs</a:t>
            </a:r>
            <a:endParaRPr lang="en-US" sz="1100" dirty="0"/>
          </a:p>
        </p:txBody>
      </p:sp>
      <p:sp>
        <p:nvSpPr>
          <p:cNvPr id="18" name="Shape 16"/>
          <p:cNvSpPr/>
          <p:nvPr/>
        </p:nvSpPr>
        <p:spPr>
          <a:xfrm>
            <a:off x="457200" y="2286000"/>
            <a:ext cx="8229600" cy="530352"/>
          </a:xfrm>
          <a:prstGeom prst="rect">
            <a:avLst/>
          </a:prstGeom>
          <a:solidFill>
            <a:srgbClr val="FFFFFF"/>
          </a:solidFill>
          <a:ln/>
        </p:spPr>
      </p:sp>
      <p:sp>
        <p:nvSpPr>
          <p:cNvPr id="19" name="Shape 17"/>
          <p:cNvSpPr/>
          <p:nvPr/>
        </p:nvSpPr>
        <p:spPr>
          <a:xfrm>
            <a:off x="457200" y="2286000"/>
            <a:ext cx="822960" cy="530352"/>
          </a:xfrm>
          <a:prstGeom prst="rect">
            <a:avLst/>
          </a:prstGeom>
          <a:solidFill>
            <a:srgbClr val="1B365D"/>
          </a:solidFill>
          <a:ln/>
        </p:spPr>
      </p:sp>
      <p:sp>
        <p:nvSpPr>
          <p:cNvPr id="20" name="Text 18"/>
          <p:cNvSpPr/>
          <p:nvPr/>
        </p:nvSpPr>
        <p:spPr>
          <a:xfrm>
            <a:off x="457200" y="228600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3</a:t>
            </a:r>
            <a:endParaRPr lang="en-US" sz="1000" dirty="0"/>
          </a:p>
        </p:txBody>
      </p:sp>
      <p:sp>
        <p:nvSpPr>
          <p:cNvPr id="21" name="Text 19"/>
          <p:cNvSpPr/>
          <p:nvPr/>
        </p:nvSpPr>
        <p:spPr>
          <a:xfrm>
            <a:off x="457200" y="254203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Fri Feb 7</a:t>
            </a:r>
            <a:endParaRPr lang="en-US" sz="700" dirty="0"/>
          </a:p>
        </p:txBody>
      </p:sp>
      <p:sp>
        <p:nvSpPr>
          <p:cNvPr id="22" name="Text 20"/>
          <p:cNvSpPr/>
          <p:nvPr/>
        </p:nvSpPr>
        <p:spPr>
          <a:xfrm>
            <a:off x="1417320" y="228600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Phase 3 + Phase 4 Start</a:t>
            </a:r>
            <a:endParaRPr lang="en-US" sz="1100" dirty="0"/>
          </a:p>
        </p:txBody>
      </p:sp>
      <p:sp>
        <p:nvSpPr>
          <p:cNvPr id="23" name="Text 21"/>
          <p:cNvSpPr/>
          <p:nvPr/>
        </p:nvSpPr>
        <p:spPr>
          <a:xfrm>
            <a:off x="3566160" y="228600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Finish concept ranking, begin deep research in NotebookLM</a:t>
            </a:r>
            <a:endParaRPr lang="en-US" sz="1000" dirty="0"/>
          </a:p>
        </p:txBody>
      </p:sp>
      <p:sp>
        <p:nvSpPr>
          <p:cNvPr id="24" name="Text 22"/>
          <p:cNvSpPr/>
          <p:nvPr/>
        </p:nvSpPr>
        <p:spPr>
          <a:xfrm>
            <a:off x="7498080" y="228600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4-5 hrs</a:t>
            </a:r>
            <a:endParaRPr lang="en-US" sz="1100" dirty="0"/>
          </a:p>
        </p:txBody>
      </p:sp>
      <p:sp>
        <p:nvSpPr>
          <p:cNvPr id="25" name="Shape 23"/>
          <p:cNvSpPr/>
          <p:nvPr/>
        </p:nvSpPr>
        <p:spPr>
          <a:xfrm>
            <a:off x="457200" y="2880360"/>
            <a:ext cx="8229600" cy="530352"/>
          </a:xfrm>
          <a:prstGeom prst="rect">
            <a:avLst/>
          </a:prstGeom>
          <a:solidFill>
            <a:srgbClr val="F8F7F4"/>
          </a:solidFill>
          <a:ln/>
        </p:spPr>
      </p:sp>
      <p:sp>
        <p:nvSpPr>
          <p:cNvPr id="26" name="Shape 24"/>
          <p:cNvSpPr/>
          <p:nvPr/>
        </p:nvSpPr>
        <p:spPr>
          <a:xfrm>
            <a:off x="457200" y="2880360"/>
            <a:ext cx="822960" cy="530352"/>
          </a:xfrm>
          <a:prstGeom prst="rect">
            <a:avLst/>
          </a:prstGeom>
          <a:solidFill>
            <a:srgbClr val="1B365D"/>
          </a:solidFill>
          <a:ln/>
        </p:spPr>
      </p:sp>
      <p:sp>
        <p:nvSpPr>
          <p:cNvPr id="27" name="Text 25"/>
          <p:cNvSpPr/>
          <p:nvPr/>
        </p:nvSpPr>
        <p:spPr>
          <a:xfrm>
            <a:off x="457200" y="288036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4</a:t>
            </a:r>
            <a:endParaRPr lang="en-US" sz="1000" dirty="0"/>
          </a:p>
        </p:txBody>
      </p:sp>
      <p:sp>
        <p:nvSpPr>
          <p:cNvPr id="28" name="Text 26"/>
          <p:cNvSpPr/>
          <p:nvPr/>
        </p:nvSpPr>
        <p:spPr>
          <a:xfrm>
            <a:off x="457200" y="313639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Sat Feb 8</a:t>
            </a:r>
            <a:endParaRPr lang="en-US" sz="700" dirty="0"/>
          </a:p>
        </p:txBody>
      </p:sp>
      <p:sp>
        <p:nvSpPr>
          <p:cNvPr id="29" name="Text 27"/>
          <p:cNvSpPr/>
          <p:nvPr/>
        </p:nvSpPr>
        <p:spPr>
          <a:xfrm>
            <a:off x="1417320" y="288036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Phase 4 + Phase 5</a:t>
            </a:r>
            <a:endParaRPr lang="en-US" sz="1100" dirty="0"/>
          </a:p>
        </p:txBody>
      </p:sp>
      <p:sp>
        <p:nvSpPr>
          <p:cNvPr id="30" name="Text 28"/>
          <p:cNvSpPr/>
          <p:nvPr/>
        </p:nvSpPr>
        <p:spPr>
          <a:xfrm>
            <a:off x="3566160" y="288036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Complete deep research, run multi-model evaluation</a:t>
            </a:r>
            <a:endParaRPr lang="en-US" sz="1000" dirty="0"/>
          </a:p>
        </p:txBody>
      </p:sp>
      <p:sp>
        <p:nvSpPr>
          <p:cNvPr id="31" name="Text 29"/>
          <p:cNvSpPr/>
          <p:nvPr/>
        </p:nvSpPr>
        <p:spPr>
          <a:xfrm>
            <a:off x="7498080" y="288036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4-5 hrs</a:t>
            </a:r>
            <a:endParaRPr lang="en-US" sz="1100" dirty="0"/>
          </a:p>
        </p:txBody>
      </p:sp>
      <p:sp>
        <p:nvSpPr>
          <p:cNvPr id="32" name="Shape 30"/>
          <p:cNvSpPr/>
          <p:nvPr/>
        </p:nvSpPr>
        <p:spPr>
          <a:xfrm>
            <a:off x="457200" y="3474720"/>
            <a:ext cx="8229600" cy="530352"/>
          </a:xfrm>
          <a:prstGeom prst="rect">
            <a:avLst/>
          </a:prstGeom>
          <a:solidFill>
            <a:srgbClr val="FFFFFF"/>
          </a:solidFill>
          <a:ln/>
        </p:spPr>
      </p:sp>
      <p:sp>
        <p:nvSpPr>
          <p:cNvPr id="33" name="Shape 31"/>
          <p:cNvSpPr/>
          <p:nvPr/>
        </p:nvSpPr>
        <p:spPr>
          <a:xfrm>
            <a:off x="457200" y="3474720"/>
            <a:ext cx="822960" cy="530352"/>
          </a:xfrm>
          <a:prstGeom prst="rect">
            <a:avLst/>
          </a:prstGeom>
          <a:solidFill>
            <a:srgbClr val="1B365D"/>
          </a:solidFill>
          <a:ln/>
        </p:spPr>
      </p:sp>
      <p:sp>
        <p:nvSpPr>
          <p:cNvPr id="34" name="Text 32"/>
          <p:cNvSpPr/>
          <p:nvPr/>
        </p:nvSpPr>
        <p:spPr>
          <a:xfrm>
            <a:off x="457200" y="347472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5</a:t>
            </a:r>
            <a:endParaRPr lang="en-US" sz="1000" dirty="0"/>
          </a:p>
        </p:txBody>
      </p:sp>
      <p:sp>
        <p:nvSpPr>
          <p:cNvPr id="35" name="Text 33"/>
          <p:cNvSpPr/>
          <p:nvPr/>
        </p:nvSpPr>
        <p:spPr>
          <a:xfrm>
            <a:off x="457200" y="373075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Sun Feb 9</a:t>
            </a:r>
            <a:endParaRPr lang="en-US" sz="700" dirty="0"/>
          </a:p>
        </p:txBody>
      </p:sp>
      <p:sp>
        <p:nvSpPr>
          <p:cNvPr id="36" name="Text 34"/>
          <p:cNvSpPr/>
          <p:nvPr/>
        </p:nvSpPr>
        <p:spPr>
          <a:xfrm>
            <a:off x="1417320" y="347472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Phase 6</a:t>
            </a:r>
            <a:endParaRPr lang="en-US" sz="1100" dirty="0"/>
          </a:p>
        </p:txBody>
      </p:sp>
      <p:sp>
        <p:nvSpPr>
          <p:cNvPr id="37" name="Text 35"/>
          <p:cNvSpPr/>
          <p:nvPr/>
        </p:nvSpPr>
        <p:spPr>
          <a:xfrm>
            <a:off x="3566160" y="347472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SCAMPER refinement, morphological chart, KANO interview</a:t>
            </a:r>
            <a:endParaRPr lang="en-US" sz="1000" dirty="0"/>
          </a:p>
        </p:txBody>
      </p:sp>
      <p:sp>
        <p:nvSpPr>
          <p:cNvPr id="38" name="Text 36"/>
          <p:cNvSpPr/>
          <p:nvPr/>
        </p:nvSpPr>
        <p:spPr>
          <a:xfrm>
            <a:off x="7498080" y="347472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3-4 hrs</a:t>
            </a:r>
            <a:endParaRPr lang="en-US" sz="1100" dirty="0"/>
          </a:p>
        </p:txBody>
      </p:sp>
      <p:sp>
        <p:nvSpPr>
          <p:cNvPr id="39" name="Shape 37"/>
          <p:cNvSpPr/>
          <p:nvPr/>
        </p:nvSpPr>
        <p:spPr>
          <a:xfrm>
            <a:off x="457200" y="4069080"/>
            <a:ext cx="8229600" cy="530352"/>
          </a:xfrm>
          <a:prstGeom prst="rect">
            <a:avLst/>
          </a:prstGeom>
          <a:solidFill>
            <a:srgbClr val="F8F7F4"/>
          </a:solidFill>
          <a:ln/>
        </p:spPr>
      </p:sp>
      <p:sp>
        <p:nvSpPr>
          <p:cNvPr id="40" name="Shape 38"/>
          <p:cNvSpPr/>
          <p:nvPr/>
        </p:nvSpPr>
        <p:spPr>
          <a:xfrm>
            <a:off x="457200" y="4069080"/>
            <a:ext cx="822960" cy="530352"/>
          </a:xfrm>
          <a:prstGeom prst="rect">
            <a:avLst/>
          </a:prstGeom>
          <a:solidFill>
            <a:srgbClr val="1B365D"/>
          </a:solidFill>
          <a:ln/>
        </p:spPr>
      </p:sp>
      <p:sp>
        <p:nvSpPr>
          <p:cNvPr id="41" name="Text 39"/>
          <p:cNvSpPr/>
          <p:nvPr/>
        </p:nvSpPr>
        <p:spPr>
          <a:xfrm>
            <a:off x="457200" y="4069080"/>
            <a:ext cx="822960" cy="274320"/>
          </a:xfrm>
          <a:prstGeom prst="rect">
            <a:avLst/>
          </a:prstGeom>
          <a:noFill/>
          <a:ln/>
        </p:spPr>
        <p:txBody>
          <a:bodyPr wrap="square" lIns="0" tIns="0" rIns="0" bIns="0" rtlCol="0" anchor="b"/>
          <a:lstStyle/>
          <a:p>
            <a:pPr algn="ctr" indent="0" marL="0">
              <a:buNone/>
            </a:pPr>
            <a:r>
              <a:rPr lang="en-US" sz="1000" b="1" dirty="0">
                <a:solidFill>
                  <a:srgbClr val="FFFFFF"/>
                </a:solidFill>
                <a:latin typeface="Georgia" pitchFamily="34" charset="0"/>
                <a:ea typeface="Georgia" pitchFamily="34" charset="-122"/>
                <a:cs typeface="Georgia" pitchFamily="34" charset="-120"/>
              </a:rPr>
              <a:t>Day 6</a:t>
            </a:r>
            <a:endParaRPr lang="en-US" sz="1000" dirty="0"/>
          </a:p>
        </p:txBody>
      </p:sp>
      <p:sp>
        <p:nvSpPr>
          <p:cNvPr id="42" name="Text 40"/>
          <p:cNvSpPr/>
          <p:nvPr/>
        </p:nvSpPr>
        <p:spPr>
          <a:xfrm>
            <a:off x="457200" y="4325112"/>
            <a:ext cx="822960" cy="228600"/>
          </a:xfrm>
          <a:prstGeom prst="rect">
            <a:avLst/>
          </a:prstGeom>
          <a:noFill/>
          <a:ln/>
        </p:spPr>
        <p:txBody>
          <a:bodyPr wrap="square" lIns="0" tIns="0" rIns="0" bIns="0" rtlCol="0" anchor="t"/>
          <a:lstStyle/>
          <a:p>
            <a:pPr algn="ctr" indent="0" marL="0">
              <a:buNone/>
            </a:pPr>
            <a:r>
              <a:rPr lang="en-US" sz="700" dirty="0">
                <a:solidFill>
                  <a:srgbClr val="C4A35A"/>
                </a:solidFill>
                <a:latin typeface="Arial" pitchFamily="34" charset="0"/>
                <a:ea typeface="Arial" pitchFamily="34" charset="-122"/>
                <a:cs typeface="Arial" pitchFamily="34" charset="-120"/>
              </a:rPr>
              <a:t>Mon Feb 10</a:t>
            </a:r>
            <a:endParaRPr lang="en-US" sz="700" dirty="0"/>
          </a:p>
        </p:txBody>
      </p:sp>
      <p:sp>
        <p:nvSpPr>
          <p:cNvPr id="43" name="Text 41"/>
          <p:cNvSpPr/>
          <p:nvPr/>
        </p:nvSpPr>
        <p:spPr>
          <a:xfrm>
            <a:off x="1417320" y="4069080"/>
            <a:ext cx="2103120" cy="530352"/>
          </a:xfrm>
          <a:prstGeom prst="rect">
            <a:avLst/>
          </a:prstGeom>
          <a:noFill/>
          <a:ln/>
        </p:spPr>
        <p:txBody>
          <a:bodyPr wrap="square" lIns="0" tIns="0" rIns="0" bIns="0" rtlCol="0" anchor="ctr"/>
          <a:lstStyle/>
          <a:p>
            <a:pPr indent="0" marL="0">
              <a:buNone/>
            </a:pPr>
            <a:r>
              <a:rPr lang="en-US" sz="1100" b="1" dirty="0">
                <a:solidFill>
                  <a:srgbClr val="1B365D"/>
                </a:solidFill>
                <a:latin typeface="Georgia" pitchFamily="34" charset="0"/>
                <a:ea typeface="Georgia" pitchFamily="34" charset="-122"/>
                <a:cs typeface="Georgia" pitchFamily="34" charset="-120"/>
              </a:rPr>
              <a:t>Phase 7 + Submit</a:t>
            </a:r>
            <a:endParaRPr lang="en-US" sz="1100" dirty="0"/>
          </a:p>
        </p:txBody>
      </p:sp>
      <p:sp>
        <p:nvSpPr>
          <p:cNvPr id="44" name="Text 42"/>
          <p:cNvSpPr/>
          <p:nvPr/>
        </p:nvSpPr>
        <p:spPr>
          <a:xfrm>
            <a:off x="3566160" y="4069080"/>
            <a:ext cx="3840480" cy="530352"/>
          </a:xfrm>
          <a:prstGeom prst="rect">
            <a:avLst/>
          </a:prstGeom>
          <a:noFill/>
          <a:ln/>
        </p:spPr>
        <p:txBody>
          <a:bodyPr wrap="square" rtlCol="0" anchor="ctr"/>
          <a:lstStyle/>
          <a:p>
            <a:pPr indent="0" marL="0">
              <a:buNone/>
            </a:pPr>
            <a:r>
              <a:rPr lang="en-US" sz="1000" dirty="0">
                <a:solidFill>
                  <a:srgbClr val="5A5A5A"/>
                </a:solidFill>
                <a:latin typeface="Arial" pitchFamily="34" charset="0"/>
                <a:ea typeface="Arial" pitchFamily="34" charset="-122"/>
                <a:cs typeface="Arial" pitchFamily="34" charset="-120"/>
              </a:rPr>
              <a:t>Generate PRD, review, format, submit final deliverable</a:t>
            </a:r>
            <a:endParaRPr lang="en-US" sz="1000" dirty="0"/>
          </a:p>
        </p:txBody>
      </p:sp>
      <p:sp>
        <p:nvSpPr>
          <p:cNvPr id="45" name="Text 43"/>
          <p:cNvSpPr/>
          <p:nvPr/>
        </p:nvSpPr>
        <p:spPr>
          <a:xfrm>
            <a:off x="7498080" y="4069080"/>
            <a:ext cx="1097280" cy="530352"/>
          </a:xfrm>
          <a:prstGeom prst="rect">
            <a:avLst/>
          </a:prstGeom>
          <a:noFill/>
          <a:ln/>
        </p:spPr>
        <p:txBody>
          <a:bodyPr wrap="square" lIns="0" tIns="0" rIns="0" bIns="0" rtlCol="0" anchor="ctr"/>
          <a:lstStyle/>
          <a:p>
            <a:pPr algn="ctr" indent="0" marL="0">
              <a:buNone/>
            </a:pPr>
            <a:r>
              <a:rPr lang="en-US" sz="1100" b="1" dirty="0">
                <a:solidFill>
                  <a:srgbClr val="C4A35A"/>
                </a:solidFill>
                <a:latin typeface="Georgia" pitchFamily="34" charset="0"/>
                <a:ea typeface="Georgia" pitchFamily="34" charset="-122"/>
                <a:cs typeface="Georgia" pitchFamily="34" charset="-120"/>
              </a:rPr>
              <a:t>3-4 hrs</a:t>
            </a:r>
            <a:endParaRPr lang="en-US" sz="1100" dirty="0"/>
          </a:p>
        </p:txBody>
      </p:sp>
      <p:sp>
        <p:nvSpPr>
          <p:cNvPr id="46" name="Shape 44"/>
          <p:cNvSpPr/>
          <p:nvPr/>
        </p:nvSpPr>
        <p:spPr>
          <a:xfrm>
            <a:off x="457200" y="4663440"/>
            <a:ext cx="8229600" cy="54864"/>
          </a:xfrm>
          <a:prstGeom prst="rect">
            <a:avLst/>
          </a:prstGeom>
          <a:solidFill>
            <a:srgbClr val="C4A35A"/>
          </a:solidFill>
          <a:ln/>
        </p:spPr>
      </p:sp>
      <p:sp>
        <p:nvSpPr>
          <p:cNvPr id="47" name="Text 45"/>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1B365D"/>
                </a:solidFill>
                <a:latin typeface="Georgia" pitchFamily="34" charset="0"/>
                <a:ea typeface="Georgia" pitchFamily="34" charset="-122"/>
                <a:cs typeface="Georgia" pitchFamily="34" charset="-120"/>
              </a:rPr>
              <a:t>Pro Tips for Success</a:t>
            </a:r>
            <a:endParaRPr lang="en-US" sz="2400" dirty="0"/>
          </a:p>
        </p:txBody>
      </p:sp>
      <p:sp>
        <p:nvSpPr>
          <p:cNvPr id="3" name="Shape 1"/>
          <p:cNvSpPr/>
          <p:nvPr/>
        </p:nvSpPr>
        <p:spPr>
          <a:xfrm>
            <a:off x="457200" y="914400"/>
            <a:ext cx="8229600" cy="8686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4" name="Shape 2"/>
          <p:cNvSpPr/>
          <p:nvPr/>
        </p:nvSpPr>
        <p:spPr>
          <a:xfrm>
            <a:off x="457200" y="914400"/>
            <a:ext cx="73152" cy="868680"/>
          </a:xfrm>
          <a:prstGeom prst="rect">
            <a:avLst/>
          </a:prstGeom>
          <a:solidFill>
            <a:srgbClr val="C4A35A"/>
          </a:solidFill>
          <a:ln/>
        </p:spPr>
      </p:sp>
      <p:sp>
        <p:nvSpPr>
          <p:cNvPr id="5" name="Shape 3"/>
          <p:cNvSpPr/>
          <p:nvPr/>
        </p:nvSpPr>
        <p:spPr>
          <a:xfrm>
            <a:off x="685800" y="1115568"/>
            <a:ext cx="457200" cy="457200"/>
          </a:xfrm>
          <a:prstGeom prst="ellipse">
            <a:avLst/>
          </a:prstGeom>
          <a:solidFill>
            <a:srgbClr val="C4A35A"/>
          </a:solidFill>
          <a:ln/>
        </p:spPr>
      </p:sp>
      <p:sp>
        <p:nvSpPr>
          <p:cNvPr id="6" name="Text 4"/>
          <p:cNvSpPr/>
          <p:nvPr/>
        </p:nvSpPr>
        <p:spPr>
          <a:xfrm>
            <a:off x="685800" y="1115568"/>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280160" y="914400"/>
            <a:ext cx="7132320" cy="36576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Save Every Artifact</a:t>
            </a:r>
            <a:endParaRPr lang="en-US" sz="1400" dirty="0"/>
          </a:p>
        </p:txBody>
      </p:sp>
      <p:sp>
        <p:nvSpPr>
          <p:cNvPr id="8" name="Text 6"/>
          <p:cNvSpPr/>
          <p:nvPr/>
        </p:nvSpPr>
        <p:spPr>
          <a:xfrm>
            <a:off x="1280160" y="1298448"/>
            <a:ext cx="713232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Each phase produces a markdown artifact. Copy and save these — later phases reference them. If you lose an artifact, you'll have to redo that phase.</a:t>
            </a:r>
            <a:endParaRPr lang="en-US" sz="1100" dirty="0"/>
          </a:p>
        </p:txBody>
      </p:sp>
      <p:sp>
        <p:nvSpPr>
          <p:cNvPr id="9" name="Shape 7"/>
          <p:cNvSpPr/>
          <p:nvPr/>
        </p:nvSpPr>
        <p:spPr>
          <a:xfrm>
            <a:off x="457200" y="1920240"/>
            <a:ext cx="8229600" cy="8686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0" name="Shape 8"/>
          <p:cNvSpPr/>
          <p:nvPr/>
        </p:nvSpPr>
        <p:spPr>
          <a:xfrm>
            <a:off x="457200" y="1920240"/>
            <a:ext cx="73152" cy="868680"/>
          </a:xfrm>
          <a:prstGeom prst="rect">
            <a:avLst/>
          </a:prstGeom>
          <a:solidFill>
            <a:srgbClr val="C4A35A"/>
          </a:solidFill>
          <a:ln/>
        </p:spPr>
      </p:sp>
      <p:sp>
        <p:nvSpPr>
          <p:cNvPr id="11" name="Shape 9"/>
          <p:cNvSpPr/>
          <p:nvPr/>
        </p:nvSpPr>
        <p:spPr>
          <a:xfrm>
            <a:off x="685800" y="2121408"/>
            <a:ext cx="457200" cy="457200"/>
          </a:xfrm>
          <a:prstGeom prst="ellipse">
            <a:avLst/>
          </a:prstGeom>
          <a:solidFill>
            <a:srgbClr val="C4A35A"/>
          </a:solidFill>
          <a:ln/>
        </p:spPr>
      </p:sp>
      <p:sp>
        <p:nvSpPr>
          <p:cNvPr id="12" name="Text 10"/>
          <p:cNvSpPr/>
          <p:nvPr/>
        </p:nvSpPr>
        <p:spPr>
          <a:xfrm>
            <a:off x="685800" y="2121408"/>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280160" y="1920240"/>
            <a:ext cx="7132320" cy="36576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New Chat Per Phase</a:t>
            </a:r>
            <a:endParaRPr lang="en-US" sz="1400" dirty="0"/>
          </a:p>
        </p:txBody>
      </p:sp>
      <p:sp>
        <p:nvSpPr>
          <p:cNvPr id="14" name="Text 12"/>
          <p:cNvSpPr/>
          <p:nvPr/>
        </p:nvSpPr>
        <p:spPr>
          <a:xfrm>
            <a:off x="1280160" y="2304288"/>
            <a:ext cx="713232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In Claude.ai Projects, start a NEW chat for each phase. This keeps context clean and prevents confusion. The Project Knowledge persists across all chats.</a:t>
            </a:r>
            <a:endParaRPr lang="en-US" sz="1100" dirty="0"/>
          </a:p>
        </p:txBody>
      </p:sp>
      <p:sp>
        <p:nvSpPr>
          <p:cNvPr id="15" name="Shape 13"/>
          <p:cNvSpPr/>
          <p:nvPr/>
        </p:nvSpPr>
        <p:spPr>
          <a:xfrm>
            <a:off x="457200" y="2926080"/>
            <a:ext cx="8229600" cy="8686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457200" y="2926080"/>
            <a:ext cx="73152" cy="868680"/>
          </a:xfrm>
          <a:prstGeom prst="rect">
            <a:avLst/>
          </a:prstGeom>
          <a:solidFill>
            <a:srgbClr val="C4A35A"/>
          </a:solidFill>
          <a:ln/>
        </p:spPr>
      </p:sp>
      <p:sp>
        <p:nvSpPr>
          <p:cNvPr id="17" name="Shape 15"/>
          <p:cNvSpPr/>
          <p:nvPr/>
        </p:nvSpPr>
        <p:spPr>
          <a:xfrm>
            <a:off x="685800" y="3127248"/>
            <a:ext cx="457200" cy="457200"/>
          </a:xfrm>
          <a:prstGeom prst="ellipse">
            <a:avLst/>
          </a:prstGeom>
          <a:solidFill>
            <a:srgbClr val="C4A35A"/>
          </a:solidFill>
          <a:ln/>
        </p:spPr>
      </p:sp>
      <p:sp>
        <p:nvSpPr>
          <p:cNvPr id="18" name="Text 16"/>
          <p:cNvSpPr/>
          <p:nvPr/>
        </p:nvSpPr>
        <p:spPr>
          <a:xfrm>
            <a:off x="685800" y="3127248"/>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3</a:t>
            </a:r>
            <a:endParaRPr lang="en-US" sz="1600" dirty="0"/>
          </a:p>
        </p:txBody>
      </p:sp>
      <p:sp>
        <p:nvSpPr>
          <p:cNvPr id="19" name="Text 17"/>
          <p:cNvSpPr/>
          <p:nvPr/>
        </p:nvSpPr>
        <p:spPr>
          <a:xfrm>
            <a:off x="1280160" y="2926080"/>
            <a:ext cx="7132320" cy="36576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Don't Skip the Research</a:t>
            </a:r>
            <a:endParaRPr lang="en-US" sz="1400" dirty="0"/>
          </a:p>
        </p:txBody>
      </p:sp>
      <p:sp>
        <p:nvSpPr>
          <p:cNvPr id="20" name="Text 18"/>
          <p:cNvSpPr/>
          <p:nvPr/>
        </p:nvSpPr>
        <p:spPr>
          <a:xfrm>
            <a:off x="1280160" y="3310128"/>
            <a:ext cx="713232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Phase 4 is tempting to rush, but it's the foundation. Follow every NotebookLM follow-up question. The more research you do, the stronger your evaluation and PRD.</a:t>
            </a:r>
            <a:endParaRPr lang="en-US" sz="1100" dirty="0"/>
          </a:p>
        </p:txBody>
      </p:sp>
      <p:sp>
        <p:nvSpPr>
          <p:cNvPr id="21" name="Shape 19"/>
          <p:cNvSpPr/>
          <p:nvPr/>
        </p:nvSpPr>
        <p:spPr>
          <a:xfrm>
            <a:off x="457200" y="3931920"/>
            <a:ext cx="8229600" cy="86868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22" name="Shape 20"/>
          <p:cNvSpPr/>
          <p:nvPr/>
        </p:nvSpPr>
        <p:spPr>
          <a:xfrm>
            <a:off x="457200" y="3931920"/>
            <a:ext cx="73152" cy="868680"/>
          </a:xfrm>
          <a:prstGeom prst="rect">
            <a:avLst/>
          </a:prstGeom>
          <a:solidFill>
            <a:srgbClr val="C4A35A"/>
          </a:solidFill>
          <a:ln/>
        </p:spPr>
      </p:sp>
      <p:sp>
        <p:nvSpPr>
          <p:cNvPr id="23" name="Shape 21"/>
          <p:cNvSpPr/>
          <p:nvPr/>
        </p:nvSpPr>
        <p:spPr>
          <a:xfrm>
            <a:off x="685800" y="4133088"/>
            <a:ext cx="457200" cy="457200"/>
          </a:xfrm>
          <a:prstGeom prst="ellipse">
            <a:avLst/>
          </a:prstGeom>
          <a:solidFill>
            <a:srgbClr val="C4A35A"/>
          </a:solidFill>
          <a:ln/>
        </p:spPr>
      </p:sp>
      <p:sp>
        <p:nvSpPr>
          <p:cNvPr id="24" name="Text 22"/>
          <p:cNvSpPr/>
          <p:nvPr/>
        </p:nvSpPr>
        <p:spPr>
          <a:xfrm>
            <a:off x="685800" y="4133088"/>
            <a:ext cx="457200" cy="457200"/>
          </a:xfrm>
          <a:prstGeom prst="rect">
            <a:avLst/>
          </a:prstGeom>
          <a:noFill/>
          <a:ln/>
        </p:spPr>
        <p:txBody>
          <a:bodyPr wrap="square" lIns="0" tIns="0" rIns="0" bIns="0" rtlCol="0" anchor="ctr"/>
          <a:lstStyle/>
          <a:p>
            <a:pPr algn="ctr" indent="0" marL="0">
              <a:buNone/>
            </a:pPr>
            <a:r>
              <a:rPr lang="en-US" sz="1600" b="1" dirty="0">
                <a:solidFill>
                  <a:srgbClr val="1B365D"/>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1280160" y="3931920"/>
            <a:ext cx="7132320" cy="365760"/>
          </a:xfrm>
          <a:prstGeom prst="rect">
            <a:avLst/>
          </a:prstGeom>
          <a:noFill/>
          <a:ln/>
        </p:spPr>
        <p:txBody>
          <a:bodyPr wrap="square" lIns="0" tIns="0" rIns="0" bIns="0" rtlCol="0" anchor="b"/>
          <a:lstStyle/>
          <a:p>
            <a:pPr indent="0" marL="0">
              <a:buNone/>
            </a:pPr>
            <a:r>
              <a:rPr lang="en-US" sz="1400" b="1" dirty="0">
                <a:solidFill>
                  <a:srgbClr val="1B365D"/>
                </a:solidFill>
                <a:latin typeface="Georgia" pitchFamily="34" charset="0"/>
                <a:ea typeface="Georgia" pitchFamily="34" charset="-122"/>
                <a:cs typeface="Georgia" pitchFamily="34" charset="-120"/>
              </a:rPr>
              <a:t>Trust the Decision Gates</a:t>
            </a:r>
            <a:endParaRPr lang="en-US" sz="1400" dirty="0"/>
          </a:p>
        </p:txBody>
      </p:sp>
      <p:sp>
        <p:nvSpPr>
          <p:cNvPr id="26" name="Text 24"/>
          <p:cNvSpPr/>
          <p:nvPr/>
        </p:nvSpPr>
        <p:spPr>
          <a:xfrm>
            <a:off x="1280160" y="4315968"/>
            <a:ext cx="7132320" cy="411480"/>
          </a:xfrm>
          <a:prstGeom prst="rect">
            <a:avLst/>
          </a:prstGeom>
          <a:noFill/>
          <a:ln/>
        </p:spPr>
        <p:txBody>
          <a:bodyPr wrap="square" rtlCol="0" anchor="t"/>
          <a:lstStyle/>
          <a:p>
            <a:pPr indent="0" marL="0">
              <a:lnSpc>
                <a:spcPct val="120000"/>
              </a:lnSpc>
              <a:buNone/>
            </a:pPr>
            <a:r>
              <a:rPr lang="en-US" sz="1100" dirty="0">
                <a:solidFill>
                  <a:srgbClr val="5A5A5A"/>
                </a:solidFill>
                <a:latin typeface="Arial" pitchFamily="34" charset="0"/>
                <a:ea typeface="Arial" pitchFamily="34" charset="-122"/>
                <a:cs typeface="Arial" pitchFamily="34" charset="-120"/>
              </a:rPr>
              <a:t>If a concept scores below 90%, let it die. Don't try to save a weak concept. The pipeline is designed to surface the best opportunity, not confirm your favorite idea.</a:t>
            </a:r>
            <a:endParaRPr lang="en-US" sz="1100" dirty="0"/>
          </a:p>
        </p:txBody>
      </p:sp>
      <p:sp>
        <p:nvSpPr>
          <p:cNvPr id="27" name="Text 25"/>
          <p:cNvSpPr/>
          <p:nvPr/>
        </p:nvSpPr>
        <p:spPr>
          <a:xfrm>
            <a:off x="457200" y="4754880"/>
            <a:ext cx="8229600" cy="274320"/>
          </a:xfrm>
          <a:prstGeom prst="rect">
            <a:avLst/>
          </a:prstGeom>
          <a:noFill/>
          <a:ln/>
        </p:spPr>
        <p:txBody>
          <a:bodyPr wrap="square" rtlCol="0" anchor="ctr"/>
          <a:lstStyle/>
          <a:p>
            <a:pPr algn="ctr" indent="0" marL="0">
              <a:buNone/>
            </a:pPr>
            <a:r>
              <a:rPr lang="en-US" sz="800" dirty="0">
                <a:solidFill>
                  <a:srgbClr val="5A5A5A"/>
                </a:solidFill>
                <a:latin typeface="Arial" pitchFamily="34" charset="0"/>
                <a:ea typeface="Arial" pitchFamily="34" charset="-122"/>
                <a:cs typeface="Arial" pitchFamily="34" charset="-120"/>
              </a:rPr>
              <a:t>MKT2700 Product Design &amp; Development  •  Northeastern University  •  Spring 2026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38"/>
        </a:solidFill>
      </p:bgPr>
    </p:bg>
    <p:spTree>
      <p:nvGrpSpPr>
        <p:cNvPr id="1" name=""/>
        <p:cNvGrpSpPr/>
        <p:nvPr/>
      </p:nvGrpSpPr>
      <p:grpSpPr>
        <a:xfrm>
          <a:off x="0" y="0"/>
          <a:ext cx="0" cy="0"/>
          <a:chOff x="0" y="0"/>
          <a:chExt cx="0" cy="0"/>
        </a:xfrm>
      </p:grpSpPr>
      <p:sp>
        <p:nvSpPr>
          <p:cNvPr id="2" name="Shape 0"/>
          <p:cNvSpPr/>
          <p:nvPr/>
        </p:nvSpPr>
        <p:spPr>
          <a:xfrm>
            <a:off x="3200400" y="1188720"/>
            <a:ext cx="2743200" cy="54864"/>
          </a:xfrm>
          <a:prstGeom prst="rect">
            <a:avLst/>
          </a:prstGeom>
          <a:solidFill>
            <a:srgbClr val="C4A35A"/>
          </a:solidFill>
          <a:ln/>
        </p:spPr>
      </p:sp>
      <p:sp>
        <p:nvSpPr>
          <p:cNvPr id="3" name="Text 1"/>
          <p:cNvSpPr/>
          <p:nvPr/>
        </p:nvSpPr>
        <p:spPr>
          <a:xfrm>
            <a:off x="457200" y="146304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You're Ready to Build</a:t>
            </a:r>
            <a:endParaRPr lang="en-US" sz="3600" dirty="0"/>
          </a:p>
        </p:txBody>
      </p:sp>
      <p:sp>
        <p:nvSpPr>
          <p:cNvPr id="4" name="Shape 2"/>
          <p:cNvSpPr/>
          <p:nvPr/>
        </p:nvSpPr>
        <p:spPr>
          <a:xfrm>
            <a:off x="3200400" y="2286000"/>
            <a:ext cx="2743200" cy="54864"/>
          </a:xfrm>
          <a:prstGeom prst="rect">
            <a:avLst/>
          </a:prstGeom>
          <a:solidFill>
            <a:srgbClr val="C4A35A"/>
          </a:solidFill>
          <a:ln/>
        </p:spPr>
      </p:sp>
      <p:sp>
        <p:nvSpPr>
          <p:cNvPr id="5" name="Text 3"/>
          <p:cNvSpPr/>
          <p:nvPr/>
        </p:nvSpPr>
        <p:spPr>
          <a:xfrm>
            <a:off x="1371600" y="2651760"/>
            <a:ext cx="6400800" cy="1371600"/>
          </a:xfrm>
          <a:prstGeom prst="rect">
            <a:avLst/>
          </a:prstGeom>
          <a:noFill/>
          <a:ln/>
        </p:spPr>
        <p:txBody>
          <a:bodyPr wrap="square" rtlCol="0" anchor="ctr"/>
          <a:lstStyle/>
          <a:p>
            <a:pPr algn="ctr" indent="0" marL="0">
              <a:lnSpc>
                <a:spcPct val="180000"/>
              </a:lnSpc>
              <a:buNone/>
            </a:pPr>
            <a:r>
              <a:rPr lang="en-US" sz="1600" dirty="0">
                <a:solidFill>
                  <a:srgbClr val="E8E8E8"/>
                </a:solidFill>
                <a:latin typeface="Arial" pitchFamily="34" charset="0"/>
                <a:ea typeface="Arial" pitchFamily="34" charset="-122"/>
                <a:cs typeface="Arial" pitchFamily="34" charset="-120"/>
              </a:rPr>
              <a:t>1. Set up your 4 tool accounts</a:t>
            </a:r>
            <a:endParaRPr lang="en-US" sz="1600" dirty="0"/>
          </a:p>
          <a:p>
            <a:pPr algn="ctr" indent="0" marL="0">
              <a:lnSpc>
                <a:spcPct val="180000"/>
              </a:lnSpc>
              <a:buNone/>
            </a:pPr>
            <a:r>
              <a:rPr lang="en-US" sz="1600" dirty="0">
                <a:solidFill>
                  <a:srgbClr val="E8E8E8"/>
                </a:solidFill>
                <a:latin typeface="Arial" pitchFamily="34" charset="0"/>
                <a:ea typeface="Arial" pitchFamily="34" charset="-122"/>
                <a:cs typeface="Arial" pitchFamily="34" charset="-120"/>
              </a:rPr>
              <a:t>2. Download and run the setup script</a:t>
            </a:r>
            <a:endParaRPr lang="en-US" sz="1600" dirty="0"/>
          </a:p>
          <a:p>
            <a:pPr algn="ctr" indent="0" marL="0">
              <a:lnSpc>
                <a:spcPct val="180000"/>
              </a:lnSpc>
              <a:buNone/>
            </a:pPr>
            <a:r>
              <a:rPr lang="en-US" sz="1600" b="1" dirty="0">
                <a:solidFill>
                  <a:srgbClr val="FFFFFF"/>
                </a:solidFill>
                <a:latin typeface="Arial" pitchFamily="34" charset="0"/>
                <a:ea typeface="Arial" pitchFamily="34" charset="-122"/>
                <a:cs typeface="Arial" pitchFamily="34" charset="-120"/>
              </a:rPr>
              <a:t>3. Open Claude and say 'Start project'</a:t>
            </a:r>
            <a:endParaRPr lang="en-US" sz="1600" dirty="0"/>
          </a:p>
        </p:txBody>
      </p:sp>
      <p:sp>
        <p:nvSpPr>
          <p:cNvPr id="6" name="Text 4"/>
          <p:cNvSpPr/>
          <p:nvPr/>
        </p:nvSpPr>
        <p:spPr>
          <a:xfrm>
            <a:off x="914400" y="4114800"/>
            <a:ext cx="7315200" cy="365760"/>
          </a:xfrm>
          <a:prstGeom prst="rect">
            <a:avLst/>
          </a:prstGeom>
          <a:noFill/>
          <a:ln/>
        </p:spPr>
        <p:txBody>
          <a:bodyPr wrap="square" rtlCol="0" anchor="ctr"/>
          <a:lstStyle/>
          <a:p>
            <a:pPr algn="ctr" indent="0" marL="0">
              <a:buNone/>
            </a:pPr>
            <a:r>
              <a:rPr lang="en-US" sz="1200" dirty="0">
                <a:solidFill>
                  <a:srgbClr val="C4A35A"/>
                </a:solidFill>
                <a:latin typeface="Arial" pitchFamily="34" charset="0"/>
                <a:ea typeface="Arial" pitchFamily="34" charset="-122"/>
                <a:cs typeface="Arial" pitchFamily="34" charset="-120"/>
              </a:rPr>
              <a:t>Questions? Post in the #mkt2700 Slack channel or come to office hours.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MKT2700 AI Pipeline Setup Guide</dc:title>
  <dc:subject>PptxGenJS Presentation</dc:subject>
  <dc:creator>Brad Scheller</dc:creator>
  <cp:lastModifiedBy>Brad Scheller</cp:lastModifiedBy>
  <cp:revision>1</cp:revision>
  <dcterms:created xsi:type="dcterms:W3CDTF">2026-02-05T02:40:18Z</dcterms:created>
  <dcterms:modified xsi:type="dcterms:W3CDTF">2026-02-05T02:40:18Z</dcterms:modified>
</cp:coreProperties>
</file>