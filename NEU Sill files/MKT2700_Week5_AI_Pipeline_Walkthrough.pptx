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Welcome to Week 5 of MKT 2700. This week we're going to walk through the complete AI-augmented product development pipeline that your team will use from now through the end of the semester.
What we're building here is not just a process — it's a system. An AI-powered system that will help you discover opportunities, evaluate them rigorously, refine the best ones, and produce a professional Product Requirements Document — all due by February 10th.
I know that sounds like a lot, and it is. But the tools we're going to use will let you operate at a level that would have taken a product team weeks to accomplish just a few years ago. Let me show you how it all fits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the big picture of what your team will produce. By February 10th, you need to deliver three things.
First, you'll have evaluated at least 20 product concepts. These aren't random ideas from a brainstorm — they're systematically discovered through AI-powered research across YouTube, Reddit, X, Skool communities, and industry sources. Each one scored against a custom rubric tailored to YOUR company's specific strategy.
Second, you'll narrow down to one winning concept — refined through the SCAMPER method and morphological analysis, with every component examined for how similar challenges have been solved before.
Third, you'll produce a detailed Product Requirements Document — a PRD that breaks down every feature using the Kano model: what's a must-have, what drives satisfaction, and what will delight users.
This is real product development work, accelerated by AI. Let me show you the seven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your roadmap. Seven phases, each one feeding into the next.
Phase 1 — Strategic Analysis. You define your company, assess your capabilities, analyze the competitive environment. This is where you figure out WHO you are and WHERE you're playing.
Phase 2 — Rubric Creation. Based on your strategy, you build a custom scoring rubric. Not a generic checklist — a rubric tailored to YOUR company's situation, with weighted criteria and clear scoring definitions.
Phase 3 — Concept Discovery. This is where AI does the heavy lifting. We use web search, Gemini Deep Research, and Perplexity Pro to scan YouTube, Reddit, X, and Skool communities for underserved pain points. You'll identify up to 40 concepts.
Phase 4 — Deep Research. For your top concepts, you create NotebookLM notebooks with deep research on each one. Every follow-up question gets answered. Every source gets saved.
Phase 5 — Concept Evaluation. You use Claude and Gemini to score each concept against your rubric. The LLM Council compares results. Below 90% — kill it. Between 90 and 95 — revise it. Above 95 — that's your winner.
Phase 6 — SCAMPER and Kano. You refine the winning concept using SCAMPER and morphological analysis, then interview your team using the Kano model to classify every feature.
Phase 7 — you produce the PRD and the final presentation.
Notice the decision gates at the bottom. This process is designed to be ruthless. You start with 40 concepts and you kill most of them. That's how real product development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Before we dive into each phase, let me explain WHY we're doing this with AI.
On the left is how product teams have traditionally worked. You get your team in a room, brainstorm maybe 5 to 10 ideas, spend weeks researching them manually, use some generic criteria to evaluate them, and often make decisions based on who argues loudest. Your competitive intelligence is limited to what you can Google in an afternoon.
On the right is what you'll be doing. AI lets you cast a much wider net — scanning conversations across YouTube, Reddit, X, and Skool to find pain points you'd never discover in a brainstorm. You'll evaluate 40 or more concepts against a rubric that's specifically designed for YOUR company's strategy. And instead of relying on one person's judgment, you'll use multiple AI models — Claude and Gemini — in what we call an LLM Council to validate findings.
The goal isn't to replace your judgment. The goal is to give you better information so your judgment is actually informed. Let's talk about the tools that make this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 are the tools you'll need. I've posted a separate setup video on Canvas that walks you through installing everything — watch that first if you haven't already.
Your primary AI is Claude Opus 4.5. This is what runs the skills I've built for each phase. It conducts interviews, creates rubrics, evaluates concepts, and generates your PRD. You all have access through your Claude accounts.
Claude Code is the terminal-based version. If you're comfortable with the command line, this is the power-user path — it can run sub-agents, connect to MCP servers, and automate workflows. If you're not comfortable with terminals, that's fine — everything works through Claude.ai too, just with manual handoffs between phases.
NotebookLM is your research repository. Its Deep Research feature will dig into topics and save sources. You'll create a notebook for each concept.
Perplexity Pro gives you real-time research with citations. Great for current market data and follow-up chains.
Gemini 2.5 Pro through AI Studio serves as your second opinion. When Claude evaluates a concept, Gemini evaluates it independently. Then you compare — that's the LLM Council approach.
And the NotebookLM MCP Server is the bridge that lets Claude automatically create notebooks and run research. Setup instructions are in the companion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how the system is architected. At the top you have an Orchestrator Skill. Think of it as your project manager. It knows what phase you're in, what's been completed, and what comes next.
Below it are seven phase-specific skills — one for each phase. Each skill is an expert at its particular job. The Strategy skill knows how to run PESTEL, VRIO, and SWOT analyses. The Rubric skill knows how to build weighted scoring criteria. The PRD skill knows how to structure a professional requirements document.
Now, there are two paths for running this.
The Claude.ai path — this is what most of you will use. You set up a Claude Project, load the skills into Project Knowledge, and then open a new chat within that Project for each phase. You'll carry a tracker artifact between chats so the orchestrator knows where you left off.
The Claude Code path — this is for those of you comfortable with the terminal. The orchestrator can spawn sub-agents automatically, track progress in a plan.md file, and connect to MCP servers directly. It's faster but requires more technical setup.
Both paths produce the same output. Pick the one that matches your team's comfort level. The setup video covers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Let's dive into Phase 1. This is the foundation of everything else. Before you can discover opportunities or build rubrics, you need to know who your company is, what it's capable of, and where the competitive landscape offers openings.
This phase is about rigorous self-assessment. Not wishful thinking — honest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Phase 1 starts with the skill interviewing your team. It's going to ask you two categories of questions.
First — company definition. What industry are you in? Is this an existing company or a startup? What's your strategic intent — are you trying to disrupt an incumbent, build a platform, create something licensable, or build a product you'll take to market yourself? And is it digital or physical? These decisions shape everything downstream.
Second — self-assessment. And I want you to be brutally honest here. Does your company's culture actually support innovation? What resources do you realistically have? What are your technical limitations? What's your timeline?
Once the interview is complete, the skill walks you through six strategic frameworks. PESTEL for the macro environment. SWOT to synthesize strengths, weaknesses, opportunities, and threats. VRIO to identify which of your resources actually provide competitive advantage. Porter's Five Forces for industry structure.
But here's what makes this special — the last two. Market Positioning maps HOW companies currently compete in your space — what dimensions matter. And then Positioning Disruption analysis asks: can you SHIFT those dimensions? Can you change the basis of competition? That's where Blue Ocean thinking comes in. That's where breakthrough products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Phase 2 — Rubric Creation. And I want to emphasize something important here. You build the rubric BEFORE you have concepts. Not after. This prevents you from gaming the system to favor a concept you already like.
Your rubric is not generic. It's built specifically from your Phase 1 strategic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Each criterion is scored 0 to 4. Zero means no evidence of meeting the criterion. Four means full alignment with compelling evidence. Each level has a clear definition so scoring is consistent across your team.
The formula is important — and it's different from a standard Pugh Matrix. Your final score is the sum of weighted scores divided by the maximum possible weighted score, times 100%. This gives you a true percentage of strategic potential captured.
The decision thresholds are demanding by design. Below 90% — kill it. Between 90 and 95% — revise it. The system generates improvement suggestions ranked by how much each one would boost your score. So if fixing distribution strategy moves you from 92 to 96%, that's your priority. Above 95% — continue to Phase 6.
The output per concept includes the final percentage, a criterion-by-criterion breakdown, and prioritized improvement suggestions. This isn't a black box — you can see exactly why a concept scored the way it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Phase 3 — Concept Discovery. This is where AI really earns its keep. Instead of brainstorming in a conference room, you're going to scan actual conversations happening across the internet to find underserved pain points and unmet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skill searches across four platforms — YouTube, Reddit, X, and Skool communities. Each reveals different signals. YouTube comments show pain points. Reddit threads reveal unmet needs. X captures real-time frustrations. Skool communities surface professional problems.
The process: First, the skill generates search queries from your Strategic Brief — targeted, not random. Second, Claude's web search runs those queries. Third, you expand with Gemini Deep Research and Perplexity Pro for broader coverage. Fourth, the AI synthesizes everything and ranks up to 40 concepts by relevance to your strategic position.
Your job is to review, eliminate non-starters, and select top candidates for deep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Phase 4 is where you build the evidence base for serious evaluation. You've been casting a wide net. Now you go deep on the most promising concepts. This is where NotebookLM and Perplexity Pro become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Phase 4 runs two parallel tracks. NotebookLM Deep Research on the left, Perplexity Pro on the right.
For NotebookLM, create a notebook per concept. The skill generates questions based on your rubric criteria — you're researching how well each concept meets each criterion. The critical part: follow EVERY suggested follow-up question. They drill deeper into specifics. Every reply becomes a source.
Same with Perplexity. Run the prompts, follow all follow-ups, export to NotebookLM.
If you set up the MCP Server, Claude automates most of this. Strongly encouraged.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Phase 5 — Concept Evaluation. Your rubric meets your research. You've built a rigorous scoring system and a comprehensive evidence base. Now you put them together — using two AI models,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LLM Council works in three steps. Claude evaluates each concept against your rubric with evidence citations. Gemini does the same independently. Then you compare — where they agree, you have high confidence. Where they disagree, investigate why. The Council produces consensus scores and kill/revise/continue recommendations.
Concepts above 95% advance to Phase 6. Concepts between 90 and 95 get improvement guidance. Below 90, they're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Phase 6. You have your winning concept. Now refine it and break it down into specifications. Three parts: SCAMPER for creative refinement, morphological chart for component analysis, and Kano model for feature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Phase 6 has three tools working together.
SCAMPER — the skill systematically applies each lens to your concept. Can you substitute, combine, adapt, modify, repurpose, eliminate, or reverse aspects? This often reveals improvements you'd miss through linear thinking.
The Morphological Chart breaks your concept into components, researches how similar problems were solved elsewhere, and helps you select the best combination. This produces the architecture.
The Kano Model interview is discovery-oriented. The skill interviews your team about user needs, then PROPOSES how to classify each feature across all five Kano categories — Must-Be, Performance, Excitement, Indifferent, and Reverse. Identifying Indifferent features is just as valuable as identifying must-haves — it tells you where NOT to spend resources. Identifying Reverse features tells you what to avoid.
Your team confirms or adjusts the classifications. This feeds directly into the PRD.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Phase 7 — the finish line. Everything converges into two deliverables: a professional Product Requirements Document and a presentation telling the story of how you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PRD has ten sections, each connecting back to a specific phase. Executive Summary, Problem Statement backed by research evidence, Strategic Context from Phase 1, Target Users from your research personas, Product Vision, Kano-classified Feature Specifications, Architecture from morphological analysis, Success Metrics tied to rubric criteria, Risks drawn from low-scoring areas, and an Implementation Roadmap.
The skill produces Word and PDF for submission, plus markdown for the build phase. Due February 10th.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your timeline. Five days, seven phases. Start Phase 1 TODAY.
Today and tomorrow — Strategic Analysis. Tomorrow — Rubric Creation. February 6th and 7th — Concept Discovery and Deep Research, the bulk of the work. February 8th and 9th — Evaluation and refinement. February 9th and 10th — PRD generation.
The key is starting NOW. The teams that wait until the weekend will not produce quality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what I need you to do TODAY. Not tomorrow. Not this weekend. Today.
Step one — watch the setup video on Canvas. Step two — create a Claude Project and load the Orchestrator Skill. Step three — load the Phase Skills into Project Knowledge. Step four — start Phase 1. Step five — be honest in the interview. Step six — save your Strategic Brief.
Start now. You have five days and seven phases. The AI does the heavy lifting, but you have to drive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few pro tips that will make the difference.
Divide and conquer in Phase 3 — five team members, five platforms. Then regroup.
Follow every follow-up question. I cannot stress this enough. The initial research is surface-level. The follow-ups are where the real evidence lives.
Don't fall in love with your first idea. If it scores below 90%, kill it. I've seen teams every semester try to bend the rubric to save a favorite concept. Don't do it.
Save your artifacts. This is the connective tissue of the system.
Use the LLM Council honestly. Disagreement between models is a signal, not a problem.
And start today. Right now. Open Claude and begin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 are your resources. Everything is on Canvas under Week 5.
Setup video for tool installation. Skills files to download and load into your Claude Project. The NotebookLM MCP Server link. Office hours if you get stuck. And the Slack channel for peer support.
I'll be checking Slack regularly this week. If your team hits a wall, post there.
Remember — start Phase 1 today. Define your company, run the strategic analysis, produce your Strategic Brief. Everything else builds on that foundation.
Your PRD is due February 10th. Five days, seven phases, one winning concept. The AI is ready. Are you?
Good luck. I'll see you in office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A35A"/>
          </a:solidFill>
          <a:ln/>
        </p:spPr>
      </p:sp>
      <p:sp>
        <p:nvSpPr>
          <p:cNvPr id="3" name="Shape 1"/>
          <p:cNvSpPr/>
          <p:nvPr/>
        </p:nvSpPr>
        <p:spPr>
          <a:xfrm>
            <a:off x="6858000" y="-1371600"/>
            <a:ext cx="4572000" cy="4572000"/>
          </a:xfrm>
          <a:prstGeom prst="ellipse">
            <a:avLst/>
          </a:prstGeom>
          <a:solidFill>
            <a:srgbClr val="1B365D">
              <a:alpha val="0"/>
            </a:srgbClr>
          </a:solidFill>
          <a:ln w="12700">
            <a:solidFill>
              <a:srgbClr val="C4A35A"/>
            </a:solidFill>
            <a:prstDash val="solid"/>
          </a:ln>
        </p:spPr>
      </p:sp>
      <p:sp>
        <p:nvSpPr>
          <p:cNvPr id="4" name="Shape 2"/>
          <p:cNvSpPr/>
          <p:nvPr/>
        </p:nvSpPr>
        <p:spPr>
          <a:xfrm>
            <a:off x="7772400" y="-457200"/>
            <a:ext cx="2743200" cy="2743200"/>
          </a:xfrm>
          <a:prstGeom prst="ellipse">
            <a:avLst/>
          </a:prstGeom>
          <a:solidFill>
            <a:srgbClr val="1B365D">
              <a:alpha val="0"/>
            </a:srgbClr>
          </a:solidFill>
          <a:ln w="6350">
            <a:solidFill>
              <a:srgbClr val="C4A35A"/>
            </a:solidFill>
            <a:prstDash val="solid"/>
          </a:ln>
        </p:spPr>
      </p:sp>
      <p:sp>
        <p:nvSpPr>
          <p:cNvPr id="5" name="Shape 3"/>
          <p:cNvSpPr/>
          <p:nvPr/>
        </p:nvSpPr>
        <p:spPr>
          <a:xfrm>
            <a:off x="457200" y="731520"/>
            <a:ext cx="1280160" cy="457200"/>
          </a:xfrm>
          <a:prstGeom prst="rect">
            <a:avLst/>
          </a:prstGeom>
          <a:solidFill>
            <a:srgbClr val="C4A35A"/>
          </a:solidFill>
          <a:ln/>
        </p:spPr>
      </p:sp>
      <p:sp>
        <p:nvSpPr>
          <p:cNvPr id="6" name="Text 4"/>
          <p:cNvSpPr/>
          <p:nvPr/>
        </p:nvSpPr>
        <p:spPr>
          <a:xfrm>
            <a:off x="457200" y="731520"/>
            <a:ext cx="1280160" cy="457200"/>
          </a:xfrm>
          <a:prstGeom prst="rect">
            <a:avLst/>
          </a:prstGeom>
          <a:noFill/>
          <a:ln/>
        </p:spPr>
        <p:txBody>
          <a:bodyPr wrap="square" rtlCol="0" anchor="ctr"/>
          <a:lstStyle/>
          <a:p>
            <a:pPr algn="ctr" indent="0" marL="0">
              <a:buNone/>
            </a:pPr>
            <a:r>
              <a:rPr lang="en-US" sz="1400" b="1" dirty="0">
                <a:solidFill>
                  <a:srgbClr val="1B365D"/>
                </a:solidFill>
                <a:latin typeface="Arial" pitchFamily="34" charset="0"/>
                <a:ea typeface="Arial" pitchFamily="34" charset="-122"/>
                <a:cs typeface="Arial" pitchFamily="34" charset="-120"/>
              </a:rPr>
              <a:t>WEEK 5</a:t>
            </a:r>
            <a:endParaRPr lang="en-US" sz="1400" dirty="0"/>
          </a:p>
        </p:txBody>
      </p:sp>
      <p:sp>
        <p:nvSpPr>
          <p:cNvPr id="7" name="Text 5"/>
          <p:cNvSpPr/>
          <p:nvPr/>
        </p:nvSpPr>
        <p:spPr>
          <a:xfrm>
            <a:off x="457200" y="1371600"/>
            <a:ext cx="6400800" cy="1463040"/>
          </a:xfrm>
          <a:prstGeom prst="rect">
            <a:avLst/>
          </a:prstGeom>
          <a:noFill/>
          <a:ln/>
        </p:spPr>
        <p:txBody>
          <a:bodyPr wrap="square" rtlCol="0" anchor="ctr"/>
          <a:lstStyle/>
          <a:p>
            <a:pPr algn="l" indent="0" marL="0">
              <a:lnSpc>
                <a:spcPct val="110000"/>
              </a:lnSpc>
              <a:buNone/>
            </a:pPr>
            <a:r>
              <a:rPr lang="en-US" sz="3600" b="1" dirty="0">
                <a:solidFill>
                  <a:srgbClr val="FFFFFF"/>
                </a:solidFill>
                <a:latin typeface="Georgia" pitchFamily="34" charset="0"/>
                <a:ea typeface="Georgia" pitchFamily="34" charset="-122"/>
                <a:cs typeface="Georgia" pitchFamily="34" charset="-120"/>
              </a:rPr>
              <a:t>AI-Augmented Product</a:t>
            </a:r>
            <a:endParaRPr lang="en-US" sz="3600" dirty="0"/>
          </a:p>
          <a:p>
            <a:pPr algn="l" indent="0" marL="0">
              <a:lnSpc>
                <a:spcPct val="110000"/>
              </a:lnSpc>
              <a:buNone/>
            </a:pPr>
            <a:r>
              <a:rPr lang="en-US" sz="3600" b="1" dirty="0">
                <a:solidFill>
                  <a:srgbClr val="FFFFFF"/>
                </a:solidFill>
                <a:latin typeface="Georgia" pitchFamily="34" charset="0"/>
                <a:ea typeface="Georgia" pitchFamily="34" charset="-122"/>
                <a:cs typeface="Georgia" pitchFamily="34" charset="-120"/>
              </a:rPr>
              <a:t>Development Pipeline</a:t>
            </a:r>
            <a:endParaRPr lang="en-US" sz="3600" dirty="0"/>
          </a:p>
        </p:txBody>
      </p:sp>
      <p:sp>
        <p:nvSpPr>
          <p:cNvPr id="8" name="Text 6"/>
          <p:cNvSpPr/>
          <p:nvPr/>
        </p:nvSpPr>
        <p:spPr>
          <a:xfrm>
            <a:off x="457200" y="3017520"/>
            <a:ext cx="6400800" cy="457200"/>
          </a:xfrm>
          <a:prstGeom prst="rect">
            <a:avLst/>
          </a:prstGeom>
          <a:noFill/>
          <a:ln/>
        </p:spPr>
        <p:txBody>
          <a:bodyPr wrap="square" rtlCol="0" anchor="ctr"/>
          <a:lstStyle/>
          <a:p>
            <a:pPr indent="0" marL="0">
              <a:buNone/>
            </a:pPr>
            <a:r>
              <a:rPr lang="en-US" sz="1700" i="1" dirty="0">
                <a:solidFill>
                  <a:srgbClr val="C4A35A"/>
                </a:solidFill>
                <a:latin typeface="Georgia" pitchFamily="34" charset="0"/>
                <a:ea typeface="Georgia" pitchFamily="34" charset="-122"/>
                <a:cs typeface="Georgia" pitchFamily="34" charset="-120"/>
              </a:rPr>
              <a:t>From Opportunity Discovery to Product Requirements Document</a:t>
            </a:r>
            <a:endParaRPr lang="en-US" sz="1700" dirty="0"/>
          </a:p>
        </p:txBody>
      </p:sp>
      <p:sp>
        <p:nvSpPr>
          <p:cNvPr id="9" name="Shape 7"/>
          <p:cNvSpPr/>
          <p:nvPr/>
        </p:nvSpPr>
        <p:spPr>
          <a:xfrm>
            <a:off x="0" y="4389120"/>
            <a:ext cx="9144000" cy="54864"/>
          </a:xfrm>
          <a:prstGeom prst="rect">
            <a:avLst/>
          </a:prstGeom>
          <a:solidFill>
            <a:srgbClr val="C4A35A"/>
          </a:solidFill>
          <a:ln/>
        </p:spPr>
      </p:sp>
      <p:sp>
        <p:nvSpPr>
          <p:cNvPr id="10" name="Text 8"/>
          <p:cNvSpPr/>
          <p:nvPr/>
        </p:nvSpPr>
        <p:spPr>
          <a:xfrm>
            <a:off x="457200" y="4526280"/>
            <a:ext cx="8229600" cy="365760"/>
          </a:xfrm>
          <a:prstGeom prst="rect">
            <a:avLst/>
          </a:prstGeom>
          <a:noFill/>
          <a:ln/>
        </p:spPr>
        <p:txBody>
          <a:bodyPr wrap="square" rtlCol="0" anchor="ctr"/>
          <a:lstStyle/>
          <a:p>
            <a:pPr indent="0" marL="0">
              <a:buNone/>
            </a:pPr>
            <a:r>
              <a:rPr lang="en-US" sz="1200" dirty="0">
                <a:solidFill>
                  <a:srgbClr val="C4A35A"/>
                </a:solidFill>
                <a:latin typeface="Arial" pitchFamily="34" charset="0"/>
                <a:ea typeface="Arial" pitchFamily="34" charset="-122"/>
                <a:cs typeface="Arial" pitchFamily="34" charset="-120"/>
              </a:rPr>
              <a:t>MKT2700 Product Design &amp; Development  •  Brad Scheller  •  Spring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600" b="1" dirty="0">
                <a:solidFill>
                  <a:srgbClr val="1B365D"/>
                </a:solidFill>
                <a:latin typeface="Georgia" pitchFamily="34" charset="0"/>
                <a:ea typeface="Georgia" pitchFamily="34" charset="-122"/>
                <a:cs typeface="Georgia" pitchFamily="34" charset="-120"/>
              </a:rPr>
              <a:t>What We're Building</a:t>
            </a:r>
            <a:endParaRPr lang="en-US" sz="3600" dirty="0"/>
          </a:p>
        </p:txBody>
      </p:sp>
      <p:sp>
        <p:nvSpPr>
          <p:cNvPr id="3" name="Text 1"/>
          <p:cNvSpPr/>
          <p:nvPr/>
        </p:nvSpPr>
        <p:spPr>
          <a:xfrm>
            <a:off x="457200" y="868680"/>
            <a:ext cx="8229600" cy="365760"/>
          </a:xfrm>
          <a:prstGeom prst="rect">
            <a:avLst/>
          </a:prstGeom>
          <a:noFill/>
          <a:ln/>
        </p:spPr>
        <p:txBody>
          <a:bodyPr wrap="square" rtlCol="0" anchor="ctr"/>
          <a:lstStyle/>
          <a:p>
            <a:pPr indent="0" marL="0">
              <a:buNone/>
            </a:pPr>
            <a:r>
              <a:rPr lang="en-US" sz="1600" i="1" dirty="0">
                <a:solidFill>
                  <a:srgbClr val="5A5A5A"/>
                </a:solidFill>
                <a:latin typeface="Georgia" pitchFamily="34" charset="0"/>
                <a:ea typeface="Georgia" pitchFamily="34" charset="-122"/>
                <a:cs typeface="Georgia" pitchFamily="34" charset="-120"/>
              </a:rPr>
              <a:t>An end-to-end AI system for product concept development</a:t>
            </a:r>
            <a:endParaRPr lang="en-US" sz="1600" dirty="0"/>
          </a:p>
        </p:txBody>
      </p:sp>
      <p:sp>
        <p:nvSpPr>
          <p:cNvPr id="4" name="Shape 2"/>
          <p:cNvSpPr/>
          <p:nvPr/>
        </p:nvSpPr>
        <p:spPr>
          <a:xfrm>
            <a:off x="548640" y="1554480"/>
            <a:ext cx="2560320" cy="2926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554480"/>
            <a:ext cx="54864" cy="2926080"/>
          </a:xfrm>
          <a:prstGeom prst="rect">
            <a:avLst/>
          </a:prstGeom>
          <a:solidFill>
            <a:srgbClr val="C4A35A"/>
          </a:solidFill>
          <a:ln/>
        </p:spPr>
      </p:sp>
      <p:sp>
        <p:nvSpPr>
          <p:cNvPr id="6" name="Text 4"/>
          <p:cNvSpPr/>
          <p:nvPr/>
        </p:nvSpPr>
        <p:spPr>
          <a:xfrm>
            <a:off x="685800" y="1737360"/>
            <a:ext cx="2286000" cy="822960"/>
          </a:xfrm>
          <a:prstGeom prst="rect">
            <a:avLst/>
          </a:prstGeom>
          <a:noFill/>
          <a:ln/>
        </p:spPr>
        <p:txBody>
          <a:bodyPr wrap="square" rtlCol="0" anchor="ctr"/>
          <a:lstStyle/>
          <a:p>
            <a:pPr algn="ctr" indent="0" marL="0">
              <a:buNone/>
            </a:pPr>
            <a:r>
              <a:rPr lang="en-US" sz="4400" b="1" dirty="0">
                <a:solidFill>
                  <a:srgbClr val="C4A35A"/>
                </a:solidFill>
                <a:latin typeface="Georgia" pitchFamily="34" charset="0"/>
                <a:ea typeface="Georgia" pitchFamily="34" charset="-122"/>
                <a:cs typeface="Georgia" pitchFamily="34" charset="-120"/>
              </a:rPr>
              <a:t>20+</a:t>
            </a:r>
            <a:endParaRPr lang="en-US" sz="4400" dirty="0"/>
          </a:p>
        </p:txBody>
      </p:sp>
      <p:sp>
        <p:nvSpPr>
          <p:cNvPr id="7" name="Text 5"/>
          <p:cNvSpPr/>
          <p:nvPr/>
        </p:nvSpPr>
        <p:spPr>
          <a:xfrm>
            <a:off x="685800" y="2560320"/>
            <a:ext cx="2286000" cy="640080"/>
          </a:xfrm>
          <a:prstGeom prst="rect">
            <a:avLst/>
          </a:prstGeom>
          <a:noFill/>
          <a:ln/>
        </p:spPr>
        <p:txBody>
          <a:bodyPr wrap="square"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Concepts</a:t>
            </a:r>
            <a:endParaRPr lang="en-US" sz="1600" dirty="0"/>
          </a:p>
          <a:p>
            <a:pPr algn="ctr" indent="0" marL="0">
              <a:buNone/>
            </a:pPr>
            <a:r>
              <a:rPr lang="en-US" sz="1600" b="1" dirty="0">
                <a:solidFill>
                  <a:srgbClr val="1B365D"/>
                </a:solidFill>
                <a:latin typeface="Arial" pitchFamily="34" charset="0"/>
                <a:ea typeface="Arial" pitchFamily="34" charset="-122"/>
                <a:cs typeface="Arial" pitchFamily="34" charset="-120"/>
              </a:rPr>
              <a:t>Evaluated</a:t>
            </a:r>
            <a:endParaRPr lang="en-US" sz="1600" dirty="0"/>
          </a:p>
        </p:txBody>
      </p:sp>
      <p:sp>
        <p:nvSpPr>
          <p:cNvPr id="8" name="Shape 6"/>
          <p:cNvSpPr/>
          <p:nvPr/>
        </p:nvSpPr>
        <p:spPr>
          <a:xfrm>
            <a:off x="1097280" y="3200400"/>
            <a:ext cx="1463040" cy="18288"/>
          </a:xfrm>
          <a:prstGeom prst="rect">
            <a:avLst/>
          </a:prstGeom>
          <a:solidFill>
            <a:srgbClr val="C4A35A"/>
          </a:solidFill>
          <a:ln/>
        </p:spPr>
      </p:sp>
      <p:sp>
        <p:nvSpPr>
          <p:cNvPr id="9" name="Text 7"/>
          <p:cNvSpPr/>
          <p:nvPr/>
        </p:nvSpPr>
        <p:spPr>
          <a:xfrm>
            <a:off x="731520" y="3337560"/>
            <a:ext cx="2194560" cy="914400"/>
          </a:xfrm>
          <a:prstGeom prst="rect">
            <a:avLst/>
          </a:prstGeom>
          <a:noFill/>
          <a:ln/>
        </p:spPr>
        <p:txBody>
          <a:bodyPr wrap="square" rtlCol="0" anchor="t"/>
          <a:lstStyle/>
          <a:p>
            <a:pPr algn="ctr" indent="0" marL="0">
              <a:buNone/>
            </a:pPr>
            <a:r>
              <a:rPr lang="en-US" sz="1200" dirty="0">
                <a:solidFill>
                  <a:srgbClr val="5A5A5A"/>
                </a:solidFill>
                <a:latin typeface="Arial" pitchFamily="34" charset="0"/>
                <a:ea typeface="Arial" pitchFamily="34" charset="-122"/>
                <a:cs typeface="Arial" pitchFamily="34" charset="-120"/>
              </a:rPr>
              <a:t>Systematically discovered and scored against your custom rubric</a:t>
            </a:r>
            <a:endParaRPr lang="en-US" sz="1200" dirty="0"/>
          </a:p>
        </p:txBody>
      </p:sp>
      <p:sp>
        <p:nvSpPr>
          <p:cNvPr id="10" name="Shape 8"/>
          <p:cNvSpPr/>
          <p:nvPr/>
        </p:nvSpPr>
        <p:spPr>
          <a:xfrm>
            <a:off x="3383280" y="1554480"/>
            <a:ext cx="2560320" cy="2926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3383280" y="1554480"/>
            <a:ext cx="54864" cy="2926080"/>
          </a:xfrm>
          <a:prstGeom prst="rect">
            <a:avLst/>
          </a:prstGeom>
          <a:solidFill>
            <a:srgbClr val="C4A35A"/>
          </a:solidFill>
          <a:ln/>
        </p:spPr>
      </p:sp>
      <p:sp>
        <p:nvSpPr>
          <p:cNvPr id="12" name="Text 10"/>
          <p:cNvSpPr/>
          <p:nvPr/>
        </p:nvSpPr>
        <p:spPr>
          <a:xfrm>
            <a:off x="3520440" y="1737360"/>
            <a:ext cx="2286000" cy="822960"/>
          </a:xfrm>
          <a:prstGeom prst="rect">
            <a:avLst/>
          </a:prstGeom>
          <a:noFill/>
          <a:ln/>
        </p:spPr>
        <p:txBody>
          <a:bodyPr wrap="square" rtlCol="0" anchor="ctr"/>
          <a:lstStyle/>
          <a:p>
            <a:pPr algn="ctr" indent="0" marL="0">
              <a:buNone/>
            </a:pPr>
            <a:r>
              <a:rPr lang="en-US" sz="4400" b="1" dirty="0">
                <a:solidFill>
                  <a:srgbClr val="C4A35A"/>
                </a:solidFill>
                <a:latin typeface="Georgia" pitchFamily="34" charset="0"/>
                <a:ea typeface="Georgia" pitchFamily="34" charset="-122"/>
                <a:cs typeface="Georgia" pitchFamily="34" charset="-120"/>
              </a:rPr>
              <a:t>1</a:t>
            </a:r>
            <a:endParaRPr lang="en-US" sz="4400" dirty="0"/>
          </a:p>
        </p:txBody>
      </p:sp>
      <p:sp>
        <p:nvSpPr>
          <p:cNvPr id="13" name="Text 11"/>
          <p:cNvSpPr/>
          <p:nvPr/>
        </p:nvSpPr>
        <p:spPr>
          <a:xfrm>
            <a:off x="3520440" y="2560320"/>
            <a:ext cx="2286000" cy="640080"/>
          </a:xfrm>
          <a:prstGeom prst="rect">
            <a:avLst/>
          </a:prstGeom>
          <a:noFill/>
          <a:ln/>
        </p:spPr>
        <p:txBody>
          <a:bodyPr wrap="square"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Winning</a:t>
            </a:r>
            <a:endParaRPr lang="en-US" sz="1600" dirty="0"/>
          </a:p>
          <a:p>
            <a:pPr algn="ctr" indent="0" marL="0">
              <a:buNone/>
            </a:pPr>
            <a:r>
              <a:rPr lang="en-US" sz="1600" b="1" dirty="0">
                <a:solidFill>
                  <a:srgbClr val="1B365D"/>
                </a:solidFill>
                <a:latin typeface="Arial" pitchFamily="34" charset="0"/>
                <a:ea typeface="Arial" pitchFamily="34" charset="-122"/>
                <a:cs typeface="Arial" pitchFamily="34" charset="-120"/>
              </a:rPr>
              <a:t>Concept</a:t>
            </a:r>
            <a:endParaRPr lang="en-US" sz="1600" dirty="0"/>
          </a:p>
        </p:txBody>
      </p:sp>
      <p:sp>
        <p:nvSpPr>
          <p:cNvPr id="14" name="Shape 12"/>
          <p:cNvSpPr/>
          <p:nvPr/>
        </p:nvSpPr>
        <p:spPr>
          <a:xfrm>
            <a:off x="3931920" y="3200400"/>
            <a:ext cx="1463040" cy="18288"/>
          </a:xfrm>
          <a:prstGeom prst="rect">
            <a:avLst/>
          </a:prstGeom>
          <a:solidFill>
            <a:srgbClr val="C4A35A"/>
          </a:solidFill>
          <a:ln/>
        </p:spPr>
      </p:sp>
      <p:sp>
        <p:nvSpPr>
          <p:cNvPr id="15" name="Text 13"/>
          <p:cNvSpPr/>
          <p:nvPr/>
        </p:nvSpPr>
        <p:spPr>
          <a:xfrm>
            <a:off x="3566160" y="3337560"/>
            <a:ext cx="2194560" cy="914400"/>
          </a:xfrm>
          <a:prstGeom prst="rect">
            <a:avLst/>
          </a:prstGeom>
          <a:noFill/>
          <a:ln/>
        </p:spPr>
        <p:txBody>
          <a:bodyPr wrap="square" rtlCol="0" anchor="t"/>
          <a:lstStyle/>
          <a:p>
            <a:pPr algn="ctr" indent="0" marL="0">
              <a:buNone/>
            </a:pPr>
            <a:r>
              <a:rPr lang="en-US" sz="1200" dirty="0">
                <a:solidFill>
                  <a:srgbClr val="5A5A5A"/>
                </a:solidFill>
                <a:latin typeface="Arial" pitchFamily="34" charset="0"/>
                <a:ea typeface="Arial" pitchFamily="34" charset="-122"/>
                <a:cs typeface="Arial" pitchFamily="34" charset="-120"/>
              </a:rPr>
              <a:t>Refined through SCAMPER, morphological analysis, and Kano modeling</a:t>
            </a:r>
            <a:endParaRPr lang="en-US" sz="1200" dirty="0"/>
          </a:p>
        </p:txBody>
      </p:sp>
      <p:sp>
        <p:nvSpPr>
          <p:cNvPr id="16" name="Shape 14"/>
          <p:cNvSpPr/>
          <p:nvPr/>
        </p:nvSpPr>
        <p:spPr>
          <a:xfrm>
            <a:off x="6217920" y="1554480"/>
            <a:ext cx="2560320" cy="2926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6217920" y="1554480"/>
            <a:ext cx="54864" cy="2926080"/>
          </a:xfrm>
          <a:prstGeom prst="rect">
            <a:avLst/>
          </a:prstGeom>
          <a:solidFill>
            <a:srgbClr val="C4A35A"/>
          </a:solidFill>
          <a:ln/>
        </p:spPr>
      </p:sp>
      <p:sp>
        <p:nvSpPr>
          <p:cNvPr id="18" name="Text 16"/>
          <p:cNvSpPr/>
          <p:nvPr/>
        </p:nvSpPr>
        <p:spPr>
          <a:xfrm>
            <a:off x="6355080" y="1737360"/>
            <a:ext cx="2286000" cy="822960"/>
          </a:xfrm>
          <a:prstGeom prst="rect">
            <a:avLst/>
          </a:prstGeom>
          <a:noFill/>
          <a:ln/>
        </p:spPr>
        <p:txBody>
          <a:bodyPr wrap="square" rtlCol="0" anchor="ctr"/>
          <a:lstStyle/>
          <a:p>
            <a:pPr algn="ctr" indent="0" marL="0">
              <a:buNone/>
            </a:pPr>
            <a:r>
              <a:rPr lang="en-US" sz="4400" b="1" dirty="0">
                <a:solidFill>
                  <a:srgbClr val="C4A35A"/>
                </a:solidFill>
                <a:latin typeface="Georgia" pitchFamily="34" charset="0"/>
                <a:ea typeface="Georgia" pitchFamily="34" charset="-122"/>
                <a:cs typeface="Georgia" pitchFamily="34" charset="-120"/>
              </a:rPr>
              <a:t>PRD</a:t>
            </a:r>
            <a:endParaRPr lang="en-US" sz="4400" dirty="0"/>
          </a:p>
        </p:txBody>
      </p:sp>
      <p:sp>
        <p:nvSpPr>
          <p:cNvPr id="19" name="Text 17"/>
          <p:cNvSpPr/>
          <p:nvPr/>
        </p:nvSpPr>
        <p:spPr>
          <a:xfrm>
            <a:off x="6355080" y="2560320"/>
            <a:ext cx="2286000" cy="640080"/>
          </a:xfrm>
          <a:prstGeom prst="rect">
            <a:avLst/>
          </a:prstGeom>
          <a:noFill/>
          <a:ln/>
        </p:spPr>
        <p:txBody>
          <a:bodyPr wrap="square"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Requirements</a:t>
            </a:r>
            <a:endParaRPr lang="en-US" sz="1600" dirty="0"/>
          </a:p>
          <a:p>
            <a:pPr algn="ctr" indent="0" marL="0">
              <a:buNone/>
            </a:pPr>
            <a:r>
              <a:rPr lang="en-US" sz="1600" b="1" dirty="0">
                <a:solidFill>
                  <a:srgbClr val="1B365D"/>
                </a:solidFill>
                <a:latin typeface="Arial" pitchFamily="34" charset="0"/>
                <a:ea typeface="Arial" pitchFamily="34" charset="-122"/>
                <a:cs typeface="Arial" pitchFamily="34" charset="-120"/>
              </a:rPr>
              <a:t>Document</a:t>
            </a:r>
            <a:endParaRPr lang="en-US" sz="1600" dirty="0"/>
          </a:p>
        </p:txBody>
      </p:sp>
      <p:sp>
        <p:nvSpPr>
          <p:cNvPr id="20" name="Shape 18"/>
          <p:cNvSpPr/>
          <p:nvPr/>
        </p:nvSpPr>
        <p:spPr>
          <a:xfrm>
            <a:off x="6766560" y="3200400"/>
            <a:ext cx="1463040" cy="18288"/>
          </a:xfrm>
          <a:prstGeom prst="rect">
            <a:avLst/>
          </a:prstGeom>
          <a:solidFill>
            <a:srgbClr val="C4A35A"/>
          </a:solidFill>
          <a:ln/>
        </p:spPr>
      </p:sp>
      <p:sp>
        <p:nvSpPr>
          <p:cNvPr id="21" name="Text 19"/>
          <p:cNvSpPr/>
          <p:nvPr/>
        </p:nvSpPr>
        <p:spPr>
          <a:xfrm>
            <a:off x="6400800" y="3337560"/>
            <a:ext cx="2194560" cy="914400"/>
          </a:xfrm>
          <a:prstGeom prst="rect">
            <a:avLst/>
          </a:prstGeom>
          <a:noFill/>
          <a:ln/>
        </p:spPr>
        <p:txBody>
          <a:bodyPr wrap="square" rtlCol="0" anchor="t"/>
          <a:lstStyle/>
          <a:p>
            <a:pPr algn="ctr" indent="0" marL="0">
              <a:buNone/>
            </a:pPr>
            <a:r>
              <a:rPr lang="en-US" sz="1200" dirty="0">
                <a:solidFill>
                  <a:srgbClr val="5A5A5A"/>
                </a:solidFill>
                <a:latin typeface="Arial" pitchFamily="34" charset="0"/>
                <a:ea typeface="Arial" pitchFamily="34" charset="-122"/>
                <a:cs typeface="Arial" pitchFamily="34" charset="-120"/>
              </a:rPr>
              <a:t>Detailed spec with Must-Be, Performance, and Excitement features</a:t>
            </a:r>
            <a:endParaRPr lang="en-US" sz="1200" dirty="0"/>
          </a:p>
        </p:txBody>
      </p:sp>
      <p:sp>
        <p:nvSpPr>
          <p:cNvPr id="22" name="Text 20"/>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400" b="1" dirty="0">
                <a:solidFill>
                  <a:srgbClr val="1B365D"/>
                </a:solidFill>
                <a:latin typeface="Georgia" pitchFamily="34" charset="0"/>
                <a:ea typeface="Georgia" pitchFamily="34" charset="-122"/>
                <a:cs typeface="Georgia" pitchFamily="34" charset="-120"/>
              </a:rPr>
              <a:t>The 7-Phase Pipeline</a:t>
            </a:r>
            <a:endParaRPr lang="en-US" sz="3400" dirty="0"/>
          </a:p>
        </p:txBody>
      </p:sp>
      <p:sp>
        <p:nvSpPr>
          <p:cNvPr id="3" name="Shape 1"/>
          <p:cNvSpPr/>
          <p:nvPr/>
        </p:nvSpPr>
        <p:spPr>
          <a:xfrm>
            <a:off x="274320" y="1097280"/>
            <a:ext cx="1097280" cy="2194560"/>
          </a:xfrm>
          <a:prstGeom prst="rect">
            <a:avLst/>
          </a:prstGeom>
          <a:solidFill>
            <a:srgbClr val="2D4A7A"/>
          </a:solidFill>
          <a:ln/>
          <a:effectLst>
            <a:outerShdw sx="100000" sy="100000" kx="0" ky="0" algn="bl" rotWithShape="0" blurRad="50800" dist="25400" dir="8100000">
              <a:srgbClr val="000000">
                <a:alpha val="10000"/>
              </a:srgbClr>
            </a:outerShdw>
          </a:effectLst>
        </p:spPr>
      </p:sp>
      <p:sp>
        <p:nvSpPr>
          <p:cNvPr id="4" name="Shape 2"/>
          <p:cNvSpPr/>
          <p:nvPr/>
        </p:nvSpPr>
        <p:spPr>
          <a:xfrm>
            <a:off x="594360" y="1234440"/>
            <a:ext cx="457200" cy="457200"/>
          </a:xfrm>
          <a:prstGeom prst="ellipse">
            <a:avLst/>
          </a:prstGeom>
          <a:solidFill>
            <a:srgbClr val="C4A35A"/>
          </a:solidFill>
          <a:ln/>
        </p:spPr>
      </p:sp>
      <p:sp>
        <p:nvSpPr>
          <p:cNvPr id="5" name="Text 3"/>
          <p:cNvSpPr/>
          <p:nvPr/>
        </p:nvSpPr>
        <p:spPr>
          <a:xfrm>
            <a:off x="594360" y="1234440"/>
            <a:ext cx="457200" cy="457200"/>
          </a:xfrm>
          <a:prstGeom prst="rect">
            <a:avLst/>
          </a:prstGeom>
          <a:noFill/>
          <a:ln/>
        </p:spPr>
        <p:txBody>
          <a:bodyPr wrap="square"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320040" y="1828800"/>
            <a:ext cx="1005840" cy="10972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Strategic</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Analysis</a:t>
            </a:r>
            <a:endParaRPr lang="en-US" sz="1200" dirty="0"/>
          </a:p>
        </p:txBody>
      </p:sp>
      <p:sp>
        <p:nvSpPr>
          <p:cNvPr id="7" name="Text 5"/>
          <p:cNvSpPr/>
          <p:nvPr/>
        </p:nvSpPr>
        <p:spPr>
          <a:xfrm>
            <a:off x="1353312" y="1920240"/>
            <a:ext cx="201168" cy="457200"/>
          </a:xfrm>
          <a:prstGeom prst="rect">
            <a:avLst/>
          </a:prstGeom>
          <a:noFill/>
          <a:ln/>
        </p:spPr>
        <p:txBody>
          <a:bodyPr wrap="square" rtlCol="0" anchor="ctr"/>
          <a:lstStyle/>
          <a:p>
            <a:pPr algn="ctr" indent="0" marL="0">
              <a:buNone/>
            </a:pPr>
            <a:r>
              <a:rPr lang="en-US" sz="1100" dirty="0">
                <a:solidFill>
                  <a:srgbClr val="C4A35A"/>
                </a:solidFill>
                <a:latin typeface="Arial" pitchFamily="34" charset="0"/>
                <a:ea typeface="Arial" pitchFamily="34" charset="-122"/>
                <a:cs typeface="Arial" pitchFamily="34" charset="-120"/>
              </a:rPr>
              <a:t>►</a:t>
            </a:r>
            <a:endParaRPr lang="en-US" sz="1100" dirty="0"/>
          </a:p>
        </p:txBody>
      </p:sp>
      <p:sp>
        <p:nvSpPr>
          <p:cNvPr id="8" name="Shape 6"/>
          <p:cNvSpPr/>
          <p:nvPr/>
        </p:nvSpPr>
        <p:spPr>
          <a:xfrm>
            <a:off x="1527048" y="1097280"/>
            <a:ext cx="1097280" cy="2194560"/>
          </a:xfrm>
          <a:prstGeom prst="rect">
            <a:avLst/>
          </a:prstGeom>
          <a:solidFill>
            <a:srgbClr val="3A5C8F"/>
          </a:solidFill>
          <a:ln/>
          <a:effectLst>
            <a:outerShdw sx="100000" sy="100000" kx="0" ky="0" algn="bl" rotWithShape="0" blurRad="50800" dist="25400" dir="8100000">
              <a:srgbClr val="000000">
                <a:alpha val="10000"/>
              </a:srgbClr>
            </a:outerShdw>
          </a:effectLst>
        </p:spPr>
      </p:sp>
      <p:sp>
        <p:nvSpPr>
          <p:cNvPr id="9" name="Shape 7"/>
          <p:cNvSpPr/>
          <p:nvPr/>
        </p:nvSpPr>
        <p:spPr>
          <a:xfrm>
            <a:off x="1847088" y="1234440"/>
            <a:ext cx="457200" cy="457200"/>
          </a:xfrm>
          <a:prstGeom prst="ellipse">
            <a:avLst/>
          </a:prstGeom>
          <a:solidFill>
            <a:srgbClr val="C4A35A"/>
          </a:solidFill>
          <a:ln/>
        </p:spPr>
      </p:sp>
      <p:sp>
        <p:nvSpPr>
          <p:cNvPr id="10" name="Text 8"/>
          <p:cNvSpPr/>
          <p:nvPr/>
        </p:nvSpPr>
        <p:spPr>
          <a:xfrm>
            <a:off x="1847088" y="1234440"/>
            <a:ext cx="457200" cy="457200"/>
          </a:xfrm>
          <a:prstGeom prst="rect">
            <a:avLst/>
          </a:prstGeom>
          <a:noFill/>
          <a:ln/>
        </p:spPr>
        <p:txBody>
          <a:bodyPr wrap="square"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1572768" y="1828800"/>
            <a:ext cx="1005840" cy="10972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Rubric</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Creation</a:t>
            </a:r>
            <a:endParaRPr lang="en-US" sz="1200" dirty="0"/>
          </a:p>
        </p:txBody>
      </p:sp>
      <p:sp>
        <p:nvSpPr>
          <p:cNvPr id="12" name="Text 10"/>
          <p:cNvSpPr/>
          <p:nvPr/>
        </p:nvSpPr>
        <p:spPr>
          <a:xfrm>
            <a:off x="2606040" y="1920240"/>
            <a:ext cx="201168" cy="457200"/>
          </a:xfrm>
          <a:prstGeom prst="rect">
            <a:avLst/>
          </a:prstGeom>
          <a:noFill/>
          <a:ln/>
        </p:spPr>
        <p:txBody>
          <a:bodyPr wrap="square" rtlCol="0" anchor="ctr"/>
          <a:lstStyle/>
          <a:p>
            <a:pPr algn="ctr" indent="0" marL="0">
              <a:buNone/>
            </a:pPr>
            <a:r>
              <a:rPr lang="en-US" sz="1100" dirty="0">
                <a:solidFill>
                  <a:srgbClr val="C4A35A"/>
                </a:solidFill>
                <a:latin typeface="Arial" pitchFamily="34" charset="0"/>
                <a:ea typeface="Arial" pitchFamily="34" charset="-122"/>
                <a:cs typeface="Arial" pitchFamily="34" charset="-120"/>
              </a:rPr>
              <a:t>►</a:t>
            </a:r>
            <a:endParaRPr lang="en-US" sz="1100" dirty="0"/>
          </a:p>
        </p:txBody>
      </p:sp>
      <p:sp>
        <p:nvSpPr>
          <p:cNvPr id="13" name="Shape 11"/>
          <p:cNvSpPr/>
          <p:nvPr/>
        </p:nvSpPr>
        <p:spPr>
          <a:xfrm>
            <a:off x="2779776" y="1097280"/>
            <a:ext cx="1097280" cy="2194560"/>
          </a:xfrm>
          <a:prstGeom prst="rect">
            <a:avLst/>
          </a:prstGeom>
          <a:solidFill>
            <a:srgbClr val="4A6FA5"/>
          </a:solidFill>
          <a:ln/>
          <a:effectLst>
            <a:outerShdw sx="100000" sy="100000" kx="0" ky="0" algn="bl" rotWithShape="0" blurRad="50800" dist="25400" dir="8100000">
              <a:srgbClr val="000000">
                <a:alpha val="10000"/>
              </a:srgbClr>
            </a:outerShdw>
          </a:effectLst>
        </p:spPr>
      </p:sp>
      <p:sp>
        <p:nvSpPr>
          <p:cNvPr id="14" name="Shape 12"/>
          <p:cNvSpPr/>
          <p:nvPr/>
        </p:nvSpPr>
        <p:spPr>
          <a:xfrm>
            <a:off x="3099816" y="1234440"/>
            <a:ext cx="457200" cy="457200"/>
          </a:xfrm>
          <a:prstGeom prst="ellipse">
            <a:avLst/>
          </a:prstGeom>
          <a:solidFill>
            <a:srgbClr val="C4A35A"/>
          </a:solidFill>
          <a:ln/>
        </p:spPr>
      </p:sp>
      <p:sp>
        <p:nvSpPr>
          <p:cNvPr id="15" name="Text 13"/>
          <p:cNvSpPr/>
          <p:nvPr/>
        </p:nvSpPr>
        <p:spPr>
          <a:xfrm>
            <a:off x="3099816" y="1234440"/>
            <a:ext cx="457200" cy="457200"/>
          </a:xfrm>
          <a:prstGeom prst="rect">
            <a:avLst/>
          </a:prstGeom>
          <a:noFill/>
          <a:ln/>
        </p:spPr>
        <p:txBody>
          <a:bodyPr wrap="square"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2825496" y="1828800"/>
            <a:ext cx="1005840" cy="10972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Concept</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Discovery</a:t>
            </a:r>
            <a:endParaRPr lang="en-US" sz="1200" dirty="0"/>
          </a:p>
        </p:txBody>
      </p:sp>
      <p:sp>
        <p:nvSpPr>
          <p:cNvPr id="17" name="Text 15"/>
          <p:cNvSpPr/>
          <p:nvPr/>
        </p:nvSpPr>
        <p:spPr>
          <a:xfrm>
            <a:off x="3858768" y="1920240"/>
            <a:ext cx="201168" cy="457200"/>
          </a:xfrm>
          <a:prstGeom prst="rect">
            <a:avLst/>
          </a:prstGeom>
          <a:noFill/>
          <a:ln/>
        </p:spPr>
        <p:txBody>
          <a:bodyPr wrap="square" rtlCol="0" anchor="ctr"/>
          <a:lstStyle/>
          <a:p>
            <a:pPr algn="ctr" indent="0" marL="0">
              <a:buNone/>
            </a:pPr>
            <a:r>
              <a:rPr lang="en-US" sz="1100" dirty="0">
                <a:solidFill>
                  <a:srgbClr val="C4A35A"/>
                </a:solidFill>
                <a:latin typeface="Arial" pitchFamily="34" charset="0"/>
                <a:ea typeface="Arial" pitchFamily="34" charset="-122"/>
                <a:cs typeface="Arial" pitchFamily="34" charset="-120"/>
              </a:rPr>
              <a:t>►</a:t>
            </a:r>
            <a:endParaRPr lang="en-US" sz="1100" dirty="0"/>
          </a:p>
        </p:txBody>
      </p:sp>
      <p:sp>
        <p:nvSpPr>
          <p:cNvPr id="18" name="Shape 16"/>
          <p:cNvSpPr/>
          <p:nvPr/>
        </p:nvSpPr>
        <p:spPr>
          <a:xfrm>
            <a:off x="4032504" y="1097280"/>
            <a:ext cx="1097280" cy="2194560"/>
          </a:xfrm>
          <a:prstGeom prst="rect">
            <a:avLst/>
          </a:prstGeom>
          <a:solidFill>
            <a:srgbClr val="5A82BA"/>
          </a:solidFill>
          <a:ln/>
          <a:effectLst>
            <a:outerShdw sx="100000" sy="100000" kx="0" ky="0" algn="bl" rotWithShape="0" blurRad="50800" dist="25400" dir="8100000">
              <a:srgbClr val="000000">
                <a:alpha val="10000"/>
              </a:srgbClr>
            </a:outerShdw>
          </a:effectLst>
        </p:spPr>
      </p:sp>
      <p:sp>
        <p:nvSpPr>
          <p:cNvPr id="19" name="Shape 17"/>
          <p:cNvSpPr/>
          <p:nvPr/>
        </p:nvSpPr>
        <p:spPr>
          <a:xfrm>
            <a:off x="4352544" y="1234440"/>
            <a:ext cx="457200" cy="457200"/>
          </a:xfrm>
          <a:prstGeom prst="ellipse">
            <a:avLst/>
          </a:prstGeom>
          <a:solidFill>
            <a:srgbClr val="C4A35A"/>
          </a:solidFill>
          <a:ln/>
        </p:spPr>
      </p:sp>
      <p:sp>
        <p:nvSpPr>
          <p:cNvPr id="20" name="Text 18"/>
          <p:cNvSpPr/>
          <p:nvPr/>
        </p:nvSpPr>
        <p:spPr>
          <a:xfrm>
            <a:off x="4352544" y="1234440"/>
            <a:ext cx="457200" cy="457200"/>
          </a:xfrm>
          <a:prstGeom prst="rect">
            <a:avLst/>
          </a:prstGeom>
          <a:noFill/>
          <a:ln/>
        </p:spPr>
        <p:txBody>
          <a:bodyPr wrap="square"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4</a:t>
            </a:r>
            <a:endParaRPr lang="en-US" sz="1600" dirty="0"/>
          </a:p>
        </p:txBody>
      </p:sp>
      <p:sp>
        <p:nvSpPr>
          <p:cNvPr id="21" name="Text 19"/>
          <p:cNvSpPr/>
          <p:nvPr/>
        </p:nvSpPr>
        <p:spPr>
          <a:xfrm>
            <a:off x="4078224" y="1828800"/>
            <a:ext cx="1005840" cy="10972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Deep</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Research</a:t>
            </a:r>
            <a:endParaRPr lang="en-US" sz="1200" dirty="0"/>
          </a:p>
        </p:txBody>
      </p:sp>
      <p:sp>
        <p:nvSpPr>
          <p:cNvPr id="22" name="Text 20"/>
          <p:cNvSpPr/>
          <p:nvPr/>
        </p:nvSpPr>
        <p:spPr>
          <a:xfrm>
            <a:off x="5111496" y="1920240"/>
            <a:ext cx="201168" cy="457200"/>
          </a:xfrm>
          <a:prstGeom prst="rect">
            <a:avLst/>
          </a:prstGeom>
          <a:noFill/>
          <a:ln/>
        </p:spPr>
        <p:txBody>
          <a:bodyPr wrap="square" rtlCol="0" anchor="ctr"/>
          <a:lstStyle/>
          <a:p>
            <a:pPr algn="ctr" indent="0" marL="0">
              <a:buNone/>
            </a:pPr>
            <a:r>
              <a:rPr lang="en-US" sz="1100" dirty="0">
                <a:solidFill>
                  <a:srgbClr val="C4A35A"/>
                </a:solidFill>
                <a:latin typeface="Arial" pitchFamily="34" charset="0"/>
                <a:ea typeface="Arial" pitchFamily="34" charset="-122"/>
                <a:cs typeface="Arial" pitchFamily="34" charset="-120"/>
              </a:rPr>
              <a:t>►</a:t>
            </a:r>
            <a:endParaRPr lang="en-US" sz="1100" dirty="0"/>
          </a:p>
        </p:txBody>
      </p:sp>
      <p:sp>
        <p:nvSpPr>
          <p:cNvPr id="23" name="Shape 21"/>
          <p:cNvSpPr/>
          <p:nvPr/>
        </p:nvSpPr>
        <p:spPr>
          <a:xfrm>
            <a:off x="5285232" y="1097280"/>
            <a:ext cx="1097280" cy="2194560"/>
          </a:xfrm>
          <a:prstGeom prst="rect">
            <a:avLst/>
          </a:prstGeom>
          <a:solidFill>
            <a:srgbClr val="3A5C8F"/>
          </a:solidFill>
          <a:ln/>
          <a:effectLst>
            <a:outerShdw sx="100000" sy="100000" kx="0" ky="0" algn="bl" rotWithShape="0" blurRad="50800" dist="25400" dir="8100000">
              <a:srgbClr val="000000">
                <a:alpha val="10000"/>
              </a:srgbClr>
            </a:outerShdw>
          </a:effectLst>
        </p:spPr>
      </p:sp>
      <p:sp>
        <p:nvSpPr>
          <p:cNvPr id="24" name="Shape 22"/>
          <p:cNvSpPr/>
          <p:nvPr/>
        </p:nvSpPr>
        <p:spPr>
          <a:xfrm>
            <a:off x="5605272" y="1234440"/>
            <a:ext cx="457200" cy="457200"/>
          </a:xfrm>
          <a:prstGeom prst="ellipse">
            <a:avLst/>
          </a:prstGeom>
          <a:solidFill>
            <a:srgbClr val="C4A35A"/>
          </a:solidFill>
          <a:ln/>
        </p:spPr>
      </p:sp>
      <p:sp>
        <p:nvSpPr>
          <p:cNvPr id="25" name="Text 23"/>
          <p:cNvSpPr/>
          <p:nvPr/>
        </p:nvSpPr>
        <p:spPr>
          <a:xfrm>
            <a:off x="5605272" y="1234440"/>
            <a:ext cx="457200" cy="457200"/>
          </a:xfrm>
          <a:prstGeom prst="rect">
            <a:avLst/>
          </a:prstGeom>
          <a:noFill/>
          <a:ln/>
        </p:spPr>
        <p:txBody>
          <a:bodyPr wrap="square"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5</a:t>
            </a:r>
            <a:endParaRPr lang="en-US" sz="1600" dirty="0"/>
          </a:p>
        </p:txBody>
      </p:sp>
      <p:sp>
        <p:nvSpPr>
          <p:cNvPr id="26" name="Text 24"/>
          <p:cNvSpPr/>
          <p:nvPr/>
        </p:nvSpPr>
        <p:spPr>
          <a:xfrm>
            <a:off x="5330952" y="1828800"/>
            <a:ext cx="1005840" cy="10972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Concept</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Evaluation</a:t>
            </a:r>
            <a:endParaRPr lang="en-US" sz="1200" dirty="0"/>
          </a:p>
        </p:txBody>
      </p:sp>
      <p:sp>
        <p:nvSpPr>
          <p:cNvPr id="27" name="Text 25"/>
          <p:cNvSpPr/>
          <p:nvPr/>
        </p:nvSpPr>
        <p:spPr>
          <a:xfrm>
            <a:off x="6364224" y="1920240"/>
            <a:ext cx="201168" cy="457200"/>
          </a:xfrm>
          <a:prstGeom prst="rect">
            <a:avLst/>
          </a:prstGeom>
          <a:noFill/>
          <a:ln/>
        </p:spPr>
        <p:txBody>
          <a:bodyPr wrap="square" rtlCol="0" anchor="ctr"/>
          <a:lstStyle/>
          <a:p>
            <a:pPr algn="ctr" indent="0" marL="0">
              <a:buNone/>
            </a:pPr>
            <a:r>
              <a:rPr lang="en-US" sz="1100" dirty="0">
                <a:solidFill>
                  <a:srgbClr val="C4A35A"/>
                </a:solidFill>
                <a:latin typeface="Arial" pitchFamily="34" charset="0"/>
                <a:ea typeface="Arial" pitchFamily="34" charset="-122"/>
                <a:cs typeface="Arial" pitchFamily="34" charset="-120"/>
              </a:rPr>
              <a:t>►</a:t>
            </a:r>
            <a:endParaRPr lang="en-US" sz="1100" dirty="0"/>
          </a:p>
        </p:txBody>
      </p:sp>
      <p:sp>
        <p:nvSpPr>
          <p:cNvPr id="28" name="Shape 26"/>
          <p:cNvSpPr/>
          <p:nvPr/>
        </p:nvSpPr>
        <p:spPr>
          <a:xfrm>
            <a:off x="6537960" y="1097280"/>
            <a:ext cx="1097280" cy="2194560"/>
          </a:xfrm>
          <a:prstGeom prst="rect">
            <a:avLst/>
          </a:prstGeom>
          <a:solidFill>
            <a:srgbClr val="2D4A7A"/>
          </a:solidFill>
          <a:ln/>
          <a:effectLst>
            <a:outerShdw sx="100000" sy="100000" kx="0" ky="0" algn="bl" rotWithShape="0" blurRad="50800" dist="25400" dir="8100000">
              <a:srgbClr val="000000">
                <a:alpha val="10000"/>
              </a:srgbClr>
            </a:outerShdw>
          </a:effectLst>
        </p:spPr>
      </p:sp>
      <p:sp>
        <p:nvSpPr>
          <p:cNvPr id="29" name="Shape 27"/>
          <p:cNvSpPr/>
          <p:nvPr/>
        </p:nvSpPr>
        <p:spPr>
          <a:xfrm>
            <a:off x="6858000" y="1234440"/>
            <a:ext cx="457200" cy="457200"/>
          </a:xfrm>
          <a:prstGeom prst="ellipse">
            <a:avLst/>
          </a:prstGeom>
          <a:solidFill>
            <a:srgbClr val="C4A35A"/>
          </a:solidFill>
          <a:ln/>
        </p:spPr>
      </p:sp>
      <p:sp>
        <p:nvSpPr>
          <p:cNvPr id="30" name="Text 28"/>
          <p:cNvSpPr/>
          <p:nvPr/>
        </p:nvSpPr>
        <p:spPr>
          <a:xfrm>
            <a:off x="6858000" y="1234440"/>
            <a:ext cx="457200" cy="457200"/>
          </a:xfrm>
          <a:prstGeom prst="rect">
            <a:avLst/>
          </a:prstGeom>
          <a:noFill/>
          <a:ln/>
        </p:spPr>
        <p:txBody>
          <a:bodyPr wrap="square"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6</a:t>
            </a:r>
            <a:endParaRPr lang="en-US" sz="1600" dirty="0"/>
          </a:p>
        </p:txBody>
      </p:sp>
      <p:sp>
        <p:nvSpPr>
          <p:cNvPr id="31" name="Text 29"/>
          <p:cNvSpPr/>
          <p:nvPr/>
        </p:nvSpPr>
        <p:spPr>
          <a:xfrm>
            <a:off x="6583680" y="1828800"/>
            <a:ext cx="1005840" cy="10972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SCAMPER</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&amp; Kano</a:t>
            </a:r>
            <a:endParaRPr lang="en-US" sz="1200" dirty="0"/>
          </a:p>
        </p:txBody>
      </p:sp>
      <p:sp>
        <p:nvSpPr>
          <p:cNvPr id="32" name="Text 30"/>
          <p:cNvSpPr/>
          <p:nvPr/>
        </p:nvSpPr>
        <p:spPr>
          <a:xfrm>
            <a:off x="7616952" y="1920240"/>
            <a:ext cx="201168" cy="457200"/>
          </a:xfrm>
          <a:prstGeom prst="rect">
            <a:avLst/>
          </a:prstGeom>
          <a:noFill/>
          <a:ln/>
        </p:spPr>
        <p:txBody>
          <a:bodyPr wrap="square" rtlCol="0" anchor="ctr"/>
          <a:lstStyle/>
          <a:p>
            <a:pPr algn="ctr" indent="0" marL="0">
              <a:buNone/>
            </a:pPr>
            <a:r>
              <a:rPr lang="en-US" sz="1100" dirty="0">
                <a:solidFill>
                  <a:srgbClr val="C4A35A"/>
                </a:solidFill>
                <a:latin typeface="Arial" pitchFamily="34" charset="0"/>
                <a:ea typeface="Arial" pitchFamily="34" charset="-122"/>
                <a:cs typeface="Arial" pitchFamily="34" charset="-120"/>
              </a:rPr>
              <a:t>►</a:t>
            </a:r>
            <a:endParaRPr lang="en-US" sz="1100" dirty="0"/>
          </a:p>
        </p:txBody>
      </p:sp>
      <p:sp>
        <p:nvSpPr>
          <p:cNvPr id="33" name="Shape 31"/>
          <p:cNvSpPr/>
          <p:nvPr/>
        </p:nvSpPr>
        <p:spPr>
          <a:xfrm>
            <a:off x="7790688" y="1097280"/>
            <a:ext cx="1097280" cy="2194560"/>
          </a:xfrm>
          <a:prstGeom prst="rect">
            <a:avLst/>
          </a:prstGeom>
          <a:solidFill>
            <a:srgbClr val="1B365D"/>
          </a:solidFill>
          <a:ln/>
          <a:effectLst>
            <a:outerShdw sx="100000" sy="100000" kx="0" ky="0" algn="bl" rotWithShape="0" blurRad="50800" dist="25400" dir="8100000">
              <a:srgbClr val="000000">
                <a:alpha val="10000"/>
              </a:srgbClr>
            </a:outerShdw>
          </a:effectLst>
        </p:spPr>
      </p:sp>
      <p:sp>
        <p:nvSpPr>
          <p:cNvPr id="34" name="Shape 32"/>
          <p:cNvSpPr/>
          <p:nvPr/>
        </p:nvSpPr>
        <p:spPr>
          <a:xfrm>
            <a:off x="8110728" y="1234440"/>
            <a:ext cx="457200" cy="457200"/>
          </a:xfrm>
          <a:prstGeom prst="ellipse">
            <a:avLst/>
          </a:prstGeom>
          <a:solidFill>
            <a:srgbClr val="C4A35A"/>
          </a:solidFill>
          <a:ln/>
        </p:spPr>
      </p:sp>
      <p:sp>
        <p:nvSpPr>
          <p:cNvPr id="35" name="Text 33"/>
          <p:cNvSpPr/>
          <p:nvPr/>
        </p:nvSpPr>
        <p:spPr>
          <a:xfrm>
            <a:off x="8110728" y="1234440"/>
            <a:ext cx="457200" cy="457200"/>
          </a:xfrm>
          <a:prstGeom prst="rect">
            <a:avLst/>
          </a:prstGeom>
          <a:noFill/>
          <a:ln/>
        </p:spPr>
        <p:txBody>
          <a:bodyPr wrap="square"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7</a:t>
            </a:r>
            <a:endParaRPr lang="en-US" sz="1600" dirty="0"/>
          </a:p>
        </p:txBody>
      </p:sp>
      <p:sp>
        <p:nvSpPr>
          <p:cNvPr id="36" name="Text 34"/>
          <p:cNvSpPr/>
          <p:nvPr/>
        </p:nvSpPr>
        <p:spPr>
          <a:xfrm>
            <a:off x="7836408" y="1828800"/>
            <a:ext cx="1005840" cy="10972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PRD &amp;</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Delivery</a:t>
            </a:r>
            <a:endParaRPr lang="en-US" sz="1200" dirty="0"/>
          </a:p>
        </p:txBody>
      </p:sp>
      <p:sp>
        <p:nvSpPr>
          <p:cNvPr id="37" name="Shape 35"/>
          <p:cNvSpPr/>
          <p:nvPr/>
        </p:nvSpPr>
        <p:spPr>
          <a:xfrm>
            <a:off x="457200" y="3657600"/>
            <a:ext cx="8229600" cy="36576"/>
          </a:xfrm>
          <a:prstGeom prst="rect">
            <a:avLst/>
          </a:prstGeom>
          <a:solidFill>
            <a:srgbClr val="C4A35A"/>
          </a:solidFill>
          <a:ln/>
        </p:spPr>
      </p:sp>
      <p:sp>
        <p:nvSpPr>
          <p:cNvPr id="38" name="Text 36"/>
          <p:cNvSpPr/>
          <p:nvPr/>
        </p:nvSpPr>
        <p:spPr>
          <a:xfrm>
            <a:off x="457200" y="3794760"/>
            <a:ext cx="8229600" cy="320040"/>
          </a:xfrm>
          <a:prstGeom prst="rect">
            <a:avLst/>
          </a:prstGeom>
          <a:noFill/>
          <a:ln/>
        </p:spPr>
        <p:txBody>
          <a:bodyPr wrap="square" rtlCol="0" anchor="ctr"/>
          <a:lstStyle/>
          <a:p>
            <a:pPr indent="0" marL="0">
              <a:buNone/>
            </a:pPr>
            <a:r>
              <a:rPr lang="en-US" sz="1200" b="1" dirty="0">
                <a:solidFill>
                  <a:srgbClr val="C4A35A"/>
                </a:solidFill>
                <a:latin typeface="Arial" pitchFamily="34" charset="0"/>
                <a:ea typeface="Arial" pitchFamily="34" charset="-122"/>
                <a:cs typeface="Arial" pitchFamily="34" charset="-120"/>
              </a:rPr>
              <a:t>KEY DECISION GATES</a:t>
            </a:r>
            <a:endParaRPr lang="en-US" sz="1200" dirty="0"/>
          </a:p>
        </p:txBody>
      </p:sp>
      <p:sp>
        <p:nvSpPr>
          <p:cNvPr id="39" name="Text 37"/>
          <p:cNvSpPr/>
          <p:nvPr/>
        </p:nvSpPr>
        <p:spPr>
          <a:xfrm>
            <a:off x="457200" y="4114800"/>
            <a:ext cx="8229600" cy="365760"/>
          </a:xfrm>
          <a:prstGeom prst="rect">
            <a:avLst/>
          </a:prstGeom>
          <a:noFill/>
          <a:ln/>
        </p:spPr>
        <p:txBody>
          <a:bodyPr wrap="square" rtlCol="0" anchor="ctr"/>
          <a:lstStyle/>
          <a:p>
            <a:pPr indent="0" marL="0">
              <a:buNone/>
            </a:pPr>
            <a:r>
              <a:rPr lang="en-US" sz="1200" dirty="0">
                <a:solidFill>
                  <a:srgbClr val="1B365D"/>
                </a:solidFill>
                <a:latin typeface="Arial" pitchFamily="34" charset="0"/>
                <a:ea typeface="Arial" pitchFamily="34" charset="-122"/>
                <a:cs typeface="Arial" pitchFamily="34" charset="-120"/>
              </a:rPr>
              <a:t>40 concepts → 20 scored → Top concepts deep-researched → </a:t>
            </a:r>
            <a:pPr indent="0" marL="0">
              <a:buNone/>
            </a:pPr>
            <a:r>
              <a:rPr lang="en-US" sz="1200" b="1" dirty="0">
                <a:solidFill>
                  <a:srgbClr val="CC3333"/>
                </a:solidFill>
                <a:latin typeface="Arial" pitchFamily="34" charset="0"/>
                <a:ea typeface="Arial" pitchFamily="34" charset="-122"/>
                <a:cs typeface="Arial" pitchFamily="34" charset="-120"/>
              </a:rPr>
              <a:t>Below 90%: Kill</a:t>
            </a:r>
            <a:pPr indent="0" marL="0">
              <a:buNone/>
            </a:pPr>
            <a:r>
              <a:rPr lang="en-US" sz="1200" dirty="0">
                <a:solidFill>
                  <a:srgbClr val="5A5A5A"/>
                </a:solidFill>
                <a:latin typeface="Arial" pitchFamily="34" charset="0"/>
                <a:ea typeface="Arial" pitchFamily="34" charset="-122"/>
                <a:cs typeface="Arial" pitchFamily="34" charset="-120"/>
              </a:rPr>
              <a:t>  •  </a:t>
            </a:r>
            <a:pPr indent="0" marL="0">
              <a:buNone/>
            </a:pPr>
            <a:r>
              <a:rPr lang="en-US" sz="1200" b="1" dirty="0">
                <a:solidFill>
                  <a:srgbClr val="C4A35A"/>
                </a:solidFill>
                <a:latin typeface="Arial" pitchFamily="34" charset="0"/>
                <a:ea typeface="Arial" pitchFamily="34" charset="-122"/>
                <a:cs typeface="Arial" pitchFamily="34" charset="-120"/>
              </a:rPr>
              <a:t>90-95%: Revise</a:t>
            </a:r>
            <a:pPr indent="0" marL="0">
              <a:buNone/>
            </a:pPr>
            <a:r>
              <a:rPr lang="en-US" sz="1200" dirty="0">
                <a:solidFill>
                  <a:srgbClr val="5A5A5A"/>
                </a:solidFill>
                <a:latin typeface="Arial" pitchFamily="34" charset="0"/>
                <a:ea typeface="Arial" pitchFamily="34" charset="-122"/>
                <a:cs typeface="Arial" pitchFamily="34" charset="-120"/>
              </a:rPr>
              <a:t>  •  </a:t>
            </a:r>
            <a:pPr indent="0" marL="0">
              <a:buNone/>
            </a:pPr>
            <a:r>
              <a:rPr lang="en-US" sz="1200" b="1" dirty="0">
                <a:solidFill>
                  <a:srgbClr val="2E8B57"/>
                </a:solidFill>
                <a:latin typeface="Arial" pitchFamily="34" charset="0"/>
                <a:ea typeface="Arial" pitchFamily="34" charset="-122"/>
                <a:cs typeface="Arial" pitchFamily="34" charset="-120"/>
              </a:rPr>
              <a:t>Above 95%: Continue</a:t>
            </a:r>
            <a:endParaRPr lang="en-US" sz="1200" dirty="0"/>
          </a:p>
        </p:txBody>
      </p:sp>
      <p:sp>
        <p:nvSpPr>
          <p:cNvPr id="40" name="Text 38"/>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400" b="1" dirty="0">
                <a:solidFill>
                  <a:srgbClr val="1B365D"/>
                </a:solidFill>
                <a:latin typeface="Georgia" pitchFamily="34" charset="0"/>
                <a:ea typeface="Georgia" pitchFamily="34" charset="-122"/>
                <a:cs typeface="Georgia" pitchFamily="34" charset="-120"/>
              </a:rPr>
              <a:t>Why AI-Augmented Development?</a:t>
            </a:r>
            <a:endParaRPr lang="en-US" sz="3400" dirty="0"/>
          </a:p>
        </p:txBody>
      </p:sp>
      <p:sp>
        <p:nvSpPr>
          <p:cNvPr id="3" name="Shape 1"/>
          <p:cNvSpPr/>
          <p:nvPr/>
        </p:nvSpPr>
        <p:spPr>
          <a:xfrm>
            <a:off x="457200" y="1188720"/>
            <a:ext cx="3840480" cy="3383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 name="Text 2"/>
          <p:cNvSpPr/>
          <p:nvPr/>
        </p:nvSpPr>
        <p:spPr>
          <a:xfrm>
            <a:off x="640080" y="1325880"/>
            <a:ext cx="3474720" cy="365760"/>
          </a:xfrm>
          <a:prstGeom prst="rect">
            <a:avLst/>
          </a:prstGeom>
          <a:noFill/>
          <a:ln/>
        </p:spPr>
        <p:txBody>
          <a:bodyPr wrap="square" rtlCol="0" anchor="ctr"/>
          <a:lstStyle/>
          <a:p>
            <a:pPr indent="0" marL="0">
              <a:buNone/>
            </a:pPr>
            <a:r>
              <a:rPr lang="en-US" sz="1300" b="1" dirty="0">
                <a:solidFill>
                  <a:srgbClr val="5A5A5A"/>
                </a:solidFill>
                <a:latin typeface="Arial" pitchFamily="34" charset="0"/>
                <a:ea typeface="Arial" pitchFamily="34" charset="-122"/>
                <a:cs typeface="Arial" pitchFamily="34" charset="-120"/>
              </a:rPr>
              <a:t>TRADITIONAL APPROACH</a:t>
            </a:r>
            <a:endParaRPr lang="en-US" sz="1300" dirty="0"/>
          </a:p>
        </p:txBody>
      </p:sp>
      <p:sp>
        <p:nvSpPr>
          <p:cNvPr id="5" name="Shape 3"/>
          <p:cNvSpPr/>
          <p:nvPr/>
        </p:nvSpPr>
        <p:spPr>
          <a:xfrm>
            <a:off x="640080" y="1691640"/>
            <a:ext cx="1371600" cy="27432"/>
          </a:xfrm>
          <a:prstGeom prst="rect">
            <a:avLst/>
          </a:prstGeom>
          <a:solidFill>
            <a:srgbClr val="E8E6E1"/>
          </a:solidFill>
          <a:ln/>
        </p:spPr>
      </p:sp>
      <p:sp>
        <p:nvSpPr>
          <p:cNvPr id="6" name="Text 4"/>
          <p:cNvSpPr/>
          <p:nvPr/>
        </p:nvSpPr>
        <p:spPr>
          <a:xfrm>
            <a:off x="640080" y="1828800"/>
            <a:ext cx="3474720" cy="2560320"/>
          </a:xfrm>
          <a:prstGeom prst="rect">
            <a:avLst/>
          </a:prstGeom>
          <a:noFill/>
          <a:ln/>
        </p:spPr>
        <p:txBody>
          <a:bodyPr wrap="square" rtlCol="0" anchor="t"/>
          <a:lstStyle/>
          <a:p>
            <a:pPr marL="342900" indent="-342900">
              <a:spcAft>
                <a:spcPts val="800"/>
              </a:spcAft>
              <a:buSzPct val="100000"/>
              <a:buChar char="•"/>
            </a:pPr>
            <a:r>
              <a:rPr lang="en-US" sz="1300" dirty="0">
                <a:solidFill>
                  <a:srgbClr val="1B365D"/>
                </a:solidFill>
                <a:latin typeface="Arial" pitchFamily="34" charset="0"/>
                <a:ea typeface="Arial" pitchFamily="34" charset="-122"/>
                <a:cs typeface="Arial" pitchFamily="34" charset="-120"/>
              </a:rPr>
              <a:t>5-10 concepts from team brainstorm</a:t>
            </a:r>
            <a:endParaRPr lang="en-US" sz="1300" dirty="0"/>
          </a:p>
          <a:p>
            <a:pPr marL="342900" indent="-342900">
              <a:spcAft>
                <a:spcPts val="800"/>
              </a:spcAft>
              <a:buSzPct val="100000"/>
              <a:buChar char="•"/>
            </a:pPr>
            <a:r>
              <a:rPr lang="en-US" sz="1300" dirty="0">
                <a:solidFill>
                  <a:srgbClr val="1B365D"/>
                </a:solidFill>
                <a:latin typeface="Arial" pitchFamily="34" charset="0"/>
                <a:ea typeface="Arial" pitchFamily="34" charset="-122"/>
                <a:cs typeface="Arial" pitchFamily="34" charset="-120"/>
              </a:rPr>
              <a:t>Weeks of manual market research</a:t>
            </a:r>
            <a:endParaRPr lang="en-US" sz="1300" dirty="0"/>
          </a:p>
          <a:p>
            <a:pPr marL="342900" indent="-342900">
              <a:spcAft>
                <a:spcPts val="800"/>
              </a:spcAft>
              <a:buSzPct val="100000"/>
              <a:buChar char="•"/>
            </a:pPr>
            <a:r>
              <a:rPr lang="en-US" sz="1300" dirty="0">
                <a:solidFill>
                  <a:srgbClr val="1B365D"/>
                </a:solidFill>
                <a:latin typeface="Arial" pitchFamily="34" charset="0"/>
                <a:ea typeface="Arial" pitchFamily="34" charset="-122"/>
                <a:cs typeface="Arial" pitchFamily="34" charset="-120"/>
              </a:rPr>
              <a:t>Generic evaluation criteria</a:t>
            </a:r>
            <a:endParaRPr lang="en-US" sz="1300" dirty="0"/>
          </a:p>
          <a:p>
            <a:pPr marL="342900" indent="-342900">
              <a:spcAft>
                <a:spcPts val="800"/>
              </a:spcAft>
              <a:buSzPct val="100000"/>
              <a:buChar char="•"/>
            </a:pPr>
            <a:r>
              <a:rPr lang="en-US" sz="1300" dirty="0">
                <a:solidFill>
                  <a:srgbClr val="1B365D"/>
                </a:solidFill>
                <a:latin typeface="Arial" pitchFamily="34" charset="0"/>
                <a:ea typeface="Arial" pitchFamily="34" charset="-122"/>
                <a:cs typeface="Arial" pitchFamily="34" charset="-120"/>
              </a:rPr>
              <a:t>Gut-feel decisions on what to pursue</a:t>
            </a:r>
            <a:endParaRPr lang="en-US" sz="1300" dirty="0"/>
          </a:p>
          <a:p>
            <a:pPr marL="342900" indent="-342900">
              <a:buSzPct val="100000"/>
              <a:buChar char="•"/>
            </a:pPr>
            <a:r>
              <a:rPr lang="en-US" sz="1300" dirty="0">
                <a:solidFill>
                  <a:srgbClr val="1B365D"/>
                </a:solidFill>
                <a:latin typeface="Arial" pitchFamily="34" charset="0"/>
                <a:ea typeface="Arial" pitchFamily="34" charset="-122"/>
                <a:cs typeface="Arial" pitchFamily="34" charset="-120"/>
              </a:rPr>
              <a:t>Limited competitive intelligence</a:t>
            </a:r>
            <a:endParaRPr lang="en-US" sz="1300" dirty="0"/>
          </a:p>
        </p:txBody>
      </p:sp>
      <p:sp>
        <p:nvSpPr>
          <p:cNvPr id="7" name="Shape 5"/>
          <p:cNvSpPr/>
          <p:nvPr/>
        </p:nvSpPr>
        <p:spPr>
          <a:xfrm>
            <a:off x="4846320" y="1188720"/>
            <a:ext cx="3840480" cy="3383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8" name="Shape 6"/>
          <p:cNvSpPr/>
          <p:nvPr/>
        </p:nvSpPr>
        <p:spPr>
          <a:xfrm>
            <a:off x="4846320" y="1188720"/>
            <a:ext cx="54864" cy="3383280"/>
          </a:xfrm>
          <a:prstGeom prst="rect">
            <a:avLst/>
          </a:prstGeom>
          <a:solidFill>
            <a:srgbClr val="C4A35A"/>
          </a:solidFill>
          <a:ln/>
        </p:spPr>
      </p:sp>
      <p:sp>
        <p:nvSpPr>
          <p:cNvPr id="9" name="Text 7"/>
          <p:cNvSpPr/>
          <p:nvPr/>
        </p:nvSpPr>
        <p:spPr>
          <a:xfrm>
            <a:off x="5120640" y="1325880"/>
            <a:ext cx="3474720" cy="365760"/>
          </a:xfrm>
          <a:prstGeom prst="rect">
            <a:avLst/>
          </a:prstGeom>
          <a:noFill/>
          <a:ln/>
        </p:spPr>
        <p:txBody>
          <a:bodyPr wrap="square" rtlCol="0" anchor="ctr"/>
          <a:lstStyle/>
          <a:p>
            <a:pPr indent="0" marL="0">
              <a:buNone/>
            </a:pPr>
            <a:r>
              <a:rPr lang="en-US" sz="1300" b="1" dirty="0">
                <a:solidFill>
                  <a:srgbClr val="C4A35A"/>
                </a:solidFill>
                <a:latin typeface="Arial" pitchFamily="34" charset="0"/>
                <a:ea typeface="Arial" pitchFamily="34" charset="-122"/>
                <a:cs typeface="Arial" pitchFamily="34" charset="-120"/>
              </a:rPr>
              <a:t>AI-AUGMENTED APPROACH</a:t>
            </a:r>
            <a:endParaRPr lang="en-US" sz="1300" dirty="0"/>
          </a:p>
        </p:txBody>
      </p:sp>
      <p:sp>
        <p:nvSpPr>
          <p:cNvPr id="10" name="Shape 8"/>
          <p:cNvSpPr/>
          <p:nvPr/>
        </p:nvSpPr>
        <p:spPr>
          <a:xfrm>
            <a:off x="5120640" y="1691640"/>
            <a:ext cx="1371600" cy="27432"/>
          </a:xfrm>
          <a:prstGeom prst="rect">
            <a:avLst/>
          </a:prstGeom>
          <a:solidFill>
            <a:srgbClr val="C4A35A"/>
          </a:solidFill>
          <a:ln/>
        </p:spPr>
      </p:sp>
      <p:sp>
        <p:nvSpPr>
          <p:cNvPr id="11" name="Text 9"/>
          <p:cNvSpPr/>
          <p:nvPr/>
        </p:nvSpPr>
        <p:spPr>
          <a:xfrm>
            <a:off x="5120640" y="1828800"/>
            <a:ext cx="3474720" cy="2560320"/>
          </a:xfrm>
          <a:prstGeom prst="rect">
            <a:avLst/>
          </a:prstGeom>
          <a:noFill/>
          <a:ln/>
        </p:spPr>
        <p:txBody>
          <a:bodyPr wrap="square" rtlCol="0" anchor="t"/>
          <a:lstStyle/>
          <a:p>
            <a:pPr marL="342900" indent="-342900">
              <a:spcAft>
                <a:spcPts val="800"/>
              </a:spcAft>
              <a:buSzPct val="100000"/>
              <a:buChar char="•"/>
            </a:pPr>
            <a:r>
              <a:rPr lang="en-US" sz="1300" dirty="0">
                <a:solidFill>
                  <a:srgbClr val="1B365D"/>
                </a:solidFill>
                <a:latin typeface="Arial" pitchFamily="34" charset="0"/>
                <a:ea typeface="Arial" pitchFamily="34" charset="-122"/>
                <a:cs typeface="Arial" pitchFamily="34" charset="-120"/>
              </a:rPr>
              <a:t>40+ concepts from AI-powered discovery</a:t>
            </a:r>
            <a:endParaRPr lang="en-US" sz="1300" dirty="0"/>
          </a:p>
          <a:p>
            <a:pPr marL="342900" indent="-342900">
              <a:spcAft>
                <a:spcPts val="800"/>
              </a:spcAft>
              <a:buSzPct val="100000"/>
              <a:buChar char="•"/>
            </a:pPr>
            <a:r>
              <a:rPr lang="en-US" sz="1300" dirty="0">
                <a:solidFill>
                  <a:srgbClr val="1B365D"/>
                </a:solidFill>
                <a:latin typeface="Arial" pitchFamily="34" charset="0"/>
                <a:ea typeface="Arial" pitchFamily="34" charset="-122"/>
                <a:cs typeface="Arial" pitchFamily="34" charset="-120"/>
              </a:rPr>
              <a:t>Rapid deep research across platforms</a:t>
            </a:r>
            <a:endParaRPr lang="en-US" sz="1300" dirty="0"/>
          </a:p>
          <a:p>
            <a:pPr marL="342900" indent="-342900">
              <a:spcAft>
                <a:spcPts val="800"/>
              </a:spcAft>
              <a:buSzPct val="100000"/>
              <a:buChar char="•"/>
            </a:pPr>
            <a:r>
              <a:rPr lang="en-US" sz="1300" dirty="0">
                <a:solidFill>
                  <a:srgbClr val="1B365D"/>
                </a:solidFill>
                <a:latin typeface="Arial" pitchFamily="34" charset="0"/>
                <a:ea typeface="Arial" pitchFamily="34" charset="-122"/>
                <a:cs typeface="Arial" pitchFamily="34" charset="-120"/>
              </a:rPr>
              <a:t>Custom rubric tied to YOUR strategy</a:t>
            </a:r>
            <a:endParaRPr lang="en-US" sz="1300" dirty="0"/>
          </a:p>
          <a:p>
            <a:pPr marL="342900" indent="-342900">
              <a:spcAft>
                <a:spcPts val="800"/>
              </a:spcAft>
              <a:buSzPct val="100000"/>
              <a:buChar char="•"/>
            </a:pPr>
            <a:r>
              <a:rPr lang="en-US" sz="1300" dirty="0">
                <a:solidFill>
                  <a:srgbClr val="1B365D"/>
                </a:solidFill>
                <a:latin typeface="Arial" pitchFamily="34" charset="0"/>
                <a:ea typeface="Arial" pitchFamily="34" charset="-122"/>
                <a:cs typeface="Arial" pitchFamily="34" charset="-120"/>
              </a:rPr>
              <a:t>Data-driven scoring with clear thresholds</a:t>
            </a:r>
            <a:endParaRPr lang="en-US" sz="1300" dirty="0"/>
          </a:p>
          <a:p>
            <a:pPr marL="342900" indent="-342900">
              <a:buSzPct val="100000"/>
              <a:buChar char="•"/>
            </a:pPr>
            <a:r>
              <a:rPr lang="en-US" sz="1300" dirty="0">
                <a:solidFill>
                  <a:srgbClr val="1B365D"/>
                </a:solidFill>
                <a:latin typeface="Arial" pitchFamily="34" charset="0"/>
                <a:ea typeface="Arial" pitchFamily="34" charset="-122"/>
                <a:cs typeface="Arial" pitchFamily="34" charset="-120"/>
              </a:rPr>
              <a:t>Multi-model validation (LLM Council)</a:t>
            </a:r>
            <a:endParaRPr lang="en-US" sz="1300" dirty="0"/>
          </a:p>
        </p:txBody>
      </p:sp>
      <p:sp>
        <p:nvSpPr>
          <p:cNvPr id="12" name="Text 10"/>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400" b="1" dirty="0">
                <a:solidFill>
                  <a:srgbClr val="1B365D"/>
                </a:solidFill>
                <a:latin typeface="Georgia" pitchFamily="34" charset="0"/>
                <a:ea typeface="Georgia" pitchFamily="34" charset="-122"/>
                <a:cs typeface="Georgia" pitchFamily="34" charset="-120"/>
              </a:rPr>
              <a:t>Your AI Toolkit</a:t>
            </a:r>
            <a:endParaRPr lang="en-US" sz="34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300" i="1" dirty="0">
                <a:solidFill>
                  <a:srgbClr val="5A5A5A"/>
                </a:solidFill>
                <a:latin typeface="Georgia" pitchFamily="34" charset="0"/>
                <a:ea typeface="Georgia" pitchFamily="34" charset="-122"/>
                <a:cs typeface="Georgia" pitchFamily="34" charset="-120"/>
              </a:rPr>
              <a:t>Setup instructions in the companion video — link in Canvas</a:t>
            </a:r>
            <a:endParaRPr lang="en-US" sz="1300" dirty="0"/>
          </a:p>
        </p:txBody>
      </p:sp>
      <p:sp>
        <p:nvSpPr>
          <p:cNvPr id="4" name="Shape 2"/>
          <p:cNvSpPr/>
          <p:nvPr/>
        </p:nvSpPr>
        <p:spPr>
          <a:xfrm>
            <a:off x="457200" y="1234440"/>
            <a:ext cx="393192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457200" y="1234440"/>
            <a:ext cx="54864" cy="1051560"/>
          </a:xfrm>
          <a:prstGeom prst="rect">
            <a:avLst/>
          </a:prstGeom>
          <a:solidFill>
            <a:srgbClr val="C4A35A"/>
          </a:solidFill>
          <a:ln/>
        </p:spPr>
      </p:sp>
      <p:sp>
        <p:nvSpPr>
          <p:cNvPr id="6" name="Text 4"/>
          <p:cNvSpPr/>
          <p:nvPr/>
        </p:nvSpPr>
        <p:spPr>
          <a:xfrm>
            <a:off x="640080" y="1325880"/>
            <a:ext cx="2286000" cy="320040"/>
          </a:xfrm>
          <a:prstGeom prst="rect">
            <a:avLst/>
          </a:prstGeom>
          <a:noFill/>
          <a:ln/>
        </p:spPr>
        <p:txBody>
          <a:bodyPr wrap="square" rtlCol="0" anchor="ctr"/>
          <a:lstStyle/>
          <a:p>
            <a:pPr indent="0" marL="0">
              <a:buNone/>
            </a:pPr>
            <a:r>
              <a:rPr lang="en-US" sz="1500" b="1" dirty="0">
                <a:solidFill>
                  <a:srgbClr val="1B365D"/>
                </a:solidFill>
                <a:latin typeface="Arial" pitchFamily="34" charset="0"/>
                <a:ea typeface="Arial" pitchFamily="34" charset="-122"/>
                <a:cs typeface="Arial" pitchFamily="34" charset="-120"/>
              </a:rPr>
              <a:t>Claude Opus 4.5</a:t>
            </a:r>
            <a:endParaRPr lang="en-US" sz="1500" dirty="0"/>
          </a:p>
        </p:txBody>
      </p:sp>
      <p:sp>
        <p:nvSpPr>
          <p:cNvPr id="7" name="Text 5"/>
          <p:cNvSpPr/>
          <p:nvPr/>
        </p:nvSpPr>
        <p:spPr>
          <a:xfrm>
            <a:off x="640080" y="1618488"/>
            <a:ext cx="3566160" cy="27432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Orchestrator &amp; primary AI</a:t>
            </a:r>
            <a:endParaRPr lang="en-US" sz="1100" dirty="0"/>
          </a:p>
        </p:txBody>
      </p:sp>
      <p:sp>
        <p:nvSpPr>
          <p:cNvPr id="8" name="Text 6"/>
          <p:cNvSpPr/>
          <p:nvPr/>
        </p:nvSpPr>
        <p:spPr>
          <a:xfrm>
            <a:off x="640080" y="1874520"/>
            <a:ext cx="3566160" cy="320040"/>
          </a:xfrm>
          <a:prstGeom prst="rect">
            <a:avLst/>
          </a:prstGeom>
          <a:noFill/>
          <a:ln/>
        </p:spPr>
        <p:txBody>
          <a:bodyPr wrap="square" rtlCol="0" anchor="ctr"/>
          <a:lstStyle/>
          <a:p>
            <a:pPr indent="0" marL="0">
              <a:buNone/>
            </a:pPr>
            <a:r>
              <a:rPr lang="en-US" sz="1100" dirty="0">
                <a:solidFill>
                  <a:srgbClr val="5A5A5A"/>
                </a:solidFill>
                <a:latin typeface="Arial" pitchFamily="34" charset="0"/>
                <a:ea typeface="Arial" pitchFamily="34" charset="-122"/>
                <a:cs typeface="Arial" pitchFamily="34" charset="-120"/>
              </a:rPr>
              <a:t>Runs skills, interviews, rubric creation, evaluation</a:t>
            </a:r>
            <a:endParaRPr lang="en-US" sz="1100" dirty="0"/>
          </a:p>
        </p:txBody>
      </p:sp>
      <p:sp>
        <p:nvSpPr>
          <p:cNvPr id="9" name="Shape 7"/>
          <p:cNvSpPr/>
          <p:nvPr/>
        </p:nvSpPr>
        <p:spPr>
          <a:xfrm>
            <a:off x="4754880" y="1234440"/>
            <a:ext cx="393192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234440"/>
            <a:ext cx="54864" cy="1051560"/>
          </a:xfrm>
          <a:prstGeom prst="rect">
            <a:avLst/>
          </a:prstGeom>
          <a:solidFill>
            <a:srgbClr val="C4A35A"/>
          </a:solidFill>
          <a:ln/>
        </p:spPr>
      </p:sp>
      <p:sp>
        <p:nvSpPr>
          <p:cNvPr id="11" name="Text 9"/>
          <p:cNvSpPr/>
          <p:nvPr/>
        </p:nvSpPr>
        <p:spPr>
          <a:xfrm>
            <a:off x="4937760" y="1325880"/>
            <a:ext cx="2286000" cy="320040"/>
          </a:xfrm>
          <a:prstGeom prst="rect">
            <a:avLst/>
          </a:prstGeom>
          <a:noFill/>
          <a:ln/>
        </p:spPr>
        <p:txBody>
          <a:bodyPr wrap="square" rtlCol="0" anchor="ctr"/>
          <a:lstStyle/>
          <a:p>
            <a:pPr indent="0" marL="0">
              <a:buNone/>
            </a:pPr>
            <a:r>
              <a:rPr lang="en-US" sz="1500" b="1" dirty="0">
                <a:solidFill>
                  <a:srgbClr val="1B365D"/>
                </a:solidFill>
                <a:latin typeface="Arial" pitchFamily="34" charset="0"/>
                <a:ea typeface="Arial" pitchFamily="34" charset="-122"/>
                <a:cs typeface="Arial" pitchFamily="34" charset="-120"/>
              </a:rPr>
              <a:t>Claude Code</a:t>
            </a:r>
            <a:endParaRPr lang="en-US" sz="1500" dirty="0"/>
          </a:p>
        </p:txBody>
      </p:sp>
      <p:sp>
        <p:nvSpPr>
          <p:cNvPr id="12" name="Text 10"/>
          <p:cNvSpPr/>
          <p:nvPr/>
        </p:nvSpPr>
        <p:spPr>
          <a:xfrm>
            <a:off x="4937760" y="1618488"/>
            <a:ext cx="3566160" cy="27432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Power-user terminal</a:t>
            </a:r>
            <a:endParaRPr lang="en-US" sz="1100" dirty="0"/>
          </a:p>
        </p:txBody>
      </p:sp>
      <p:sp>
        <p:nvSpPr>
          <p:cNvPr id="13" name="Text 11"/>
          <p:cNvSpPr/>
          <p:nvPr/>
        </p:nvSpPr>
        <p:spPr>
          <a:xfrm>
            <a:off x="4937760" y="1874520"/>
            <a:ext cx="3566160" cy="320040"/>
          </a:xfrm>
          <a:prstGeom prst="rect">
            <a:avLst/>
          </a:prstGeom>
          <a:noFill/>
          <a:ln/>
        </p:spPr>
        <p:txBody>
          <a:bodyPr wrap="square" rtlCol="0" anchor="ctr"/>
          <a:lstStyle/>
          <a:p>
            <a:pPr indent="0" marL="0">
              <a:buNone/>
            </a:pPr>
            <a:r>
              <a:rPr lang="en-US" sz="1100" dirty="0">
                <a:solidFill>
                  <a:srgbClr val="5A5A5A"/>
                </a:solidFill>
                <a:latin typeface="Arial" pitchFamily="34" charset="0"/>
                <a:ea typeface="Arial" pitchFamily="34" charset="-122"/>
                <a:cs typeface="Arial" pitchFamily="34" charset="-120"/>
              </a:rPr>
              <a:t>Sub-agents, MCP servers, automated workflows</a:t>
            </a:r>
            <a:endParaRPr lang="en-US" sz="1100" dirty="0"/>
          </a:p>
        </p:txBody>
      </p:sp>
      <p:sp>
        <p:nvSpPr>
          <p:cNvPr id="14" name="Shape 12"/>
          <p:cNvSpPr/>
          <p:nvPr/>
        </p:nvSpPr>
        <p:spPr>
          <a:xfrm>
            <a:off x="457200" y="2468880"/>
            <a:ext cx="393192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2468880"/>
            <a:ext cx="54864" cy="1051560"/>
          </a:xfrm>
          <a:prstGeom prst="rect">
            <a:avLst/>
          </a:prstGeom>
          <a:solidFill>
            <a:srgbClr val="C4A35A"/>
          </a:solidFill>
          <a:ln/>
        </p:spPr>
      </p:sp>
      <p:sp>
        <p:nvSpPr>
          <p:cNvPr id="16" name="Text 14"/>
          <p:cNvSpPr/>
          <p:nvPr/>
        </p:nvSpPr>
        <p:spPr>
          <a:xfrm>
            <a:off x="640080" y="2560320"/>
            <a:ext cx="2286000" cy="320040"/>
          </a:xfrm>
          <a:prstGeom prst="rect">
            <a:avLst/>
          </a:prstGeom>
          <a:noFill/>
          <a:ln/>
        </p:spPr>
        <p:txBody>
          <a:bodyPr wrap="square" rtlCol="0" anchor="ctr"/>
          <a:lstStyle/>
          <a:p>
            <a:pPr indent="0" marL="0">
              <a:buNone/>
            </a:pPr>
            <a:r>
              <a:rPr lang="en-US" sz="1500" b="1" dirty="0">
                <a:solidFill>
                  <a:srgbClr val="1B365D"/>
                </a:solidFill>
                <a:latin typeface="Arial" pitchFamily="34" charset="0"/>
                <a:ea typeface="Arial" pitchFamily="34" charset="-122"/>
                <a:cs typeface="Arial" pitchFamily="34" charset="-120"/>
              </a:rPr>
              <a:t>NotebookLM</a:t>
            </a:r>
            <a:endParaRPr lang="en-US" sz="1500" dirty="0"/>
          </a:p>
        </p:txBody>
      </p:sp>
      <p:sp>
        <p:nvSpPr>
          <p:cNvPr id="17" name="Text 15"/>
          <p:cNvSpPr/>
          <p:nvPr/>
        </p:nvSpPr>
        <p:spPr>
          <a:xfrm>
            <a:off x="640080" y="2852928"/>
            <a:ext cx="3566160" cy="27432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Research repository</a:t>
            </a:r>
            <a:endParaRPr lang="en-US" sz="1100" dirty="0"/>
          </a:p>
        </p:txBody>
      </p:sp>
      <p:sp>
        <p:nvSpPr>
          <p:cNvPr id="18" name="Text 16"/>
          <p:cNvSpPr/>
          <p:nvPr/>
        </p:nvSpPr>
        <p:spPr>
          <a:xfrm>
            <a:off x="640080" y="3108960"/>
            <a:ext cx="3566160" cy="320040"/>
          </a:xfrm>
          <a:prstGeom prst="rect">
            <a:avLst/>
          </a:prstGeom>
          <a:noFill/>
          <a:ln/>
        </p:spPr>
        <p:txBody>
          <a:bodyPr wrap="square" rtlCol="0" anchor="ctr"/>
          <a:lstStyle/>
          <a:p>
            <a:pPr indent="0" marL="0">
              <a:buNone/>
            </a:pPr>
            <a:r>
              <a:rPr lang="en-US" sz="1100" dirty="0">
                <a:solidFill>
                  <a:srgbClr val="5A5A5A"/>
                </a:solidFill>
                <a:latin typeface="Arial" pitchFamily="34" charset="0"/>
                <a:ea typeface="Arial" pitchFamily="34" charset="-122"/>
                <a:cs typeface="Arial" pitchFamily="34" charset="-120"/>
              </a:rPr>
              <a:t>Deep Research, source management, follow-up chains</a:t>
            </a:r>
            <a:endParaRPr lang="en-US" sz="1100" dirty="0"/>
          </a:p>
        </p:txBody>
      </p:sp>
      <p:sp>
        <p:nvSpPr>
          <p:cNvPr id="19" name="Shape 17"/>
          <p:cNvSpPr/>
          <p:nvPr/>
        </p:nvSpPr>
        <p:spPr>
          <a:xfrm>
            <a:off x="4754880" y="2468880"/>
            <a:ext cx="393192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4754880" y="2468880"/>
            <a:ext cx="54864" cy="1051560"/>
          </a:xfrm>
          <a:prstGeom prst="rect">
            <a:avLst/>
          </a:prstGeom>
          <a:solidFill>
            <a:srgbClr val="C4A35A"/>
          </a:solidFill>
          <a:ln/>
        </p:spPr>
      </p:sp>
      <p:sp>
        <p:nvSpPr>
          <p:cNvPr id="21" name="Text 19"/>
          <p:cNvSpPr/>
          <p:nvPr/>
        </p:nvSpPr>
        <p:spPr>
          <a:xfrm>
            <a:off x="4937760" y="2560320"/>
            <a:ext cx="2286000" cy="320040"/>
          </a:xfrm>
          <a:prstGeom prst="rect">
            <a:avLst/>
          </a:prstGeom>
          <a:noFill/>
          <a:ln/>
        </p:spPr>
        <p:txBody>
          <a:bodyPr wrap="square" rtlCol="0" anchor="ctr"/>
          <a:lstStyle/>
          <a:p>
            <a:pPr indent="0" marL="0">
              <a:buNone/>
            </a:pPr>
            <a:r>
              <a:rPr lang="en-US" sz="1500" b="1" dirty="0">
                <a:solidFill>
                  <a:srgbClr val="1B365D"/>
                </a:solidFill>
                <a:latin typeface="Arial" pitchFamily="34" charset="0"/>
                <a:ea typeface="Arial" pitchFamily="34" charset="-122"/>
                <a:cs typeface="Arial" pitchFamily="34" charset="-120"/>
              </a:rPr>
              <a:t>Perplexity Pro</a:t>
            </a:r>
            <a:endParaRPr lang="en-US" sz="1500" dirty="0"/>
          </a:p>
        </p:txBody>
      </p:sp>
      <p:sp>
        <p:nvSpPr>
          <p:cNvPr id="22" name="Text 20"/>
          <p:cNvSpPr/>
          <p:nvPr/>
        </p:nvSpPr>
        <p:spPr>
          <a:xfrm>
            <a:off x="4937760" y="2852928"/>
            <a:ext cx="3566160" cy="27432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Real-time research</a:t>
            </a:r>
            <a:endParaRPr lang="en-US" sz="1100" dirty="0"/>
          </a:p>
        </p:txBody>
      </p:sp>
      <p:sp>
        <p:nvSpPr>
          <p:cNvPr id="23" name="Text 21"/>
          <p:cNvSpPr/>
          <p:nvPr/>
        </p:nvSpPr>
        <p:spPr>
          <a:xfrm>
            <a:off x="4937760" y="3108960"/>
            <a:ext cx="3566160" cy="320040"/>
          </a:xfrm>
          <a:prstGeom prst="rect">
            <a:avLst/>
          </a:prstGeom>
          <a:noFill/>
          <a:ln/>
        </p:spPr>
        <p:txBody>
          <a:bodyPr wrap="square" rtlCol="0" anchor="ctr"/>
          <a:lstStyle/>
          <a:p>
            <a:pPr indent="0" marL="0">
              <a:buNone/>
            </a:pPr>
            <a:r>
              <a:rPr lang="en-US" sz="1100" dirty="0">
                <a:solidFill>
                  <a:srgbClr val="5A5A5A"/>
                </a:solidFill>
                <a:latin typeface="Arial" pitchFamily="34" charset="0"/>
                <a:ea typeface="Arial" pitchFamily="34" charset="-122"/>
                <a:cs typeface="Arial" pitchFamily="34" charset="-120"/>
              </a:rPr>
              <a:t>Current data, citations, follow-up questions</a:t>
            </a:r>
            <a:endParaRPr lang="en-US" sz="1100" dirty="0"/>
          </a:p>
        </p:txBody>
      </p:sp>
      <p:sp>
        <p:nvSpPr>
          <p:cNvPr id="24" name="Shape 22"/>
          <p:cNvSpPr/>
          <p:nvPr/>
        </p:nvSpPr>
        <p:spPr>
          <a:xfrm>
            <a:off x="457200" y="3703320"/>
            <a:ext cx="393192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5" name="Shape 23"/>
          <p:cNvSpPr/>
          <p:nvPr/>
        </p:nvSpPr>
        <p:spPr>
          <a:xfrm>
            <a:off x="457200" y="3703320"/>
            <a:ext cx="54864" cy="1051560"/>
          </a:xfrm>
          <a:prstGeom prst="rect">
            <a:avLst/>
          </a:prstGeom>
          <a:solidFill>
            <a:srgbClr val="C4A35A"/>
          </a:solidFill>
          <a:ln/>
        </p:spPr>
      </p:sp>
      <p:sp>
        <p:nvSpPr>
          <p:cNvPr id="26" name="Text 24"/>
          <p:cNvSpPr/>
          <p:nvPr/>
        </p:nvSpPr>
        <p:spPr>
          <a:xfrm>
            <a:off x="640080" y="3794760"/>
            <a:ext cx="2286000" cy="320040"/>
          </a:xfrm>
          <a:prstGeom prst="rect">
            <a:avLst/>
          </a:prstGeom>
          <a:noFill/>
          <a:ln/>
        </p:spPr>
        <p:txBody>
          <a:bodyPr wrap="square" rtlCol="0" anchor="ctr"/>
          <a:lstStyle/>
          <a:p>
            <a:pPr indent="0" marL="0">
              <a:buNone/>
            </a:pPr>
            <a:r>
              <a:rPr lang="en-US" sz="1500" b="1" dirty="0">
                <a:solidFill>
                  <a:srgbClr val="1B365D"/>
                </a:solidFill>
                <a:latin typeface="Arial" pitchFamily="34" charset="0"/>
                <a:ea typeface="Arial" pitchFamily="34" charset="-122"/>
                <a:cs typeface="Arial" pitchFamily="34" charset="-120"/>
              </a:rPr>
              <a:t>Gemini 2.5 Pro</a:t>
            </a:r>
            <a:endParaRPr lang="en-US" sz="1500" dirty="0"/>
          </a:p>
        </p:txBody>
      </p:sp>
      <p:sp>
        <p:nvSpPr>
          <p:cNvPr id="27" name="Text 25"/>
          <p:cNvSpPr/>
          <p:nvPr/>
        </p:nvSpPr>
        <p:spPr>
          <a:xfrm>
            <a:off x="640080" y="4087368"/>
            <a:ext cx="3566160" cy="27432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Second opinion AI</a:t>
            </a:r>
            <a:endParaRPr lang="en-US" sz="1100" dirty="0"/>
          </a:p>
        </p:txBody>
      </p:sp>
      <p:sp>
        <p:nvSpPr>
          <p:cNvPr id="28" name="Text 26"/>
          <p:cNvSpPr/>
          <p:nvPr/>
        </p:nvSpPr>
        <p:spPr>
          <a:xfrm>
            <a:off x="640080" y="4343400"/>
            <a:ext cx="3566160" cy="320040"/>
          </a:xfrm>
          <a:prstGeom prst="rect">
            <a:avLst/>
          </a:prstGeom>
          <a:noFill/>
          <a:ln/>
        </p:spPr>
        <p:txBody>
          <a:bodyPr wrap="square" rtlCol="0" anchor="ctr"/>
          <a:lstStyle/>
          <a:p>
            <a:pPr indent="0" marL="0">
              <a:buNone/>
            </a:pPr>
            <a:r>
              <a:rPr lang="en-US" sz="1100" dirty="0">
                <a:solidFill>
                  <a:srgbClr val="5A5A5A"/>
                </a:solidFill>
                <a:latin typeface="Arial" pitchFamily="34" charset="0"/>
                <a:ea typeface="Arial" pitchFamily="34" charset="-122"/>
                <a:cs typeface="Arial" pitchFamily="34" charset="-120"/>
              </a:rPr>
              <a:t>Via AI Studio — validates findings, LLM Council</a:t>
            </a:r>
            <a:endParaRPr lang="en-US" sz="1100" dirty="0"/>
          </a:p>
        </p:txBody>
      </p:sp>
      <p:sp>
        <p:nvSpPr>
          <p:cNvPr id="29" name="Shape 27"/>
          <p:cNvSpPr/>
          <p:nvPr/>
        </p:nvSpPr>
        <p:spPr>
          <a:xfrm>
            <a:off x="4754880" y="3703320"/>
            <a:ext cx="393192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0" name="Shape 28"/>
          <p:cNvSpPr/>
          <p:nvPr/>
        </p:nvSpPr>
        <p:spPr>
          <a:xfrm>
            <a:off x="4754880" y="3703320"/>
            <a:ext cx="54864" cy="1051560"/>
          </a:xfrm>
          <a:prstGeom prst="rect">
            <a:avLst/>
          </a:prstGeom>
          <a:solidFill>
            <a:srgbClr val="C4A35A"/>
          </a:solidFill>
          <a:ln/>
        </p:spPr>
      </p:sp>
      <p:sp>
        <p:nvSpPr>
          <p:cNvPr id="31" name="Text 29"/>
          <p:cNvSpPr/>
          <p:nvPr/>
        </p:nvSpPr>
        <p:spPr>
          <a:xfrm>
            <a:off x="4937760" y="3794760"/>
            <a:ext cx="2286000" cy="320040"/>
          </a:xfrm>
          <a:prstGeom prst="rect">
            <a:avLst/>
          </a:prstGeom>
          <a:noFill/>
          <a:ln/>
        </p:spPr>
        <p:txBody>
          <a:bodyPr wrap="square" rtlCol="0" anchor="ctr"/>
          <a:lstStyle/>
          <a:p>
            <a:pPr indent="0" marL="0">
              <a:buNone/>
            </a:pPr>
            <a:r>
              <a:rPr lang="en-US" sz="1500" b="1" dirty="0">
                <a:solidFill>
                  <a:srgbClr val="1B365D"/>
                </a:solidFill>
                <a:latin typeface="Arial" pitchFamily="34" charset="0"/>
                <a:ea typeface="Arial" pitchFamily="34" charset="-122"/>
                <a:cs typeface="Arial" pitchFamily="34" charset="-120"/>
              </a:rPr>
              <a:t>NotebookLM MCP</a:t>
            </a:r>
            <a:endParaRPr lang="en-US" sz="1500" dirty="0"/>
          </a:p>
        </p:txBody>
      </p:sp>
      <p:sp>
        <p:nvSpPr>
          <p:cNvPr id="32" name="Text 30"/>
          <p:cNvSpPr/>
          <p:nvPr/>
        </p:nvSpPr>
        <p:spPr>
          <a:xfrm>
            <a:off x="4937760" y="4087368"/>
            <a:ext cx="3566160" cy="27432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Automation bridge</a:t>
            </a:r>
            <a:endParaRPr lang="en-US" sz="1100" dirty="0"/>
          </a:p>
        </p:txBody>
      </p:sp>
      <p:sp>
        <p:nvSpPr>
          <p:cNvPr id="33" name="Text 31"/>
          <p:cNvSpPr/>
          <p:nvPr/>
        </p:nvSpPr>
        <p:spPr>
          <a:xfrm>
            <a:off x="4937760" y="4343400"/>
            <a:ext cx="3566160" cy="320040"/>
          </a:xfrm>
          <a:prstGeom prst="rect">
            <a:avLst/>
          </a:prstGeom>
          <a:noFill/>
          <a:ln/>
        </p:spPr>
        <p:txBody>
          <a:bodyPr wrap="square" rtlCol="0" anchor="ctr"/>
          <a:lstStyle/>
          <a:p>
            <a:pPr indent="0" marL="0">
              <a:buNone/>
            </a:pPr>
            <a:r>
              <a:rPr lang="en-US" sz="1100" dirty="0">
                <a:solidFill>
                  <a:srgbClr val="5A5A5A"/>
                </a:solidFill>
                <a:latin typeface="Arial" pitchFamily="34" charset="0"/>
                <a:ea typeface="Arial" pitchFamily="34" charset="-122"/>
                <a:cs typeface="Arial" pitchFamily="34" charset="-120"/>
              </a:rPr>
              <a:t>Claude creates notebooks and runs research directly</a:t>
            </a:r>
            <a:endParaRPr lang="en-US" sz="1100" dirty="0"/>
          </a:p>
        </p:txBody>
      </p:sp>
      <p:sp>
        <p:nvSpPr>
          <p:cNvPr id="34" name="Text 32"/>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400" b="1" dirty="0">
                <a:solidFill>
                  <a:srgbClr val="1B365D"/>
                </a:solidFill>
                <a:latin typeface="Georgia" pitchFamily="34" charset="0"/>
                <a:ea typeface="Georgia" pitchFamily="34" charset="-122"/>
                <a:cs typeface="Georgia" pitchFamily="34" charset="-120"/>
              </a:rPr>
              <a:t>How the System Works</a:t>
            </a:r>
            <a:endParaRPr lang="en-US" sz="34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400" i="1" dirty="0">
                <a:solidFill>
                  <a:srgbClr val="5A5A5A"/>
                </a:solidFill>
                <a:latin typeface="Georgia" pitchFamily="34" charset="0"/>
                <a:ea typeface="Georgia" pitchFamily="34" charset="-122"/>
                <a:cs typeface="Georgia" pitchFamily="34" charset="-120"/>
              </a:rPr>
              <a:t>One orchestrator, seven phase-specific skills</a:t>
            </a:r>
            <a:endParaRPr lang="en-US" sz="1400" dirty="0"/>
          </a:p>
        </p:txBody>
      </p:sp>
      <p:sp>
        <p:nvSpPr>
          <p:cNvPr id="4" name="Shape 2"/>
          <p:cNvSpPr/>
          <p:nvPr/>
        </p:nvSpPr>
        <p:spPr>
          <a:xfrm>
            <a:off x="2926080" y="1280160"/>
            <a:ext cx="3291840" cy="914400"/>
          </a:xfrm>
          <a:prstGeom prst="rect">
            <a:avLst/>
          </a:prstGeom>
          <a:solidFill>
            <a:srgbClr val="1B365D"/>
          </a:solidFill>
          <a:ln/>
          <a:effectLst>
            <a:outerShdw sx="100000" sy="100000" kx="0" ky="0" algn="bl" rotWithShape="0" blurRad="50800" dist="25400" dir="8100000">
              <a:srgbClr val="000000">
                <a:alpha val="10000"/>
              </a:srgbClr>
            </a:outerShdw>
          </a:effectLst>
        </p:spPr>
      </p:sp>
      <p:sp>
        <p:nvSpPr>
          <p:cNvPr id="5" name="Text 3"/>
          <p:cNvSpPr/>
          <p:nvPr/>
        </p:nvSpPr>
        <p:spPr>
          <a:xfrm>
            <a:off x="2926080" y="1280160"/>
            <a:ext cx="3291840" cy="457200"/>
          </a:xfrm>
          <a:prstGeom prst="rect">
            <a:avLst/>
          </a:prstGeom>
          <a:noFill/>
          <a:ln/>
        </p:spPr>
        <p:txBody>
          <a:bodyPr wrap="square" rtlCol="0" anchor="ctr"/>
          <a:lstStyle/>
          <a:p>
            <a:pPr algn="ctr" indent="0" marL="0">
              <a:buNone/>
            </a:pPr>
            <a:r>
              <a:rPr lang="en-US" sz="1400" b="1" dirty="0">
                <a:solidFill>
                  <a:srgbClr val="C4A35A"/>
                </a:solidFill>
                <a:latin typeface="Arial" pitchFamily="34" charset="0"/>
                <a:ea typeface="Arial" pitchFamily="34" charset="-122"/>
                <a:cs typeface="Arial" pitchFamily="34" charset="-120"/>
              </a:rPr>
              <a:t>ORCHESTRATOR SKILL</a:t>
            </a:r>
            <a:endParaRPr lang="en-US" sz="1400" dirty="0"/>
          </a:p>
        </p:txBody>
      </p:sp>
      <p:sp>
        <p:nvSpPr>
          <p:cNvPr id="6" name="Text 4"/>
          <p:cNvSpPr/>
          <p:nvPr/>
        </p:nvSpPr>
        <p:spPr>
          <a:xfrm>
            <a:off x="2926080" y="1691640"/>
            <a:ext cx="3291840" cy="411480"/>
          </a:xfrm>
          <a:prstGeom prst="rect">
            <a:avLst/>
          </a:prstGeom>
          <a:noFill/>
          <a:ln/>
        </p:spPr>
        <p:txBody>
          <a:bodyPr wrap="square" rtlCol="0" anchor="t"/>
          <a:lstStyle/>
          <a:p>
            <a:pPr algn="ctr" indent="0" marL="0">
              <a:buNone/>
            </a:pPr>
            <a:r>
              <a:rPr lang="en-US" sz="1100" dirty="0">
                <a:solidFill>
                  <a:srgbClr val="FFFFFF"/>
                </a:solidFill>
                <a:latin typeface="Arial" pitchFamily="34" charset="0"/>
                <a:ea typeface="Arial" pitchFamily="34" charset="-122"/>
                <a:cs typeface="Arial" pitchFamily="34" charset="-120"/>
              </a:rPr>
              <a:t>Tracks progress, hands off to phase skills</a:t>
            </a:r>
            <a:endParaRPr lang="en-US" sz="1100" dirty="0"/>
          </a:p>
        </p:txBody>
      </p:sp>
      <p:sp>
        <p:nvSpPr>
          <p:cNvPr id="7" name="Shape 5"/>
          <p:cNvSpPr/>
          <p:nvPr/>
        </p:nvSpPr>
        <p:spPr>
          <a:xfrm>
            <a:off x="777240" y="2194560"/>
            <a:ext cx="0" cy="457200"/>
          </a:xfrm>
          <a:prstGeom prst="line">
            <a:avLst/>
          </a:prstGeom>
          <a:noFill/>
          <a:ln w="19050">
            <a:solidFill>
              <a:srgbClr val="C4A35A"/>
            </a:solidFill>
            <a:prstDash val="solid"/>
          </a:ln>
        </p:spPr>
      </p:sp>
      <p:sp>
        <p:nvSpPr>
          <p:cNvPr id="8" name="Shape 6"/>
          <p:cNvSpPr/>
          <p:nvPr/>
        </p:nvSpPr>
        <p:spPr>
          <a:xfrm>
            <a:off x="274320" y="2651760"/>
            <a:ext cx="1051560" cy="822960"/>
          </a:xfrm>
          <a:prstGeom prst="rect">
            <a:avLst/>
          </a:prstGeom>
          <a:solidFill>
            <a:srgbClr val="FFFFFF"/>
          </a:solidFill>
          <a:ln w="19050">
            <a:solidFill>
              <a:srgbClr val="C4A35A"/>
            </a:solidFill>
            <a:prstDash val="solid"/>
          </a:ln>
          <a:effectLst>
            <a:outerShdw sx="100000" sy="100000" kx="0" ky="0" algn="bl" rotWithShape="0" blurRad="50800" dist="25400" dir="8100000">
              <a:srgbClr val="000000">
                <a:alpha val="10000"/>
              </a:srgbClr>
            </a:outerShdw>
          </a:effectLst>
        </p:spPr>
      </p:sp>
      <p:sp>
        <p:nvSpPr>
          <p:cNvPr id="9" name="Text 7"/>
          <p:cNvSpPr/>
          <p:nvPr/>
        </p:nvSpPr>
        <p:spPr>
          <a:xfrm>
            <a:off x="274320" y="2651760"/>
            <a:ext cx="1051560" cy="822960"/>
          </a:xfrm>
          <a:prstGeom prst="rect">
            <a:avLst/>
          </a:prstGeom>
          <a:noFill/>
          <a:ln/>
        </p:spPr>
        <p:txBody>
          <a:bodyPr wrap="square" rtlCol="0" anchor="ctr"/>
          <a:lstStyle/>
          <a:p>
            <a:pPr algn="ctr" indent="0" marL="0">
              <a:buNone/>
            </a:pPr>
            <a:r>
              <a:rPr lang="en-US" sz="1000" b="1" dirty="0">
                <a:solidFill>
                  <a:srgbClr val="1B365D"/>
                </a:solidFill>
                <a:latin typeface="Arial" pitchFamily="34" charset="0"/>
                <a:ea typeface="Arial" pitchFamily="34" charset="-122"/>
                <a:cs typeface="Arial" pitchFamily="34" charset="-120"/>
              </a:rPr>
              <a:t>P1</a:t>
            </a:r>
            <a:endParaRPr lang="en-US" sz="1000" dirty="0"/>
          </a:p>
          <a:p>
            <a:pPr algn="ctr" indent="0" marL="0">
              <a:buNone/>
            </a:pPr>
            <a:r>
              <a:rPr lang="en-US" sz="1000" b="1" dirty="0">
                <a:solidFill>
                  <a:srgbClr val="1B365D"/>
                </a:solidFill>
                <a:latin typeface="Arial" pitchFamily="34" charset="0"/>
                <a:ea typeface="Arial" pitchFamily="34" charset="-122"/>
                <a:cs typeface="Arial" pitchFamily="34" charset="-120"/>
              </a:rPr>
              <a:t>Strategy</a:t>
            </a:r>
            <a:endParaRPr lang="en-US" sz="1000" dirty="0"/>
          </a:p>
        </p:txBody>
      </p:sp>
      <p:sp>
        <p:nvSpPr>
          <p:cNvPr id="10" name="Shape 8"/>
          <p:cNvSpPr/>
          <p:nvPr/>
        </p:nvSpPr>
        <p:spPr>
          <a:xfrm>
            <a:off x="2029968" y="2194560"/>
            <a:ext cx="0" cy="457200"/>
          </a:xfrm>
          <a:prstGeom prst="line">
            <a:avLst/>
          </a:prstGeom>
          <a:noFill/>
          <a:ln w="19050">
            <a:solidFill>
              <a:srgbClr val="C4A35A"/>
            </a:solidFill>
            <a:prstDash val="solid"/>
          </a:ln>
        </p:spPr>
      </p:sp>
      <p:sp>
        <p:nvSpPr>
          <p:cNvPr id="11" name="Shape 9"/>
          <p:cNvSpPr/>
          <p:nvPr/>
        </p:nvSpPr>
        <p:spPr>
          <a:xfrm>
            <a:off x="1527048" y="2651760"/>
            <a:ext cx="1051560" cy="822960"/>
          </a:xfrm>
          <a:prstGeom prst="rect">
            <a:avLst/>
          </a:prstGeom>
          <a:solidFill>
            <a:srgbClr val="FFFFFF"/>
          </a:solidFill>
          <a:ln w="19050">
            <a:solidFill>
              <a:srgbClr val="C4A35A"/>
            </a:solidFill>
            <a:prstDash val="solid"/>
          </a:ln>
          <a:effectLst>
            <a:outerShdw sx="100000" sy="100000" kx="0" ky="0" algn="bl" rotWithShape="0" blurRad="50800" dist="25400" dir="8100000">
              <a:srgbClr val="000000">
                <a:alpha val="10000"/>
              </a:srgbClr>
            </a:outerShdw>
          </a:effectLst>
        </p:spPr>
      </p:sp>
      <p:sp>
        <p:nvSpPr>
          <p:cNvPr id="12" name="Text 10"/>
          <p:cNvSpPr/>
          <p:nvPr/>
        </p:nvSpPr>
        <p:spPr>
          <a:xfrm>
            <a:off x="1527048" y="2651760"/>
            <a:ext cx="1051560" cy="822960"/>
          </a:xfrm>
          <a:prstGeom prst="rect">
            <a:avLst/>
          </a:prstGeom>
          <a:noFill/>
          <a:ln/>
        </p:spPr>
        <p:txBody>
          <a:bodyPr wrap="square" rtlCol="0" anchor="ctr"/>
          <a:lstStyle/>
          <a:p>
            <a:pPr algn="ctr" indent="0" marL="0">
              <a:buNone/>
            </a:pPr>
            <a:r>
              <a:rPr lang="en-US" sz="1000" b="1" dirty="0">
                <a:solidFill>
                  <a:srgbClr val="1B365D"/>
                </a:solidFill>
                <a:latin typeface="Arial" pitchFamily="34" charset="0"/>
                <a:ea typeface="Arial" pitchFamily="34" charset="-122"/>
                <a:cs typeface="Arial" pitchFamily="34" charset="-120"/>
              </a:rPr>
              <a:t>P2</a:t>
            </a:r>
            <a:endParaRPr lang="en-US" sz="1000" dirty="0"/>
          </a:p>
          <a:p>
            <a:pPr algn="ctr" indent="0" marL="0">
              <a:buNone/>
            </a:pPr>
            <a:r>
              <a:rPr lang="en-US" sz="1000" b="1" dirty="0">
                <a:solidFill>
                  <a:srgbClr val="1B365D"/>
                </a:solidFill>
                <a:latin typeface="Arial" pitchFamily="34" charset="0"/>
                <a:ea typeface="Arial" pitchFamily="34" charset="-122"/>
                <a:cs typeface="Arial" pitchFamily="34" charset="-120"/>
              </a:rPr>
              <a:t>Rubric</a:t>
            </a:r>
            <a:endParaRPr lang="en-US" sz="1000" dirty="0"/>
          </a:p>
        </p:txBody>
      </p:sp>
      <p:sp>
        <p:nvSpPr>
          <p:cNvPr id="13" name="Shape 11"/>
          <p:cNvSpPr/>
          <p:nvPr/>
        </p:nvSpPr>
        <p:spPr>
          <a:xfrm>
            <a:off x="3282696" y="2194560"/>
            <a:ext cx="0" cy="457200"/>
          </a:xfrm>
          <a:prstGeom prst="line">
            <a:avLst/>
          </a:prstGeom>
          <a:noFill/>
          <a:ln w="19050">
            <a:solidFill>
              <a:srgbClr val="C4A35A"/>
            </a:solidFill>
            <a:prstDash val="solid"/>
          </a:ln>
        </p:spPr>
      </p:sp>
      <p:sp>
        <p:nvSpPr>
          <p:cNvPr id="14" name="Shape 12"/>
          <p:cNvSpPr/>
          <p:nvPr/>
        </p:nvSpPr>
        <p:spPr>
          <a:xfrm>
            <a:off x="2779776" y="2651760"/>
            <a:ext cx="1051560" cy="822960"/>
          </a:xfrm>
          <a:prstGeom prst="rect">
            <a:avLst/>
          </a:prstGeom>
          <a:solidFill>
            <a:srgbClr val="FFFFFF"/>
          </a:solidFill>
          <a:ln w="19050">
            <a:solidFill>
              <a:srgbClr val="C4A35A"/>
            </a:solidFill>
            <a:prstDash val="solid"/>
          </a:ln>
          <a:effectLst>
            <a:outerShdw sx="100000" sy="100000" kx="0" ky="0" algn="bl" rotWithShape="0" blurRad="50800" dist="25400" dir="8100000">
              <a:srgbClr val="000000">
                <a:alpha val="10000"/>
              </a:srgbClr>
            </a:outerShdw>
          </a:effectLst>
        </p:spPr>
      </p:sp>
      <p:sp>
        <p:nvSpPr>
          <p:cNvPr id="15" name="Text 13"/>
          <p:cNvSpPr/>
          <p:nvPr/>
        </p:nvSpPr>
        <p:spPr>
          <a:xfrm>
            <a:off x="2779776" y="2651760"/>
            <a:ext cx="1051560" cy="822960"/>
          </a:xfrm>
          <a:prstGeom prst="rect">
            <a:avLst/>
          </a:prstGeom>
          <a:noFill/>
          <a:ln/>
        </p:spPr>
        <p:txBody>
          <a:bodyPr wrap="square" rtlCol="0" anchor="ctr"/>
          <a:lstStyle/>
          <a:p>
            <a:pPr algn="ctr" indent="0" marL="0">
              <a:buNone/>
            </a:pPr>
            <a:r>
              <a:rPr lang="en-US" sz="1000" b="1" dirty="0">
                <a:solidFill>
                  <a:srgbClr val="1B365D"/>
                </a:solidFill>
                <a:latin typeface="Arial" pitchFamily="34" charset="0"/>
                <a:ea typeface="Arial" pitchFamily="34" charset="-122"/>
                <a:cs typeface="Arial" pitchFamily="34" charset="-120"/>
              </a:rPr>
              <a:t>P3</a:t>
            </a:r>
            <a:endParaRPr lang="en-US" sz="1000" dirty="0"/>
          </a:p>
          <a:p>
            <a:pPr algn="ctr" indent="0" marL="0">
              <a:buNone/>
            </a:pPr>
            <a:r>
              <a:rPr lang="en-US" sz="1000" b="1" dirty="0">
                <a:solidFill>
                  <a:srgbClr val="1B365D"/>
                </a:solidFill>
                <a:latin typeface="Arial" pitchFamily="34" charset="0"/>
                <a:ea typeface="Arial" pitchFamily="34" charset="-122"/>
                <a:cs typeface="Arial" pitchFamily="34" charset="-120"/>
              </a:rPr>
              <a:t>Discovery</a:t>
            </a:r>
            <a:endParaRPr lang="en-US" sz="1000" dirty="0"/>
          </a:p>
        </p:txBody>
      </p:sp>
      <p:sp>
        <p:nvSpPr>
          <p:cNvPr id="16" name="Shape 14"/>
          <p:cNvSpPr/>
          <p:nvPr/>
        </p:nvSpPr>
        <p:spPr>
          <a:xfrm>
            <a:off x="4535424" y="2194560"/>
            <a:ext cx="0" cy="457200"/>
          </a:xfrm>
          <a:prstGeom prst="line">
            <a:avLst/>
          </a:prstGeom>
          <a:noFill/>
          <a:ln w="19050">
            <a:solidFill>
              <a:srgbClr val="C4A35A"/>
            </a:solidFill>
            <a:prstDash val="solid"/>
          </a:ln>
        </p:spPr>
      </p:sp>
      <p:sp>
        <p:nvSpPr>
          <p:cNvPr id="17" name="Shape 15"/>
          <p:cNvSpPr/>
          <p:nvPr/>
        </p:nvSpPr>
        <p:spPr>
          <a:xfrm>
            <a:off x="4032504" y="2651760"/>
            <a:ext cx="1051560" cy="822960"/>
          </a:xfrm>
          <a:prstGeom prst="rect">
            <a:avLst/>
          </a:prstGeom>
          <a:solidFill>
            <a:srgbClr val="FFFFFF"/>
          </a:solidFill>
          <a:ln w="19050">
            <a:solidFill>
              <a:srgbClr val="C4A35A"/>
            </a:solidFill>
            <a:prstDash val="solid"/>
          </a:ln>
          <a:effectLst>
            <a:outerShdw sx="100000" sy="100000" kx="0" ky="0" algn="bl" rotWithShape="0" blurRad="50800" dist="25400" dir="8100000">
              <a:srgbClr val="000000">
                <a:alpha val="10000"/>
              </a:srgbClr>
            </a:outerShdw>
          </a:effectLst>
        </p:spPr>
      </p:sp>
      <p:sp>
        <p:nvSpPr>
          <p:cNvPr id="18" name="Text 16"/>
          <p:cNvSpPr/>
          <p:nvPr/>
        </p:nvSpPr>
        <p:spPr>
          <a:xfrm>
            <a:off x="4032504" y="2651760"/>
            <a:ext cx="1051560" cy="822960"/>
          </a:xfrm>
          <a:prstGeom prst="rect">
            <a:avLst/>
          </a:prstGeom>
          <a:noFill/>
          <a:ln/>
        </p:spPr>
        <p:txBody>
          <a:bodyPr wrap="square" rtlCol="0" anchor="ctr"/>
          <a:lstStyle/>
          <a:p>
            <a:pPr algn="ctr" indent="0" marL="0">
              <a:buNone/>
            </a:pPr>
            <a:r>
              <a:rPr lang="en-US" sz="1000" b="1" dirty="0">
                <a:solidFill>
                  <a:srgbClr val="1B365D"/>
                </a:solidFill>
                <a:latin typeface="Arial" pitchFamily="34" charset="0"/>
                <a:ea typeface="Arial" pitchFamily="34" charset="-122"/>
                <a:cs typeface="Arial" pitchFamily="34" charset="-120"/>
              </a:rPr>
              <a:t>P4</a:t>
            </a:r>
            <a:endParaRPr lang="en-US" sz="1000" dirty="0"/>
          </a:p>
          <a:p>
            <a:pPr algn="ctr" indent="0" marL="0">
              <a:buNone/>
            </a:pPr>
            <a:r>
              <a:rPr lang="en-US" sz="1000" b="1" dirty="0">
                <a:solidFill>
                  <a:srgbClr val="1B365D"/>
                </a:solidFill>
                <a:latin typeface="Arial" pitchFamily="34" charset="0"/>
                <a:ea typeface="Arial" pitchFamily="34" charset="-122"/>
                <a:cs typeface="Arial" pitchFamily="34" charset="-120"/>
              </a:rPr>
              <a:t>Research</a:t>
            </a:r>
            <a:endParaRPr lang="en-US" sz="1000" dirty="0"/>
          </a:p>
        </p:txBody>
      </p:sp>
      <p:sp>
        <p:nvSpPr>
          <p:cNvPr id="19" name="Shape 17"/>
          <p:cNvSpPr/>
          <p:nvPr/>
        </p:nvSpPr>
        <p:spPr>
          <a:xfrm>
            <a:off x="5788152" y="2194560"/>
            <a:ext cx="0" cy="457200"/>
          </a:xfrm>
          <a:prstGeom prst="line">
            <a:avLst/>
          </a:prstGeom>
          <a:noFill/>
          <a:ln w="19050">
            <a:solidFill>
              <a:srgbClr val="C4A35A"/>
            </a:solidFill>
            <a:prstDash val="solid"/>
          </a:ln>
        </p:spPr>
      </p:sp>
      <p:sp>
        <p:nvSpPr>
          <p:cNvPr id="20" name="Shape 18"/>
          <p:cNvSpPr/>
          <p:nvPr/>
        </p:nvSpPr>
        <p:spPr>
          <a:xfrm>
            <a:off x="5285232" y="2651760"/>
            <a:ext cx="1051560" cy="822960"/>
          </a:xfrm>
          <a:prstGeom prst="rect">
            <a:avLst/>
          </a:prstGeom>
          <a:solidFill>
            <a:srgbClr val="FFFFFF"/>
          </a:solidFill>
          <a:ln w="19050">
            <a:solidFill>
              <a:srgbClr val="C4A35A"/>
            </a:solidFill>
            <a:prstDash val="solid"/>
          </a:ln>
          <a:effectLst>
            <a:outerShdw sx="100000" sy="100000" kx="0" ky="0" algn="bl" rotWithShape="0" blurRad="50800" dist="25400" dir="8100000">
              <a:srgbClr val="000000">
                <a:alpha val="10000"/>
              </a:srgbClr>
            </a:outerShdw>
          </a:effectLst>
        </p:spPr>
      </p:sp>
      <p:sp>
        <p:nvSpPr>
          <p:cNvPr id="21" name="Text 19"/>
          <p:cNvSpPr/>
          <p:nvPr/>
        </p:nvSpPr>
        <p:spPr>
          <a:xfrm>
            <a:off x="5285232" y="2651760"/>
            <a:ext cx="1051560" cy="822960"/>
          </a:xfrm>
          <a:prstGeom prst="rect">
            <a:avLst/>
          </a:prstGeom>
          <a:noFill/>
          <a:ln/>
        </p:spPr>
        <p:txBody>
          <a:bodyPr wrap="square" rtlCol="0" anchor="ctr"/>
          <a:lstStyle/>
          <a:p>
            <a:pPr algn="ctr" indent="0" marL="0">
              <a:buNone/>
            </a:pPr>
            <a:r>
              <a:rPr lang="en-US" sz="1000" b="1" dirty="0">
                <a:solidFill>
                  <a:srgbClr val="1B365D"/>
                </a:solidFill>
                <a:latin typeface="Arial" pitchFamily="34" charset="0"/>
                <a:ea typeface="Arial" pitchFamily="34" charset="-122"/>
                <a:cs typeface="Arial" pitchFamily="34" charset="-120"/>
              </a:rPr>
              <a:t>P5</a:t>
            </a:r>
            <a:endParaRPr lang="en-US" sz="1000" dirty="0"/>
          </a:p>
          <a:p>
            <a:pPr algn="ctr" indent="0" marL="0">
              <a:buNone/>
            </a:pPr>
            <a:r>
              <a:rPr lang="en-US" sz="1000" b="1" dirty="0">
                <a:solidFill>
                  <a:srgbClr val="1B365D"/>
                </a:solidFill>
                <a:latin typeface="Arial" pitchFamily="34" charset="0"/>
                <a:ea typeface="Arial" pitchFamily="34" charset="-122"/>
                <a:cs typeface="Arial" pitchFamily="34" charset="-120"/>
              </a:rPr>
              <a:t>Evaluate</a:t>
            </a:r>
            <a:endParaRPr lang="en-US" sz="1000" dirty="0"/>
          </a:p>
        </p:txBody>
      </p:sp>
      <p:sp>
        <p:nvSpPr>
          <p:cNvPr id="22" name="Shape 20"/>
          <p:cNvSpPr/>
          <p:nvPr/>
        </p:nvSpPr>
        <p:spPr>
          <a:xfrm>
            <a:off x="7040880" y="2194560"/>
            <a:ext cx="0" cy="457200"/>
          </a:xfrm>
          <a:prstGeom prst="line">
            <a:avLst/>
          </a:prstGeom>
          <a:noFill/>
          <a:ln w="19050">
            <a:solidFill>
              <a:srgbClr val="C4A35A"/>
            </a:solidFill>
            <a:prstDash val="solid"/>
          </a:ln>
        </p:spPr>
      </p:sp>
      <p:sp>
        <p:nvSpPr>
          <p:cNvPr id="23" name="Shape 21"/>
          <p:cNvSpPr/>
          <p:nvPr/>
        </p:nvSpPr>
        <p:spPr>
          <a:xfrm>
            <a:off x="6537960" y="2651760"/>
            <a:ext cx="1051560" cy="822960"/>
          </a:xfrm>
          <a:prstGeom prst="rect">
            <a:avLst/>
          </a:prstGeom>
          <a:solidFill>
            <a:srgbClr val="FFFFFF"/>
          </a:solidFill>
          <a:ln w="19050">
            <a:solidFill>
              <a:srgbClr val="C4A35A"/>
            </a:solidFill>
            <a:prstDash val="solid"/>
          </a:ln>
          <a:effectLst>
            <a:outerShdw sx="100000" sy="100000" kx="0" ky="0" algn="bl" rotWithShape="0" blurRad="50800" dist="25400" dir="8100000">
              <a:srgbClr val="000000">
                <a:alpha val="10000"/>
              </a:srgbClr>
            </a:outerShdw>
          </a:effectLst>
        </p:spPr>
      </p:sp>
      <p:sp>
        <p:nvSpPr>
          <p:cNvPr id="24" name="Text 22"/>
          <p:cNvSpPr/>
          <p:nvPr/>
        </p:nvSpPr>
        <p:spPr>
          <a:xfrm>
            <a:off x="6537960" y="2651760"/>
            <a:ext cx="1051560" cy="822960"/>
          </a:xfrm>
          <a:prstGeom prst="rect">
            <a:avLst/>
          </a:prstGeom>
          <a:noFill/>
          <a:ln/>
        </p:spPr>
        <p:txBody>
          <a:bodyPr wrap="square" rtlCol="0" anchor="ctr"/>
          <a:lstStyle/>
          <a:p>
            <a:pPr algn="ctr" indent="0" marL="0">
              <a:buNone/>
            </a:pPr>
            <a:r>
              <a:rPr lang="en-US" sz="1000" b="1" dirty="0">
                <a:solidFill>
                  <a:srgbClr val="1B365D"/>
                </a:solidFill>
                <a:latin typeface="Arial" pitchFamily="34" charset="0"/>
                <a:ea typeface="Arial" pitchFamily="34" charset="-122"/>
                <a:cs typeface="Arial" pitchFamily="34" charset="-120"/>
              </a:rPr>
              <a:t>P6</a:t>
            </a:r>
            <a:endParaRPr lang="en-US" sz="1000" dirty="0"/>
          </a:p>
          <a:p>
            <a:pPr algn="ctr" indent="0" marL="0">
              <a:buNone/>
            </a:pPr>
            <a:r>
              <a:rPr lang="en-US" sz="1000" b="1" dirty="0">
                <a:solidFill>
                  <a:srgbClr val="1B365D"/>
                </a:solidFill>
                <a:latin typeface="Arial" pitchFamily="34" charset="0"/>
                <a:ea typeface="Arial" pitchFamily="34" charset="-122"/>
                <a:cs typeface="Arial" pitchFamily="34" charset="-120"/>
              </a:rPr>
              <a:t>Refine</a:t>
            </a:r>
            <a:endParaRPr lang="en-US" sz="1000" dirty="0"/>
          </a:p>
        </p:txBody>
      </p:sp>
      <p:sp>
        <p:nvSpPr>
          <p:cNvPr id="25" name="Shape 23"/>
          <p:cNvSpPr/>
          <p:nvPr/>
        </p:nvSpPr>
        <p:spPr>
          <a:xfrm>
            <a:off x="8293608" y="2194560"/>
            <a:ext cx="0" cy="457200"/>
          </a:xfrm>
          <a:prstGeom prst="line">
            <a:avLst/>
          </a:prstGeom>
          <a:noFill/>
          <a:ln w="19050">
            <a:solidFill>
              <a:srgbClr val="C4A35A"/>
            </a:solidFill>
            <a:prstDash val="solid"/>
          </a:ln>
        </p:spPr>
      </p:sp>
      <p:sp>
        <p:nvSpPr>
          <p:cNvPr id="26" name="Shape 24"/>
          <p:cNvSpPr/>
          <p:nvPr/>
        </p:nvSpPr>
        <p:spPr>
          <a:xfrm>
            <a:off x="7790688" y="2651760"/>
            <a:ext cx="1051560" cy="822960"/>
          </a:xfrm>
          <a:prstGeom prst="rect">
            <a:avLst/>
          </a:prstGeom>
          <a:solidFill>
            <a:srgbClr val="FFFFFF"/>
          </a:solidFill>
          <a:ln w="19050">
            <a:solidFill>
              <a:srgbClr val="C4A35A"/>
            </a:solidFill>
            <a:prstDash val="solid"/>
          </a:ln>
          <a:effectLst>
            <a:outerShdw sx="100000" sy="100000" kx="0" ky="0" algn="bl" rotWithShape="0" blurRad="50800" dist="25400" dir="8100000">
              <a:srgbClr val="000000">
                <a:alpha val="10000"/>
              </a:srgbClr>
            </a:outerShdw>
          </a:effectLst>
        </p:spPr>
      </p:sp>
      <p:sp>
        <p:nvSpPr>
          <p:cNvPr id="27" name="Text 25"/>
          <p:cNvSpPr/>
          <p:nvPr/>
        </p:nvSpPr>
        <p:spPr>
          <a:xfrm>
            <a:off x="7790688" y="2651760"/>
            <a:ext cx="1051560" cy="822960"/>
          </a:xfrm>
          <a:prstGeom prst="rect">
            <a:avLst/>
          </a:prstGeom>
          <a:noFill/>
          <a:ln/>
        </p:spPr>
        <p:txBody>
          <a:bodyPr wrap="square" rtlCol="0" anchor="ctr"/>
          <a:lstStyle/>
          <a:p>
            <a:pPr algn="ctr" indent="0" marL="0">
              <a:buNone/>
            </a:pPr>
            <a:r>
              <a:rPr lang="en-US" sz="1000" b="1" dirty="0">
                <a:solidFill>
                  <a:srgbClr val="1B365D"/>
                </a:solidFill>
                <a:latin typeface="Arial" pitchFamily="34" charset="0"/>
                <a:ea typeface="Arial" pitchFamily="34" charset="-122"/>
                <a:cs typeface="Arial" pitchFamily="34" charset="-120"/>
              </a:rPr>
              <a:t>P7</a:t>
            </a:r>
            <a:endParaRPr lang="en-US" sz="1000" dirty="0"/>
          </a:p>
          <a:p>
            <a:pPr algn="ctr" indent="0" marL="0">
              <a:buNone/>
            </a:pPr>
            <a:r>
              <a:rPr lang="en-US" sz="1000" b="1" dirty="0">
                <a:solidFill>
                  <a:srgbClr val="1B365D"/>
                </a:solidFill>
                <a:latin typeface="Arial" pitchFamily="34" charset="0"/>
                <a:ea typeface="Arial" pitchFamily="34" charset="-122"/>
                <a:cs typeface="Arial" pitchFamily="34" charset="-120"/>
              </a:rPr>
              <a:t>PRD</a:t>
            </a:r>
            <a:endParaRPr lang="en-US" sz="1000" dirty="0"/>
          </a:p>
        </p:txBody>
      </p:sp>
      <p:sp>
        <p:nvSpPr>
          <p:cNvPr id="28" name="Shape 26"/>
          <p:cNvSpPr/>
          <p:nvPr/>
        </p:nvSpPr>
        <p:spPr>
          <a:xfrm>
            <a:off x="457200" y="3749040"/>
            <a:ext cx="3931920" cy="8686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9" name="Shape 27"/>
          <p:cNvSpPr/>
          <p:nvPr/>
        </p:nvSpPr>
        <p:spPr>
          <a:xfrm>
            <a:off x="457200" y="3749040"/>
            <a:ext cx="54864" cy="868680"/>
          </a:xfrm>
          <a:prstGeom prst="rect">
            <a:avLst/>
          </a:prstGeom>
          <a:solidFill>
            <a:srgbClr val="C4A35A"/>
          </a:solidFill>
          <a:ln/>
        </p:spPr>
      </p:sp>
      <p:sp>
        <p:nvSpPr>
          <p:cNvPr id="30" name="Text 28"/>
          <p:cNvSpPr/>
          <p:nvPr/>
        </p:nvSpPr>
        <p:spPr>
          <a:xfrm>
            <a:off x="640080" y="3794760"/>
            <a:ext cx="3566160" cy="27432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CLAUDE.AI PATH</a:t>
            </a:r>
            <a:endParaRPr lang="en-US" sz="1100" dirty="0"/>
          </a:p>
        </p:txBody>
      </p:sp>
      <p:sp>
        <p:nvSpPr>
          <p:cNvPr id="31" name="Text 29"/>
          <p:cNvSpPr/>
          <p:nvPr/>
        </p:nvSpPr>
        <p:spPr>
          <a:xfrm>
            <a:off x="640080" y="4069080"/>
            <a:ext cx="3566160" cy="502920"/>
          </a:xfrm>
          <a:prstGeom prst="rect">
            <a:avLst/>
          </a:prstGeom>
          <a:noFill/>
          <a:ln/>
        </p:spPr>
        <p:txBody>
          <a:bodyPr wrap="square" rtlCol="0" anchor="ctr"/>
          <a:lstStyle/>
          <a:p>
            <a:pPr indent="0" marL="0">
              <a:buNone/>
            </a:pPr>
            <a:r>
              <a:rPr lang="en-US" sz="1100" dirty="0">
                <a:solidFill>
                  <a:srgbClr val="1B365D"/>
                </a:solidFill>
                <a:latin typeface="Arial" pitchFamily="34" charset="0"/>
                <a:ea typeface="Arial" pitchFamily="34" charset="-122"/>
                <a:cs typeface="Arial" pitchFamily="34" charset="-120"/>
              </a:rPr>
              <a:t>Open new chat in Project for each phase. Paste tracker artifact. Say 'Begin Phase X'.</a:t>
            </a:r>
            <a:endParaRPr lang="en-US" sz="1100" dirty="0"/>
          </a:p>
        </p:txBody>
      </p:sp>
      <p:sp>
        <p:nvSpPr>
          <p:cNvPr id="32" name="Shape 30"/>
          <p:cNvSpPr/>
          <p:nvPr/>
        </p:nvSpPr>
        <p:spPr>
          <a:xfrm>
            <a:off x="4754880" y="3749040"/>
            <a:ext cx="3931920" cy="8686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3" name="Shape 31"/>
          <p:cNvSpPr/>
          <p:nvPr/>
        </p:nvSpPr>
        <p:spPr>
          <a:xfrm>
            <a:off x="4754880" y="3749040"/>
            <a:ext cx="54864" cy="868680"/>
          </a:xfrm>
          <a:prstGeom prst="rect">
            <a:avLst/>
          </a:prstGeom>
          <a:solidFill>
            <a:srgbClr val="C4A35A"/>
          </a:solidFill>
          <a:ln/>
        </p:spPr>
      </p:sp>
      <p:sp>
        <p:nvSpPr>
          <p:cNvPr id="34" name="Text 32"/>
          <p:cNvSpPr/>
          <p:nvPr/>
        </p:nvSpPr>
        <p:spPr>
          <a:xfrm>
            <a:off x="4937760" y="3794760"/>
            <a:ext cx="3566160" cy="27432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CLAUDE CODE PATH</a:t>
            </a:r>
            <a:endParaRPr lang="en-US" sz="1100" dirty="0"/>
          </a:p>
        </p:txBody>
      </p:sp>
      <p:sp>
        <p:nvSpPr>
          <p:cNvPr id="35" name="Text 33"/>
          <p:cNvSpPr/>
          <p:nvPr/>
        </p:nvSpPr>
        <p:spPr>
          <a:xfrm>
            <a:off x="4937760" y="4069080"/>
            <a:ext cx="3566160" cy="502920"/>
          </a:xfrm>
          <a:prstGeom prst="rect">
            <a:avLst/>
          </a:prstGeom>
          <a:noFill/>
          <a:ln/>
        </p:spPr>
        <p:txBody>
          <a:bodyPr wrap="square" rtlCol="0" anchor="ctr"/>
          <a:lstStyle/>
          <a:p>
            <a:pPr indent="0" marL="0">
              <a:buNone/>
            </a:pPr>
            <a:r>
              <a:rPr lang="en-US" sz="1100" dirty="0">
                <a:solidFill>
                  <a:srgbClr val="1B365D"/>
                </a:solidFill>
                <a:latin typeface="Arial" pitchFamily="34" charset="0"/>
                <a:ea typeface="Arial" pitchFamily="34" charset="-122"/>
                <a:cs typeface="Arial" pitchFamily="34" charset="-120"/>
              </a:rPr>
              <a:t>Orchestrator spawns sub-agents via Task tool. plan.md tracks status. MCP servers connect directly.</a:t>
            </a:r>
            <a:endParaRPr lang="en-US" sz="1100" dirty="0"/>
          </a:p>
        </p:txBody>
      </p:sp>
      <p:sp>
        <p:nvSpPr>
          <p:cNvPr id="36" name="Text 34"/>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A35A"/>
          </a:solidFill>
          <a:ln/>
        </p:spPr>
      </p:sp>
      <p:sp>
        <p:nvSpPr>
          <p:cNvPr id="3" name="Shape 1"/>
          <p:cNvSpPr/>
          <p:nvPr/>
        </p:nvSpPr>
        <p:spPr>
          <a:xfrm>
            <a:off x="6583680" y="-1097280"/>
            <a:ext cx="4114800" cy="4114800"/>
          </a:xfrm>
          <a:prstGeom prst="ellipse">
            <a:avLst/>
          </a:prstGeom>
          <a:solidFill>
            <a:srgbClr val="1B365D">
              <a:alpha val="0"/>
            </a:srgbClr>
          </a:solidFill>
          <a:ln w="9525">
            <a:solidFill>
              <a:srgbClr val="C4A35A"/>
            </a:solidFill>
            <a:prstDash val="solid"/>
          </a:ln>
        </p:spPr>
      </p:sp>
      <p:sp>
        <p:nvSpPr>
          <p:cNvPr id="4" name="Shape 2"/>
          <p:cNvSpPr/>
          <p:nvPr/>
        </p:nvSpPr>
        <p:spPr>
          <a:xfrm>
            <a:off x="7498080" y="0"/>
            <a:ext cx="2286000" cy="2286000"/>
          </a:xfrm>
          <a:prstGeom prst="ellipse">
            <a:avLst/>
          </a:prstGeom>
          <a:solidFill>
            <a:srgbClr val="1B365D">
              <a:alpha val="0"/>
            </a:srgbClr>
          </a:solidFill>
          <a:ln w="6350">
            <a:solidFill>
              <a:srgbClr val="C4A35A"/>
            </a:solidFill>
            <a:prstDash val="solid"/>
          </a:ln>
        </p:spPr>
      </p:sp>
      <p:sp>
        <p:nvSpPr>
          <p:cNvPr id="5" name="Shape 3"/>
          <p:cNvSpPr/>
          <p:nvPr/>
        </p:nvSpPr>
        <p:spPr>
          <a:xfrm>
            <a:off x="457200" y="1280160"/>
            <a:ext cx="1463040" cy="411480"/>
          </a:xfrm>
          <a:prstGeom prst="rect">
            <a:avLst/>
          </a:prstGeom>
          <a:solidFill>
            <a:srgbClr val="C4A35A"/>
          </a:solidFill>
          <a:ln/>
        </p:spPr>
      </p:sp>
      <p:sp>
        <p:nvSpPr>
          <p:cNvPr id="6" name="Text 4"/>
          <p:cNvSpPr/>
          <p:nvPr/>
        </p:nvSpPr>
        <p:spPr>
          <a:xfrm>
            <a:off x="457200" y="128016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1</a:t>
            </a:r>
            <a:endParaRPr lang="en-US" sz="1300" dirty="0"/>
          </a:p>
        </p:txBody>
      </p:sp>
      <p:sp>
        <p:nvSpPr>
          <p:cNvPr id="7" name="Text 5"/>
          <p:cNvSpPr/>
          <p:nvPr/>
        </p:nvSpPr>
        <p:spPr>
          <a:xfrm>
            <a:off x="457200" y="1920240"/>
            <a:ext cx="7315200" cy="1097280"/>
          </a:xfrm>
          <a:prstGeom prst="rect">
            <a:avLst/>
          </a:prstGeom>
          <a:noFill/>
          <a:ln/>
        </p:spPr>
        <p:txBody>
          <a:bodyPr wrap="square" rtlCol="0" anchor="t"/>
          <a:lstStyle/>
          <a:p>
            <a:pPr algn="l" indent="0" marL="0">
              <a:buNone/>
            </a:pPr>
            <a:r>
              <a:rPr lang="en-US" sz="3800" b="1" dirty="0">
                <a:solidFill>
                  <a:srgbClr val="FFFFFF"/>
                </a:solidFill>
                <a:latin typeface="Georgia" pitchFamily="34" charset="0"/>
                <a:ea typeface="Georgia" pitchFamily="34" charset="-122"/>
                <a:cs typeface="Georgia" pitchFamily="34" charset="-120"/>
              </a:rPr>
              <a:t>Company Definition &amp;</a:t>
            </a:r>
            <a:endParaRPr lang="en-US" sz="3800" dirty="0"/>
          </a:p>
          <a:p>
            <a:pPr algn="l" indent="0" marL="0">
              <a:buNone/>
            </a:pPr>
            <a:r>
              <a:rPr lang="en-US" sz="3800" b="1" dirty="0">
                <a:solidFill>
                  <a:srgbClr val="FFFFFF"/>
                </a:solidFill>
                <a:latin typeface="Georgia" pitchFamily="34" charset="0"/>
                <a:ea typeface="Georgia" pitchFamily="34" charset="-122"/>
                <a:cs typeface="Georgia" pitchFamily="34" charset="-120"/>
              </a:rPr>
              <a:t>Strategic Analysis</a:t>
            </a:r>
            <a:endParaRPr lang="en-US" sz="3800" dirty="0"/>
          </a:p>
        </p:txBody>
      </p:sp>
      <p:sp>
        <p:nvSpPr>
          <p:cNvPr id="8" name="Text 6"/>
          <p:cNvSpPr/>
          <p:nvPr/>
        </p:nvSpPr>
        <p:spPr>
          <a:xfrm>
            <a:off x="457200" y="3108960"/>
            <a:ext cx="6400800" cy="731520"/>
          </a:xfrm>
          <a:prstGeom prst="rect">
            <a:avLst/>
          </a:prstGeom>
          <a:noFill/>
          <a:ln/>
        </p:spPr>
        <p:txBody>
          <a:bodyPr wrap="square" rtlCol="0" anchor="ctr"/>
          <a:lstStyle/>
          <a:p>
            <a:pPr algn="l" indent="0" marL="0">
              <a:buNone/>
            </a:pPr>
            <a:r>
              <a:rPr lang="en-US" sz="1700" i="1" dirty="0">
                <a:solidFill>
                  <a:srgbClr val="C4A35A"/>
                </a:solidFill>
                <a:latin typeface="Georgia" pitchFamily="34" charset="0"/>
                <a:ea typeface="Georgia" pitchFamily="34" charset="-122"/>
                <a:cs typeface="Georgia" pitchFamily="34" charset="-120"/>
              </a:rPr>
              <a:t>Who are you, and where will you compete?</a:t>
            </a:r>
            <a:endParaRPr lang="en-US" sz="1700" dirty="0"/>
          </a:p>
        </p:txBody>
      </p:sp>
      <p:sp>
        <p:nvSpPr>
          <p:cNvPr id="9" name="Shape 7"/>
          <p:cNvSpPr/>
          <p:nvPr/>
        </p:nvSpPr>
        <p:spPr>
          <a:xfrm>
            <a:off x="0" y="4960620"/>
            <a:ext cx="9144000" cy="182880"/>
          </a:xfrm>
          <a:prstGeom prst="rect">
            <a:avLst/>
          </a:prstGeom>
          <a:solidFill>
            <a:srgbClr val="C4A35A"/>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274320"/>
            <a:ext cx="1463040" cy="411480"/>
          </a:xfrm>
          <a:prstGeom prst="rect">
            <a:avLst/>
          </a:prstGeom>
          <a:solidFill>
            <a:srgbClr val="C4A35A"/>
          </a:solidFill>
          <a:ln/>
        </p:spPr>
      </p:sp>
      <p:sp>
        <p:nvSpPr>
          <p:cNvPr id="3" name="Text 1"/>
          <p:cNvSpPr/>
          <p:nvPr/>
        </p:nvSpPr>
        <p:spPr>
          <a:xfrm>
            <a:off x="457200" y="27432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1</a:t>
            </a:r>
            <a:endParaRPr lang="en-US" sz="1300" dirty="0"/>
          </a:p>
        </p:txBody>
      </p:sp>
      <p:sp>
        <p:nvSpPr>
          <p:cNvPr id="4" name="Text 2"/>
          <p:cNvSpPr/>
          <p:nvPr/>
        </p:nvSpPr>
        <p:spPr>
          <a:xfrm>
            <a:off x="2103120" y="274320"/>
            <a:ext cx="6400800" cy="457200"/>
          </a:xfrm>
          <a:prstGeom prst="rect">
            <a:avLst/>
          </a:prstGeom>
          <a:noFill/>
          <a:ln/>
        </p:spPr>
        <p:txBody>
          <a:bodyPr wrap="square" rtlCol="0" anchor="ctr"/>
          <a:lstStyle/>
          <a:p>
            <a:pPr indent="0" marL="0">
              <a:buNone/>
            </a:pPr>
            <a:r>
              <a:rPr lang="en-US" sz="3000" b="1" dirty="0">
                <a:solidFill>
                  <a:srgbClr val="1B365D"/>
                </a:solidFill>
                <a:latin typeface="Georgia" pitchFamily="34" charset="0"/>
                <a:ea typeface="Georgia" pitchFamily="34" charset="-122"/>
                <a:cs typeface="Georgia" pitchFamily="34" charset="-120"/>
              </a:rPr>
              <a:t>The Strategic Interview</a:t>
            </a:r>
            <a:endParaRPr lang="en-US" sz="3000" dirty="0"/>
          </a:p>
        </p:txBody>
      </p:sp>
      <p:sp>
        <p:nvSpPr>
          <p:cNvPr id="5" name="Shape 3"/>
          <p:cNvSpPr/>
          <p:nvPr/>
        </p:nvSpPr>
        <p:spPr>
          <a:xfrm>
            <a:off x="457200" y="91440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914400"/>
            <a:ext cx="54864" cy="1645920"/>
          </a:xfrm>
          <a:prstGeom prst="rect">
            <a:avLst/>
          </a:prstGeom>
          <a:solidFill>
            <a:srgbClr val="C4A35A"/>
          </a:solidFill>
          <a:ln/>
        </p:spPr>
      </p:sp>
      <p:sp>
        <p:nvSpPr>
          <p:cNvPr id="7" name="Text 5"/>
          <p:cNvSpPr/>
          <p:nvPr/>
        </p:nvSpPr>
        <p:spPr>
          <a:xfrm>
            <a:off x="685800" y="1005840"/>
            <a:ext cx="3474720" cy="274320"/>
          </a:xfrm>
          <a:prstGeom prst="rect">
            <a:avLst/>
          </a:prstGeom>
          <a:noFill/>
          <a:ln/>
        </p:spPr>
        <p:txBody>
          <a:bodyPr wrap="square" rtlCol="0" anchor="ctr"/>
          <a:lstStyle/>
          <a:p>
            <a:pPr indent="0" marL="0">
              <a:buNone/>
            </a:pPr>
            <a:r>
              <a:rPr lang="en-US" sz="1200" b="1" dirty="0">
                <a:solidFill>
                  <a:srgbClr val="C4A35A"/>
                </a:solidFill>
                <a:latin typeface="Arial" pitchFamily="34" charset="0"/>
                <a:ea typeface="Arial" pitchFamily="34" charset="-122"/>
                <a:cs typeface="Arial" pitchFamily="34" charset="-120"/>
              </a:rPr>
              <a:t>COMPANY DEFINITION</a:t>
            </a:r>
            <a:endParaRPr lang="en-US" sz="1200" dirty="0"/>
          </a:p>
        </p:txBody>
      </p:sp>
      <p:sp>
        <p:nvSpPr>
          <p:cNvPr id="8" name="Text 6"/>
          <p:cNvSpPr/>
          <p:nvPr/>
        </p:nvSpPr>
        <p:spPr>
          <a:xfrm>
            <a:off x="685800" y="1325880"/>
            <a:ext cx="3474720" cy="1097280"/>
          </a:xfrm>
          <a:prstGeom prst="rect">
            <a:avLst/>
          </a:prstGeom>
          <a:noFill/>
          <a:ln/>
        </p:spPr>
        <p:txBody>
          <a:bodyPr wrap="square" rtlCol="0" anchor="ctr"/>
          <a:lstStyle/>
          <a:p>
            <a:pPr marL="342900" indent="-342900">
              <a:spcAft>
                <a:spcPts val="400"/>
              </a:spcAft>
              <a:buSzPct val="100000"/>
              <a:buChar char="•"/>
            </a:pPr>
            <a:r>
              <a:rPr lang="en-US" sz="1200" dirty="0">
                <a:solidFill>
                  <a:srgbClr val="1B365D"/>
                </a:solidFill>
                <a:latin typeface="Arial" pitchFamily="34" charset="0"/>
                <a:ea typeface="Arial" pitchFamily="34" charset="-122"/>
                <a:cs typeface="Arial" pitchFamily="34" charset="-120"/>
              </a:rPr>
              <a:t>Industry and market segment</a:t>
            </a:r>
            <a:endParaRPr lang="en-US" sz="1200" dirty="0"/>
          </a:p>
          <a:p>
            <a:pPr marL="342900" indent="-342900">
              <a:spcAft>
                <a:spcPts val="400"/>
              </a:spcAft>
              <a:buSzPct val="100000"/>
              <a:buChar char="•"/>
            </a:pPr>
            <a:r>
              <a:rPr lang="en-US" sz="1200" dirty="0">
                <a:solidFill>
                  <a:srgbClr val="1B365D"/>
                </a:solidFill>
                <a:latin typeface="Arial" pitchFamily="34" charset="0"/>
                <a:ea typeface="Arial" pitchFamily="34" charset="-122"/>
                <a:cs typeface="Arial" pitchFamily="34" charset="-120"/>
              </a:rPr>
              <a:t>Existing company or startup?</a:t>
            </a:r>
            <a:endParaRPr lang="en-US" sz="1200" dirty="0"/>
          </a:p>
          <a:p>
            <a:pPr marL="342900" indent="-342900">
              <a:spcAft>
                <a:spcPts val="400"/>
              </a:spcAft>
              <a:buSzPct val="100000"/>
              <a:buChar char="•"/>
            </a:pPr>
            <a:r>
              <a:rPr lang="en-US" sz="1200" dirty="0">
                <a:solidFill>
                  <a:srgbClr val="1B365D"/>
                </a:solidFill>
                <a:latin typeface="Arial" pitchFamily="34" charset="0"/>
                <a:ea typeface="Arial" pitchFamily="34" charset="-122"/>
                <a:cs typeface="Arial" pitchFamily="34" charset="-120"/>
              </a:rPr>
              <a:t>Strategy: disrupt, platform, license, or build?</a:t>
            </a:r>
            <a:endParaRPr lang="en-US" sz="1200" dirty="0"/>
          </a:p>
          <a:p>
            <a:pPr marL="342900" indent="-342900">
              <a:buSzPct val="100000"/>
              <a:buChar char="•"/>
            </a:pPr>
            <a:r>
              <a:rPr lang="en-US" sz="1200" dirty="0">
                <a:solidFill>
                  <a:srgbClr val="1B365D"/>
                </a:solidFill>
                <a:latin typeface="Arial" pitchFamily="34" charset="0"/>
                <a:ea typeface="Arial" pitchFamily="34" charset="-122"/>
                <a:cs typeface="Arial" pitchFamily="34" charset="-120"/>
              </a:rPr>
              <a:t>Digital product/service or physical product?</a:t>
            </a:r>
            <a:endParaRPr lang="en-US" sz="1200" dirty="0"/>
          </a:p>
        </p:txBody>
      </p:sp>
      <p:sp>
        <p:nvSpPr>
          <p:cNvPr id="9" name="Shape 7"/>
          <p:cNvSpPr/>
          <p:nvPr/>
        </p:nvSpPr>
        <p:spPr>
          <a:xfrm>
            <a:off x="4754880" y="91440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914400"/>
            <a:ext cx="54864" cy="1645920"/>
          </a:xfrm>
          <a:prstGeom prst="rect">
            <a:avLst/>
          </a:prstGeom>
          <a:solidFill>
            <a:srgbClr val="C4A35A"/>
          </a:solidFill>
          <a:ln/>
        </p:spPr>
      </p:sp>
      <p:sp>
        <p:nvSpPr>
          <p:cNvPr id="11" name="Text 9"/>
          <p:cNvSpPr/>
          <p:nvPr/>
        </p:nvSpPr>
        <p:spPr>
          <a:xfrm>
            <a:off x="4983480" y="1005840"/>
            <a:ext cx="3474720" cy="274320"/>
          </a:xfrm>
          <a:prstGeom prst="rect">
            <a:avLst/>
          </a:prstGeom>
          <a:noFill/>
          <a:ln/>
        </p:spPr>
        <p:txBody>
          <a:bodyPr wrap="square" rtlCol="0" anchor="ctr"/>
          <a:lstStyle/>
          <a:p>
            <a:pPr indent="0" marL="0">
              <a:buNone/>
            </a:pPr>
            <a:r>
              <a:rPr lang="en-US" sz="1200" b="1" dirty="0">
                <a:solidFill>
                  <a:srgbClr val="C4A35A"/>
                </a:solidFill>
                <a:latin typeface="Arial" pitchFamily="34" charset="0"/>
                <a:ea typeface="Arial" pitchFamily="34" charset="-122"/>
                <a:cs typeface="Arial" pitchFamily="34" charset="-120"/>
              </a:rPr>
              <a:t>SELF-ASSESSMENT</a:t>
            </a:r>
            <a:endParaRPr lang="en-US" sz="1200" dirty="0"/>
          </a:p>
        </p:txBody>
      </p:sp>
      <p:sp>
        <p:nvSpPr>
          <p:cNvPr id="12" name="Text 10"/>
          <p:cNvSpPr/>
          <p:nvPr/>
        </p:nvSpPr>
        <p:spPr>
          <a:xfrm>
            <a:off x="4983480" y="1325880"/>
            <a:ext cx="3474720" cy="1097280"/>
          </a:xfrm>
          <a:prstGeom prst="rect">
            <a:avLst/>
          </a:prstGeom>
          <a:noFill/>
          <a:ln/>
        </p:spPr>
        <p:txBody>
          <a:bodyPr wrap="square" rtlCol="0" anchor="ctr"/>
          <a:lstStyle/>
          <a:p>
            <a:pPr marL="342900" indent="-342900">
              <a:spcAft>
                <a:spcPts val="400"/>
              </a:spcAft>
              <a:buSzPct val="100000"/>
              <a:buChar char="•"/>
            </a:pPr>
            <a:r>
              <a:rPr lang="en-US" sz="1200" dirty="0">
                <a:solidFill>
                  <a:srgbClr val="1B365D"/>
                </a:solidFill>
                <a:latin typeface="Arial" pitchFamily="34" charset="0"/>
                <a:ea typeface="Arial" pitchFamily="34" charset="-122"/>
                <a:cs typeface="Arial" pitchFamily="34" charset="-120"/>
              </a:rPr>
              <a:t>Culture: Will it support change?</a:t>
            </a:r>
            <a:endParaRPr lang="en-US" sz="1200" dirty="0"/>
          </a:p>
          <a:p>
            <a:pPr marL="342900" indent="-342900">
              <a:spcAft>
                <a:spcPts val="400"/>
              </a:spcAft>
              <a:buSzPct val="100000"/>
              <a:buChar char="•"/>
            </a:pPr>
            <a:r>
              <a:rPr lang="en-US" sz="1200" dirty="0">
                <a:solidFill>
                  <a:srgbClr val="1B365D"/>
                </a:solidFill>
                <a:latin typeface="Arial" pitchFamily="34" charset="0"/>
                <a:ea typeface="Arial" pitchFamily="34" charset="-122"/>
                <a:cs typeface="Arial" pitchFamily="34" charset="-120"/>
              </a:rPr>
              <a:t>Resources: Budget, talent, technology</a:t>
            </a:r>
            <a:endParaRPr lang="en-US" sz="1200" dirty="0"/>
          </a:p>
          <a:p>
            <a:pPr marL="342900" indent="-342900">
              <a:spcAft>
                <a:spcPts val="400"/>
              </a:spcAft>
              <a:buSzPct val="100000"/>
              <a:buChar char="•"/>
            </a:pPr>
            <a:r>
              <a:rPr lang="en-US" sz="1200" dirty="0">
                <a:solidFill>
                  <a:srgbClr val="1B365D"/>
                </a:solidFill>
                <a:latin typeface="Arial" pitchFamily="34" charset="0"/>
                <a:ea typeface="Arial" pitchFamily="34" charset="-122"/>
                <a:cs typeface="Arial" pitchFamily="34" charset="-120"/>
              </a:rPr>
              <a:t>Implementation capability</a:t>
            </a:r>
            <a:endParaRPr lang="en-US" sz="1200" dirty="0"/>
          </a:p>
          <a:p>
            <a:pPr marL="342900" indent="-342900">
              <a:buSzPct val="100000"/>
              <a:buChar char="•"/>
            </a:pPr>
            <a:r>
              <a:rPr lang="en-US" sz="1200" dirty="0">
                <a:solidFill>
                  <a:srgbClr val="1B365D"/>
                </a:solidFill>
                <a:latin typeface="Arial" pitchFamily="34" charset="0"/>
                <a:ea typeface="Arial" pitchFamily="34" charset="-122"/>
                <a:cs typeface="Arial" pitchFamily="34" charset="-120"/>
              </a:rPr>
              <a:t>Timeline constraints</a:t>
            </a:r>
            <a:endParaRPr lang="en-US" sz="1200" dirty="0"/>
          </a:p>
        </p:txBody>
      </p:sp>
      <p:sp>
        <p:nvSpPr>
          <p:cNvPr id="13" name="Text 11"/>
          <p:cNvSpPr/>
          <p:nvPr/>
        </p:nvSpPr>
        <p:spPr>
          <a:xfrm>
            <a:off x="457200" y="2788920"/>
            <a:ext cx="8229600" cy="320040"/>
          </a:xfrm>
          <a:prstGeom prst="rect">
            <a:avLst/>
          </a:prstGeom>
          <a:noFill/>
          <a:ln/>
        </p:spPr>
        <p:txBody>
          <a:bodyPr wrap="square" rtlCol="0" anchor="ctr"/>
          <a:lstStyle/>
          <a:p>
            <a:pPr indent="0" marL="0">
              <a:buNone/>
            </a:pPr>
            <a:r>
              <a:rPr lang="en-US" sz="1200" b="1" dirty="0">
                <a:solidFill>
                  <a:srgbClr val="C4A35A"/>
                </a:solidFill>
                <a:latin typeface="Arial" pitchFamily="34" charset="0"/>
                <a:ea typeface="Arial" pitchFamily="34" charset="-122"/>
                <a:cs typeface="Arial" pitchFamily="34" charset="-120"/>
              </a:rPr>
              <a:t>STRATEGIC FRAMEWORKS THE SKILL GUIDES YOU THROUGH:</a:t>
            </a:r>
            <a:endParaRPr lang="en-US" sz="1200" dirty="0"/>
          </a:p>
        </p:txBody>
      </p:sp>
      <p:sp>
        <p:nvSpPr>
          <p:cNvPr id="14" name="Shape 12"/>
          <p:cNvSpPr/>
          <p:nvPr/>
        </p:nvSpPr>
        <p:spPr>
          <a:xfrm>
            <a:off x="457200" y="3200400"/>
            <a:ext cx="1234440" cy="914400"/>
          </a:xfrm>
          <a:prstGeom prst="rect">
            <a:avLst/>
          </a:prstGeom>
          <a:solidFill>
            <a:srgbClr val="1B365D"/>
          </a:solidFill>
          <a:ln/>
          <a:effectLst>
            <a:outerShdw sx="100000" sy="100000" kx="0" ky="0" algn="bl" rotWithShape="0" blurRad="50800" dist="25400" dir="8100000">
              <a:srgbClr val="000000">
                <a:alpha val="10000"/>
              </a:srgbClr>
            </a:outerShdw>
          </a:effectLst>
        </p:spPr>
      </p:sp>
      <p:sp>
        <p:nvSpPr>
          <p:cNvPr id="15" name="Text 13"/>
          <p:cNvSpPr/>
          <p:nvPr/>
        </p:nvSpPr>
        <p:spPr>
          <a:xfrm>
            <a:off x="457200" y="3200400"/>
            <a:ext cx="123444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PESTEL</a:t>
            </a:r>
            <a:endParaRPr lang="en-US" sz="1200" dirty="0"/>
          </a:p>
        </p:txBody>
      </p:sp>
      <p:sp>
        <p:nvSpPr>
          <p:cNvPr id="16" name="Shape 14"/>
          <p:cNvSpPr/>
          <p:nvPr/>
        </p:nvSpPr>
        <p:spPr>
          <a:xfrm>
            <a:off x="1874520" y="3200400"/>
            <a:ext cx="1234440" cy="914400"/>
          </a:xfrm>
          <a:prstGeom prst="rect">
            <a:avLst/>
          </a:prstGeom>
          <a:solidFill>
            <a:srgbClr val="1B365D"/>
          </a:solidFill>
          <a:ln/>
          <a:effectLst>
            <a:outerShdw sx="100000" sy="100000" kx="0" ky="0" algn="bl" rotWithShape="0" blurRad="50800" dist="25400" dir="8100000">
              <a:srgbClr val="000000">
                <a:alpha val="10000"/>
              </a:srgbClr>
            </a:outerShdw>
          </a:effectLst>
        </p:spPr>
      </p:sp>
      <p:sp>
        <p:nvSpPr>
          <p:cNvPr id="17" name="Text 15"/>
          <p:cNvSpPr/>
          <p:nvPr/>
        </p:nvSpPr>
        <p:spPr>
          <a:xfrm>
            <a:off x="1874520" y="3200400"/>
            <a:ext cx="123444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SWOT</a:t>
            </a:r>
            <a:endParaRPr lang="en-US" sz="1200" dirty="0"/>
          </a:p>
        </p:txBody>
      </p:sp>
      <p:sp>
        <p:nvSpPr>
          <p:cNvPr id="18" name="Shape 16"/>
          <p:cNvSpPr/>
          <p:nvPr/>
        </p:nvSpPr>
        <p:spPr>
          <a:xfrm>
            <a:off x="3291840" y="3200400"/>
            <a:ext cx="1234440" cy="914400"/>
          </a:xfrm>
          <a:prstGeom prst="rect">
            <a:avLst/>
          </a:prstGeom>
          <a:solidFill>
            <a:srgbClr val="1B365D"/>
          </a:solidFill>
          <a:ln/>
          <a:effectLst>
            <a:outerShdw sx="100000" sy="100000" kx="0" ky="0" algn="bl" rotWithShape="0" blurRad="50800" dist="25400" dir="8100000">
              <a:srgbClr val="000000">
                <a:alpha val="10000"/>
              </a:srgbClr>
            </a:outerShdw>
          </a:effectLst>
        </p:spPr>
      </p:sp>
      <p:sp>
        <p:nvSpPr>
          <p:cNvPr id="19" name="Text 17"/>
          <p:cNvSpPr/>
          <p:nvPr/>
        </p:nvSpPr>
        <p:spPr>
          <a:xfrm>
            <a:off x="3291840" y="3200400"/>
            <a:ext cx="123444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VRIO</a:t>
            </a:r>
            <a:endParaRPr lang="en-US" sz="1200" dirty="0"/>
          </a:p>
        </p:txBody>
      </p:sp>
      <p:sp>
        <p:nvSpPr>
          <p:cNvPr id="20" name="Shape 18"/>
          <p:cNvSpPr/>
          <p:nvPr/>
        </p:nvSpPr>
        <p:spPr>
          <a:xfrm>
            <a:off x="4709160" y="3200400"/>
            <a:ext cx="1234440" cy="914400"/>
          </a:xfrm>
          <a:prstGeom prst="rect">
            <a:avLst/>
          </a:prstGeom>
          <a:solidFill>
            <a:srgbClr val="1B365D"/>
          </a:solidFill>
          <a:ln/>
          <a:effectLst>
            <a:outerShdw sx="100000" sy="100000" kx="0" ky="0" algn="bl" rotWithShape="0" blurRad="50800" dist="25400" dir="8100000">
              <a:srgbClr val="000000">
                <a:alpha val="10000"/>
              </a:srgbClr>
            </a:outerShdw>
          </a:effectLst>
        </p:spPr>
      </p:sp>
      <p:sp>
        <p:nvSpPr>
          <p:cNvPr id="21" name="Text 19"/>
          <p:cNvSpPr/>
          <p:nvPr/>
        </p:nvSpPr>
        <p:spPr>
          <a:xfrm>
            <a:off x="4709160" y="3200400"/>
            <a:ext cx="123444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Porter's</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5 Forces</a:t>
            </a:r>
            <a:endParaRPr lang="en-US" sz="1200" dirty="0"/>
          </a:p>
        </p:txBody>
      </p:sp>
      <p:sp>
        <p:nvSpPr>
          <p:cNvPr id="22" name="Shape 20"/>
          <p:cNvSpPr/>
          <p:nvPr/>
        </p:nvSpPr>
        <p:spPr>
          <a:xfrm>
            <a:off x="6126480" y="3200400"/>
            <a:ext cx="1234440" cy="914400"/>
          </a:xfrm>
          <a:prstGeom prst="rect">
            <a:avLst/>
          </a:prstGeom>
          <a:solidFill>
            <a:srgbClr val="1B365D"/>
          </a:solidFill>
          <a:ln/>
          <a:effectLst>
            <a:outerShdw sx="100000" sy="100000" kx="0" ky="0" algn="bl" rotWithShape="0" blurRad="50800" dist="25400" dir="8100000">
              <a:srgbClr val="000000">
                <a:alpha val="10000"/>
              </a:srgbClr>
            </a:outerShdw>
          </a:effectLst>
        </p:spPr>
      </p:sp>
      <p:sp>
        <p:nvSpPr>
          <p:cNvPr id="23" name="Text 21"/>
          <p:cNvSpPr/>
          <p:nvPr/>
        </p:nvSpPr>
        <p:spPr>
          <a:xfrm>
            <a:off x="6126480" y="3200400"/>
            <a:ext cx="123444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Market</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Positioning</a:t>
            </a:r>
            <a:endParaRPr lang="en-US" sz="1200" dirty="0"/>
          </a:p>
        </p:txBody>
      </p:sp>
      <p:sp>
        <p:nvSpPr>
          <p:cNvPr id="24" name="Shape 22"/>
          <p:cNvSpPr/>
          <p:nvPr/>
        </p:nvSpPr>
        <p:spPr>
          <a:xfrm>
            <a:off x="7543800" y="3200400"/>
            <a:ext cx="1234440" cy="914400"/>
          </a:xfrm>
          <a:prstGeom prst="rect">
            <a:avLst/>
          </a:prstGeom>
          <a:solidFill>
            <a:srgbClr val="1B365D"/>
          </a:solidFill>
          <a:ln/>
          <a:effectLst>
            <a:outerShdw sx="100000" sy="100000" kx="0" ky="0" algn="bl" rotWithShape="0" blurRad="50800" dist="25400" dir="8100000">
              <a:srgbClr val="000000">
                <a:alpha val="10000"/>
              </a:srgbClr>
            </a:outerShdw>
          </a:effectLst>
        </p:spPr>
      </p:sp>
      <p:sp>
        <p:nvSpPr>
          <p:cNvPr id="25" name="Text 23"/>
          <p:cNvSpPr/>
          <p:nvPr/>
        </p:nvSpPr>
        <p:spPr>
          <a:xfrm>
            <a:off x="7543800" y="3200400"/>
            <a:ext cx="123444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Positioning</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Disruption</a:t>
            </a:r>
            <a:endParaRPr lang="en-US" sz="1200" dirty="0"/>
          </a:p>
        </p:txBody>
      </p:sp>
      <p:sp>
        <p:nvSpPr>
          <p:cNvPr id="26" name="Text 24"/>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A35A"/>
          </a:solidFill>
          <a:ln/>
        </p:spPr>
      </p:sp>
      <p:sp>
        <p:nvSpPr>
          <p:cNvPr id="3" name="Shape 1"/>
          <p:cNvSpPr/>
          <p:nvPr/>
        </p:nvSpPr>
        <p:spPr>
          <a:xfrm>
            <a:off x="6583680" y="-1097280"/>
            <a:ext cx="4114800" cy="4114800"/>
          </a:xfrm>
          <a:prstGeom prst="ellipse">
            <a:avLst/>
          </a:prstGeom>
          <a:solidFill>
            <a:srgbClr val="1B365D">
              <a:alpha val="0"/>
            </a:srgbClr>
          </a:solidFill>
          <a:ln w="9525">
            <a:solidFill>
              <a:srgbClr val="C4A35A"/>
            </a:solidFill>
            <a:prstDash val="solid"/>
          </a:ln>
        </p:spPr>
      </p:sp>
      <p:sp>
        <p:nvSpPr>
          <p:cNvPr id="4" name="Shape 2"/>
          <p:cNvSpPr/>
          <p:nvPr/>
        </p:nvSpPr>
        <p:spPr>
          <a:xfrm>
            <a:off x="7498080" y="0"/>
            <a:ext cx="2286000" cy="2286000"/>
          </a:xfrm>
          <a:prstGeom prst="ellipse">
            <a:avLst/>
          </a:prstGeom>
          <a:solidFill>
            <a:srgbClr val="1B365D">
              <a:alpha val="0"/>
            </a:srgbClr>
          </a:solidFill>
          <a:ln w="6350">
            <a:solidFill>
              <a:srgbClr val="C4A35A"/>
            </a:solidFill>
            <a:prstDash val="solid"/>
          </a:ln>
        </p:spPr>
      </p:sp>
      <p:sp>
        <p:nvSpPr>
          <p:cNvPr id="5" name="Shape 3"/>
          <p:cNvSpPr/>
          <p:nvPr/>
        </p:nvSpPr>
        <p:spPr>
          <a:xfrm>
            <a:off x="457200" y="1280160"/>
            <a:ext cx="1463040" cy="411480"/>
          </a:xfrm>
          <a:prstGeom prst="rect">
            <a:avLst/>
          </a:prstGeom>
          <a:solidFill>
            <a:srgbClr val="C4A35A"/>
          </a:solidFill>
          <a:ln/>
        </p:spPr>
      </p:sp>
      <p:sp>
        <p:nvSpPr>
          <p:cNvPr id="6" name="Text 4"/>
          <p:cNvSpPr/>
          <p:nvPr/>
        </p:nvSpPr>
        <p:spPr>
          <a:xfrm>
            <a:off x="457200" y="128016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2</a:t>
            </a:r>
            <a:endParaRPr lang="en-US" sz="1300" dirty="0"/>
          </a:p>
        </p:txBody>
      </p:sp>
      <p:sp>
        <p:nvSpPr>
          <p:cNvPr id="7" name="Text 5"/>
          <p:cNvSpPr/>
          <p:nvPr/>
        </p:nvSpPr>
        <p:spPr>
          <a:xfrm>
            <a:off x="457200" y="1920240"/>
            <a:ext cx="7315200" cy="1097280"/>
          </a:xfrm>
          <a:prstGeom prst="rect">
            <a:avLst/>
          </a:prstGeom>
          <a:noFill/>
          <a:ln/>
        </p:spPr>
        <p:txBody>
          <a:bodyPr wrap="square" rtlCol="0" anchor="t"/>
          <a:lstStyle/>
          <a:p>
            <a:pPr algn="l" indent="0" marL="0">
              <a:buNone/>
            </a:pPr>
            <a:r>
              <a:rPr lang="en-US" sz="3800" b="1" dirty="0">
                <a:solidFill>
                  <a:srgbClr val="FFFFFF"/>
                </a:solidFill>
                <a:latin typeface="Georgia" pitchFamily="34" charset="0"/>
                <a:ea typeface="Georgia" pitchFamily="34" charset="-122"/>
                <a:cs typeface="Georgia" pitchFamily="34" charset="-120"/>
              </a:rPr>
              <a:t>Rubric Creation</a:t>
            </a:r>
            <a:endParaRPr lang="en-US" sz="3800" dirty="0"/>
          </a:p>
        </p:txBody>
      </p:sp>
      <p:sp>
        <p:nvSpPr>
          <p:cNvPr id="8" name="Text 6"/>
          <p:cNvSpPr/>
          <p:nvPr/>
        </p:nvSpPr>
        <p:spPr>
          <a:xfrm>
            <a:off x="457200" y="3108960"/>
            <a:ext cx="6400800" cy="731520"/>
          </a:xfrm>
          <a:prstGeom prst="rect">
            <a:avLst/>
          </a:prstGeom>
          <a:noFill/>
          <a:ln/>
        </p:spPr>
        <p:txBody>
          <a:bodyPr wrap="square" rtlCol="0" anchor="ctr"/>
          <a:lstStyle/>
          <a:p>
            <a:pPr algn="l" indent="0" marL="0">
              <a:buNone/>
            </a:pPr>
            <a:r>
              <a:rPr lang="en-US" sz="1700" i="1" dirty="0">
                <a:solidFill>
                  <a:srgbClr val="C4A35A"/>
                </a:solidFill>
                <a:latin typeface="Georgia" pitchFamily="34" charset="0"/>
                <a:ea typeface="Georgia" pitchFamily="34" charset="-122"/>
                <a:cs typeface="Georgia" pitchFamily="34" charset="-120"/>
              </a:rPr>
              <a:t>Building your custom scoring system before you evaluate anything</a:t>
            </a:r>
            <a:endParaRPr lang="en-US" sz="1700" dirty="0"/>
          </a:p>
        </p:txBody>
      </p:sp>
      <p:sp>
        <p:nvSpPr>
          <p:cNvPr id="9" name="Shape 7"/>
          <p:cNvSpPr/>
          <p:nvPr/>
        </p:nvSpPr>
        <p:spPr>
          <a:xfrm>
            <a:off x="0" y="4960620"/>
            <a:ext cx="9144000" cy="182880"/>
          </a:xfrm>
          <a:prstGeom prst="rect">
            <a:avLst/>
          </a:prstGeom>
          <a:solidFill>
            <a:srgbClr val="C4A35A"/>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274320"/>
            <a:ext cx="1463040" cy="411480"/>
          </a:xfrm>
          <a:prstGeom prst="rect">
            <a:avLst/>
          </a:prstGeom>
          <a:solidFill>
            <a:srgbClr val="C4A35A"/>
          </a:solidFill>
          <a:ln/>
        </p:spPr>
      </p:sp>
      <p:sp>
        <p:nvSpPr>
          <p:cNvPr id="3" name="Text 1"/>
          <p:cNvSpPr/>
          <p:nvPr/>
        </p:nvSpPr>
        <p:spPr>
          <a:xfrm>
            <a:off x="457200" y="27432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2</a:t>
            </a:r>
            <a:endParaRPr lang="en-US" sz="1300" dirty="0"/>
          </a:p>
        </p:txBody>
      </p:sp>
      <p:sp>
        <p:nvSpPr>
          <p:cNvPr id="4" name="Text 2"/>
          <p:cNvSpPr/>
          <p:nvPr/>
        </p:nvSpPr>
        <p:spPr>
          <a:xfrm>
            <a:off x="2103120" y="274320"/>
            <a:ext cx="6400800" cy="457200"/>
          </a:xfrm>
          <a:prstGeom prst="rect">
            <a:avLst/>
          </a:prstGeom>
          <a:noFill/>
          <a:ln/>
        </p:spPr>
        <p:txBody>
          <a:bodyPr wrap="square"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Scoring System &amp; Decision Gates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4754880" cy="914400"/>
        </p:xfrm>
        <a:graphic>
          <a:graphicData uri="http://schemas.openxmlformats.org/drawingml/2006/table">
            <a:tbl>
              <a:tblPr/>
              <a:tblGrid>
                <a:gridCol w="548640"/>
                <a:gridCol w="822960"/>
                <a:gridCol w="3383280"/>
              </a:tblGrid>
              <a:tr h="292608">
                <a:tc>
                  <a:txBody>
                    <a:bodyPr/>
                    <a:lstStyle/>
                    <a:p>
                      <a:pPr algn="ctr" indent="0" marL="0">
                        <a:buNone/>
                      </a:pPr>
                      <a:r>
                        <a:rPr lang="en-US" sz="1100" b="1" dirty="0">
                          <a:solidFill>
                            <a:srgbClr val="FFFFFF"/>
                          </a:solidFill>
                        </a:rPr>
                        <a:t>Score</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solidFill>
                      <a:srgbClr val="1B365D"/>
                    </a:solidFill>
                  </a:tcPr>
                </a:tc>
                <a:tc>
                  <a:txBody>
                    <a:bodyPr/>
                    <a:lstStyle/>
                    <a:p>
                      <a:pPr algn="ctr" indent="0" marL="0">
                        <a:buNone/>
                      </a:pPr>
                      <a:r>
                        <a:rPr lang="en-US" sz="1100" b="1" dirty="0">
                          <a:solidFill>
                            <a:srgbClr val="FFFFFF"/>
                          </a:solidFill>
                        </a:rPr>
                        <a:t>Level</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solidFill>
                      <a:srgbClr val="1B365D"/>
                    </a:solidFill>
                  </a:tcPr>
                </a:tc>
                <a:tc>
                  <a:txBody>
                    <a:bodyPr/>
                    <a:lstStyle/>
                    <a:p>
                      <a:pPr indent="0" marL="0">
                        <a:buNone/>
                      </a:pPr>
                      <a:r>
                        <a:rPr lang="en-US" sz="1100" b="1" dirty="0">
                          <a:solidFill>
                            <a:srgbClr val="FFFFFF"/>
                          </a:solidFill>
                        </a:rPr>
                        <a:t>Definition</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solidFill>
                      <a:srgbClr val="1B365D"/>
                    </a:solidFill>
                  </a:tcPr>
                </a:tc>
              </a:tr>
              <a:tr h="292608">
                <a:tc>
                  <a:txBody>
                    <a:bodyPr/>
                    <a:lstStyle/>
                    <a:p>
                      <a:pPr algn="ctr" indent="0" marL="0">
                        <a:buNone/>
                      </a:pPr>
                      <a:r>
                        <a:rPr lang="en-US" sz="1100" b="1" dirty="0">
                          <a:solidFill>
                            <a:srgbClr val="CC3333"/>
                          </a:solidFill>
                        </a:rPr>
                        <a:t>0</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c>
                  <a:txBody>
                    <a:bodyPr/>
                    <a:lstStyle/>
                    <a:p>
                      <a:pPr algn="ctr" indent="0" marL="0">
                        <a:buNone/>
                      </a:pPr>
                      <a:r>
                        <a:rPr lang="en-US" sz="1100" dirty="0">
                          <a:solidFill>
                            <a:srgbClr val="1B365D"/>
                          </a:solidFill>
                        </a:rPr>
                        <a:t>Not Met</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c>
                  <a:txBody>
                    <a:bodyPr/>
                    <a:lstStyle/>
                    <a:p>
                      <a:pPr indent="0" marL="0">
                        <a:buNone/>
                      </a:pPr>
                      <a:r>
                        <a:rPr lang="en-US" sz="1000" dirty="0">
                          <a:solidFill>
                            <a:srgbClr val="1B365D"/>
                          </a:solidFill>
                        </a:rPr>
                        <a:t>No evidence; fundamental gap</a:t>
                      </a:r>
                      <a:endParaRPr lang="en-US" sz="10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r>
              <a:tr h="292608">
                <a:tc>
                  <a:txBody>
                    <a:bodyPr/>
                    <a:lstStyle/>
                    <a:p>
                      <a:pPr algn="ctr" indent="0" marL="0">
                        <a:buNone/>
                      </a:pPr>
                      <a:r>
                        <a:rPr lang="en-US" sz="1100" b="1" dirty="0">
                          <a:solidFill>
                            <a:srgbClr val="CC8833"/>
                          </a:solidFill>
                        </a:rPr>
                        <a:t>1</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c>
                  <a:txBody>
                    <a:bodyPr/>
                    <a:lstStyle/>
                    <a:p>
                      <a:pPr algn="ctr" indent="0" marL="0">
                        <a:buNone/>
                      </a:pPr>
                      <a:r>
                        <a:rPr lang="en-US" sz="1100" dirty="0">
                          <a:solidFill>
                            <a:srgbClr val="1B365D"/>
                          </a:solidFill>
                        </a:rPr>
                        <a:t>Minimal</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c>
                  <a:txBody>
                    <a:bodyPr/>
                    <a:lstStyle/>
                    <a:p>
                      <a:pPr indent="0" marL="0">
                        <a:buNone/>
                      </a:pPr>
                      <a:r>
                        <a:rPr lang="en-US" sz="1000" dirty="0">
                          <a:solidFill>
                            <a:srgbClr val="1B365D"/>
                          </a:solidFill>
                        </a:rPr>
                        <a:t>Marginal alignment; significant effort needed</a:t>
                      </a:r>
                      <a:endParaRPr lang="en-US" sz="10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r>
              <a:tr h="292608">
                <a:tc>
                  <a:txBody>
                    <a:bodyPr/>
                    <a:lstStyle/>
                    <a:p>
                      <a:pPr algn="ctr" indent="0" marL="0">
                        <a:buNone/>
                      </a:pPr>
                      <a:r>
                        <a:rPr lang="en-US" sz="1100" b="1" dirty="0">
                          <a:solidFill>
                            <a:srgbClr val="C4A35A"/>
                          </a:solidFill>
                        </a:rPr>
                        <a:t>2</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c>
                  <a:txBody>
                    <a:bodyPr/>
                    <a:lstStyle/>
                    <a:p>
                      <a:pPr algn="ctr" indent="0" marL="0">
                        <a:buNone/>
                      </a:pPr>
                      <a:r>
                        <a:rPr lang="en-US" sz="1100" dirty="0">
                          <a:solidFill>
                            <a:srgbClr val="1B365D"/>
                          </a:solidFill>
                        </a:rPr>
                        <a:t>Partial</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c>
                  <a:txBody>
                    <a:bodyPr/>
                    <a:lstStyle/>
                    <a:p>
                      <a:pPr indent="0" marL="0">
                        <a:buNone/>
                      </a:pPr>
                      <a:r>
                        <a:rPr lang="en-US" sz="1000" dirty="0">
                          <a:solidFill>
                            <a:srgbClr val="1B365D"/>
                          </a:solidFill>
                        </a:rPr>
                        <a:t>Some fit; moderate gaps remain</a:t>
                      </a:r>
                      <a:endParaRPr lang="en-US" sz="10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r>
              <a:tr h="292608">
                <a:tc>
                  <a:txBody>
                    <a:bodyPr/>
                    <a:lstStyle/>
                    <a:p>
                      <a:pPr algn="ctr" indent="0" marL="0">
                        <a:buNone/>
                      </a:pPr>
                      <a:r>
                        <a:rPr lang="en-US" sz="1100" b="1" dirty="0">
                          <a:solidFill>
                            <a:srgbClr val="5599CC"/>
                          </a:solidFill>
                        </a:rPr>
                        <a:t>3</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c>
                  <a:txBody>
                    <a:bodyPr/>
                    <a:lstStyle/>
                    <a:p>
                      <a:pPr algn="ctr" indent="0" marL="0">
                        <a:buNone/>
                      </a:pPr>
                      <a:r>
                        <a:rPr lang="en-US" sz="1100" dirty="0">
                          <a:solidFill>
                            <a:srgbClr val="1B365D"/>
                          </a:solidFill>
                        </a:rPr>
                        <a:t>Strong</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c>
                  <a:txBody>
                    <a:bodyPr/>
                    <a:lstStyle/>
                    <a:p>
                      <a:pPr indent="0" marL="0">
                        <a:buNone/>
                      </a:pPr>
                      <a:r>
                        <a:rPr lang="en-US" sz="1000" dirty="0">
                          <a:solidFill>
                            <a:srgbClr val="1B365D"/>
                          </a:solidFill>
                        </a:rPr>
                        <a:t>Clear alignment with minor improvements</a:t>
                      </a:r>
                      <a:endParaRPr lang="en-US" sz="10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r>
              <a:tr h="292608">
                <a:tc>
                  <a:txBody>
                    <a:bodyPr/>
                    <a:lstStyle/>
                    <a:p>
                      <a:pPr algn="ctr" indent="0" marL="0">
                        <a:buNone/>
                      </a:pPr>
                      <a:r>
                        <a:rPr lang="en-US" sz="1100" b="1" dirty="0">
                          <a:solidFill>
                            <a:srgbClr val="2E8B57"/>
                          </a:solidFill>
                        </a:rPr>
                        <a:t>4</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c>
                  <a:txBody>
                    <a:bodyPr/>
                    <a:lstStyle/>
                    <a:p>
                      <a:pPr algn="ctr" indent="0" marL="0">
                        <a:buNone/>
                      </a:pPr>
                      <a:r>
                        <a:rPr lang="en-US" sz="1100" dirty="0">
                          <a:solidFill>
                            <a:srgbClr val="1B365D"/>
                          </a:solidFill>
                        </a:rPr>
                        <a:t>Excellent</a:t>
                      </a:r>
                      <a:endParaRPr lang="en-US" sz="11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c>
                  <a:txBody>
                    <a:bodyPr/>
                    <a:lstStyle/>
                    <a:p>
                      <a:pPr indent="0" marL="0">
                        <a:buNone/>
                      </a:pPr>
                      <a:r>
                        <a:rPr lang="en-US" sz="1000" dirty="0">
                          <a:solidFill>
                            <a:srgbClr val="1B365D"/>
                          </a:solidFill>
                        </a:rPr>
                        <a:t>Full alignment; compelling evidence</a:t>
                      </a:r>
                      <a:endParaRPr lang="en-US" sz="1000" dirty="0"/>
                    </a:p>
                  </a:txBody>
                  <a:tcPr marL="91440" marR="91440" marT="45720" marB="45720">
                    <a:lnL w="6350" cap="flat" cmpd="sng" algn="ctr">
                      <a:solidFill>
                        <a:srgbClr val="E8E6E1"/>
                      </a:solidFill>
                      <a:prstDash val="solid"/>
                      <a:round/>
                      <a:headEnd type="none" w="med" len="med"/>
                      <a:tailEnd type="none" w="med" len="med"/>
                    </a:lnL>
                    <a:lnR w="6350" cap="flat" cmpd="sng" algn="ctr">
                      <a:solidFill>
                        <a:srgbClr val="E8E6E1"/>
                      </a:solidFill>
                      <a:prstDash val="solid"/>
                      <a:round/>
                      <a:headEnd type="none" w="med" len="med"/>
                      <a:tailEnd type="none" w="med" len="med"/>
                    </a:lnR>
                    <a:lnT w="6350" cap="flat" cmpd="sng" algn="ctr">
                      <a:solidFill>
                        <a:srgbClr val="E8E6E1"/>
                      </a:solidFill>
                      <a:prstDash val="solid"/>
                      <a:round/>
                      <a:headEnd type="none" w="med" len="med"/>
                      <a:tailEnd type="none" w="med" len="med"/>
                    </a:lnT>
                    <a:lnB w="6350" cap="flat" cmpd="sng" algn="ctr">
                      <a:solidFill>
                        <a:srgbClr val="E8E6E1"/>
                      </a:solidFill>
                      <a:prstDash val="solid"/>
                      <a:round/>
                      <a:headEnd type="none" w="med" len="med"/>
                      <a:tailEnd type="none" w="med" len="med"/>
                    </a:lnB>
                  </a:tcPr>
                </a:tc>
              </a:tr>
            </a:tbl>
          </a:graphicData>
        </a:graphic>
      </p:graphicFrame>
      <p:sp>
        <p:nvSpPr>
          <p:cNvPr id="6" name="Shape 3"/>
          <p:cNvSpPr/>
          <p:nvPr/>
        </p:nvSpPr>
        <p:spPr>
          <a:xfrm>
            <a:off x="5486400" y="914400"/>
            <a:ext cx="3200400" cy="1755648"/>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486400" y="914400"/>
            <a:ext cx="54864" cy="1755648"/>
          </a:xfrm>
          <a:prstGeom prst="rect">
            <a:avLst/>
          </a:prstGeom>
          <a:solidFill>
            <a:srgbClr val="C4A35A"/>
          </a:solidFill>
          <a:ln/>
        </p:spPr>
      </p:sp>
      <p:sp>
        <p:nvSpPr>
          <p:cNvPr id="8" name="Text 5"/>
          <p:cNvSpPr/>
          <p:nvPr/>
        </p:nvSpPr>
        <p:spPr>
          <a:xfrm>
            <a:off x="5669280" y="987552"/>
            <a:ext cx="2834640" cy="274320"/>
          </a:xfrm>
          <a:prstGeom prst="rect">
            <a:avLst/>
          </a:prstGeom>
          <a:noFill/>
          <a:ln/>
        </p:spPr>
        <p:txBody>
          <a:bodyPr wrap="square" rtlCol="0" anchor="ctr"/>
          <a:lstStyle/>
          <a:p>
            <a:pPr indent="0" marL="0">
              <a:buNone/>
            </a:pPr>
            <a:r>
              <a:rPr lang="en-US" sz="1200" b="1" dirty="0">
                <a:solidFill>
                  <a:srgbClr val="C4A35A"/>
                </a:solidFill>
                <a:latin typeface="Arial" pitchFamily="34" charset="0"/>
                <a:ea typeface="Arial" pitchFamily="34" charset="-122"/>
                <a:cs typeface="Arial" pitchFamily="34" charset="-120"/>
              </a:rPr>
              <a:t>FORMULA</a:t>
            </a:r>
            <a:endParaRPr lang="en-US" sz="1200" dirty="0"/>
          </a:p>
        </p:txBody>
      </p:sp>
      <p:sp>
        <p:nvSpPr>
          <p:cNvPr id="9" name="Text 6"/>
          <p:cNvSpPr/>
          <p:nvPr/>
        </p:nvSpPr>
        <p:spPr>
          <a:xfrm>
            <a:off x="5669280" y="1280160"/>
            <a:ext cx="2834640" cy="320040"/>
          </a:xfrm>
          <a:prstGeom prst="rect">
            <a:avLst/>
          </a:prstGeom>
          <a:noFill/>
          <a:ln/>
        </p:spPr>
        <p:txBody>
          <a:bodyPr wrap="square" rtlCol="0" anchor="ctr"/>
          <a:lstStyle/>
          <a:p>
            <a:pPr algn="ctr" indent="0" marL="0">
              <a:buNone/>
            </a:pPr>
            <a:r>
              <a:rPr lang="en-US" sz="1500" b="1" dirty="0">
                <a:solidFill>
                  <a:srgbClr val="1B365D"/>
                </a:solidFill>
                <a:latin typeface="Georgia" pitchFamily="34" charset="0"/>
                <a:ea typeface="Georgia" pitchFamily="34" charset="-122"/>
                <a:cs typeface="Georgia" pitchFamily="34" charset="-120"/>
              </a:rPr>
              <a:t>Σ(weight × score)</a:t>
            </a:r>
            <a:endParaRPr lang="en-US" sz="1500" dirty="0"/>
          </a:p>
        </p:txBody>
      </p:sp>
      <p:sp>
        <p:nvSpPr>
          <p:cNvPr id="10" name="Shape 7"/>
          <p:cNvSpPr/>
          <p:nvPr/>
        </p:nvSpPr>
        <p:spPr>
          <a:xfrm>
            <a:off x="5852160" y="1627632"/>
            <a:ext cx="2468880" cy="18288"/>
          </a:xfrm>
          <a:prstGeom prst="rect">
            <a:avLst/>
          </a:prstGeom>
          <a:solidFill>
            <a:srgbClr val="1B365D"/>
          </a:solidFill>
          <a:ln/>
        </p:spPr>
      </p:sp>
      <p:sp>
        <p:nvSpPr>
          <p:cNvPr id="11" name="Text 8"/>
          <p:cNvSpPr/>
          <p:nvPr/>
        </p:nvSpPr>
        <p:spPr>
          <a:xfrm>
            <a:off x="5669280" y="1664208"/>
            <a:ext cx="2834640" cy="320040"/>
          </a:xfrm>
          <a:prstGeom prst="rect">
            <a:avLst/>
          </a:prstGeom>
          <a:noFill/>
          <a:ln/>
        </p:spPr>
        <p:txBody>
          <a:bodyPr wrap="square" rtlCol="0" anchor="ctr"/>
          <a:lstStyle/>
          <a:p>
            <a:pPr algn="ctr" indent="0" marL="0">
              <a:buNone/>
            </a:pPr>
            <a:r>
              <a:rPr lang="en-US" sz="1500" b="1" dirty="0">
                <a:solidFill>
                  <a:srgbClr val="1B365D"/>
                </a:solidFill>
                <a:latin typeface="Georgia" pitchFamily="34" charset="0"/>
                <a:ea typeface="Georgia" pitchFamily="34" charset="-122"/>
                <a:cs typeface="Georgia" pitchFamily="34" charset="-120"/>
              </a:rPr>
              <a:t>Σ(weight × 4)</a:t>
            </a:r>
            <a:endParaRPr lang="en-US" sz="1500" dirty="0"/>
          </a:p>
        </p:txBody>
      </p:sp>
      <p:sp>
        <p:nvSpPr>
          <p:cNvPr id="12" name="Text 9"/>
          <p:cNvSpPr/>
          <p:nvPr/>
        </p:nvSpPr>
        <p:spPr>
          <a:xfrm>
            <a:off x="5669280" y="2011680"/>
            <a:ext cx="2834640" cy="274320"/>
          </a:xfrm>
          <a:prstGeom prst="rect">
            <a:avLst/>
          </a:prstGeom>
          <a:noFill/>
          <a:ln/>
        </p:spPr>
        <p:txBody>
          <a:bodyPr wrap="square" rtlCol="0" anchor="ctr"/>
          <a:lstStyle/>
          <a:p>
            <a:pPr algn="ctr" indent="0" marL="0">
              <a:buNone/>
            </a:pPr>
            <a:r>
              <a:rPr lang="en-US" sz="1300" dirty="0">
                <a:solidFill>
                  <a:srgbClr val="1B365D"/>
                </a:solidFill>
                <a:latin typeface="Arial" pitchFamily="34" charset="0"/>
                <a:ea typeface="Arial" pitchFamily="34" charset="-122"/>
                <a:cs typeface="Arial" pitchFamily="34" charset="-120"/>
              </a:rPr>
              <a:t>× 100%</a:t>
            </a:r>
            <a:endParaRPr lang="en-US" sz="1300" dirty="0"/>
          </a:p>
        </p:txBody>
      </p:sp>
      <p:sp>
        <p:nvSpPr>
          <p:cNvPr id="13" name="Text 10"/>
          <p:cNvSpPr/>
          <p:nvPr/>
        </p:nvSpPr>
        <p:spPr>
          <a:xfrm>
            <a:off x="5669280" y="2286000"/>
            <a:ext cx="2834640" cy="320040"/>
          </a:xfrm>
          <a:prstGeom prst="rect">
            <a:avLst/>
          </a:prstGeom>
          <a:noFill/>
          <a:ln/>
        </p:spPr>
        <p:txBody>
          <a:bodyPr wrap="square" rtlCol="0" anchor="ctr"/>
          <a:lstStyle/>
          <a:p>
            <a:pPr algn="ctr" indent="0" marL="0">
              <a:buNone/>
            </a:pPr>
            <a:r>
              <a:rPr lang="en-US" sz="1000" dirty="0">
                <a:solidFill>
                  <a:srgbClr val="5A5A5A"/>
                </a:solidFill>
                <a:latin typeface="Arial" pitchFamily="34" charset="0"/>
                <a:ea typeface="Arial" pitchFamily="34" charset="-122"/>
                <a:cs typeface="Arial" pitchFamily="34" charset="-120"/>
              </a:rPr>
              <a:t>Not normalized to 100%.</a:t>
            </a:r>
            <a:endParaRPr lang="en-US" sz="1000" dirty="0"/>
          </a:p>
          <a:p>
            <a:pPr algn="ctr" indent="0" marL="0">
              <a:buNone/>
            </a:pPr>
            <a:r>
              <a:rPr lang="en-US" sz="1000" dirty="0">
                <a:solidFill>
                  <a:srgbClr val="5A5A5A"/>
                </a:solidFill>
                <a:latin typeface="Arial" pitchFamily="34" charset="0"/>
                <a:ea typeface="Arial" pitchFamily="34" charset="-122"/>
                <a:cs typeface="Arial" pitchFamily="34" charset="-120"/>
              </a:rPr>
              <a:t>Actual % of maximum possible.</a:t>
            </a:r>
            <a:endParaRPr lang="en-US" sz="1000" dirty="0"/>
          </a:p>
        </p:txBody>
      </p:sp>
      <p:sp>
        <p:nvSpPr>
          <p:cNvPr id="14" name="Text 11"/>
          <p:cNvSpPr/>
          <p:nvPr/>
        </p:nvSpPr>
        <p:spPr>
          <a:xfrm>
            <a:off x="457200" y="2926080"/>
            <a:ext cx="8229600" cy="320040"/>
          </a:xfrm>
          <a:prstGeom prst="rect">
            <a:avLst/>
          </a:prstGeom>
          <a:noFill/>
          <a:ln/>
        </p:spPr>
        <p:txBody>
          <a:bodyPr wrap="square" rtlCol="0" anchor="ctr"/>
          <a:lstStyle/>
          <a:p>
            <a:pPr indent="0" marL="0">
              <a:buNone/>
            </a:pPr>
            <a:r>
              <a:rPr lang="en-US" sz="1300" b="1" dirty="0">
                <a:solidFill>
                  <a:srgbClr val="1B365D"/>
                </a:solidFill>
                <a:latin typeface="Arial" pitchFamily="34" charset="0"/>
                <a:ea typeface="Arial" pitchFamily="34" charset="-122"/>
                <a:cs typeface="Arial" pitchFamily="34" charset="-120"/>
              </a:rPr>
              <a:t>DECISION THRESHOLDS</a:t>
            </a:r>
            <a:endParaRPr lang="en-US" sz="1300" dirty="0"/>
          </a:p>
        </p:txBody>
      </p:sp>
      <p:sp>
        <p:nvSpPr>
          <p:cNvPr id="15" name="Shape 12"/>
          <p:cNvSpPr/>
          <p:nvPr/>
        </p:nvSpPr>
        <p:spPr>
          <a:xfrm>
            <a:off x="457200" y="3291840"/>
            <a:ext cx="2651760" cy="1188720"/>
          </a:xfrm>
          <a:prstGeom prst="rect">
            <a:avLst/>
          </a:prstGeom>
          <a:solidFill>
            <a:srgbClr val="FFF0F0"/>
          </a:solidFill>
          <a:ln/>
          <a:effectLst>
            <a:outerShdw sx="100000" sy="100000" kx="0" ky="0" algn="bl" rotWithShape="0" blurRad="50800" dist="25400" dir="8100000">
              <a:srgbClr val="000000">
                <a:alpha val="10000"/>
              </a:srgbClr>
            </a:outerShdw>
          </a:effectLst>
        </p:spPr>
      </p:sp>
      <p:sp>
        <p:nvSpPr>
          <p:cNvPr id="16" name="Shape 13"/>
          <p:cNvSpPr/>
          <p:nvPr/>
        </p:nvSpPr>
        <p:spPr>
          <a:xfrm>
            <a:off x="457200" y="3291840"/>
            <a:ext cx="2651760" cy="54864"/>
          </a:xfrm>
          <a:prstGeom prst="rect">
            <a:avLst/>
          </a:prstGeom>
          <a:solidFill>
            <a:srgbClr val="CC3333"/>
          </a:solidFill>
          <a:ln/>
        </p:spPr>
      </p:sp>
      <p:sp>
        <p:nvSpPr>
          <p:cNvPr id="17" name="Text 14"/>
          <p:cNvSpPr/>
          <p:nvPr/>
        </p:nvSpPr>
        <p:spPr>
          <a:xfrm>
            <a:off x="548640" y="3383280"/>
            <a:ext cx="1371600" cy="274320"/>
          </a:xfrm>
          <a:prstGeom prst="rect">
            <a:avLst/>
          </a:prstGeom>
          <a:noFill/>
          <a:ln/>
        </p:spPr>
        <p:txBody>
          <a:bodyPr wrap="square" rtlCol="0" anchor="ctr"/>
          <a:lstStyle/>
          <a:p>
            <a:pPr indent="0" marL="0">
              <a:buNone/>
            </a:pPr>
            <a:r>
              <a:rPr lang="en-US" sz="1200" b="1" dirty="0">
                <a:solidFill>
                  <a:srgbClr val="1B365D"/>
                </a:solidFill>
                <a:latin typeface="Arial" pitchFamily="34" charset="0"/>
                <a:ea typeface="Arial" pitchFamily="34" charset="-122"/>
                <a:cs typeface="Arial" pitchFamily="34" charset="-120"/>
              </a:rPr>
              <a:t>Below 90%</a:t>
            </a:r>
            <a:endParaRPr lang="en-US" sz="1200" dirty="0"/>
          </a:p>
        </p:txBody>
      </p:sp>
      <p:sp>
        <p:nvSpPr>
          <p:cNvPr id="18" name="Text 15"/>
          <p:cNvSpPr/>
          <p:nvPr/>
        </p:nvSpPr>
        <p:spPr>
          <a:xfrm>
            <a:off x="2011680" y="3383280"/>
            <a:ext cx="1005840" cy="274320"/>
          </a:xfrm>
          <a:prstGeom prst="rect">
            <a:avLst/>
          </a:prstGeom>
          <a:noFill/>
          <a:ln/>
        </p:spPr>
        <p:txBody>
          <a:bodyPr wrap="square" rtlCol="0" anchor="ctr"/>
          <a:lstStyle/>
          <a:p>
            <a:pPr algn="r" indent="0" marL="0">
              <a:buNone/>
            </a:pPr>
            <a:r>
              <a:rPr lang="en-US" sz="1300" b="1" dirty="0">
                <a:solidFill>
                  <a:srgbClr val="CC3333"/>
                </a:solidFill>
                <a:latin typeface="Arial" pitchFamily="34" charset="0"/>
                <a:ea typeface="Arial" pitchFamily="34" charset="-122"/>
                <a:cs typeface="Arial" pitchFamily="34" charset="-120"/>
              </a:rPr>
              <a:t>KILL</a:t>
            </a:r>
            <a:endParaRPr lang="en-US" sz="1300" dirty="0"/>
          </a:p>
        </p:txBody>
      </p:sp>
      <p:sp>
        <p:nvSpPr>
          <p:cNvPr id="19" name="Text 16"/>
          <p:cNvSpPr/>
          <p:nvPr/>
        </p:nvSpPr>
        <p:spPr>
          <a:xfrm>
            <a:off x="548640" y="3749040"/>
            <a:ext cx="2468880" cy="64008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Does not meet minimum strategic requirements. Move on.</a:t>
            </a:r>
            <a:endParaRPr lang="en-US" sz="1000" dirty="0"/>
          </a:p>
        </p:txBody>
      </p:sp>
      <p:sp>
        <p:nvSpPr>
          <p:cNvPr id="20" name="Shape 17"/>
          <p:cNvSpPr/>
          <p:nvPr/>
        </p:nvSpPr>
        <p:spPr>
          <a:xfrm>
            <a:off x="3291840" y="3291840"/>
            <a:ext cx="2651760" cy="1188720"/>
          </a:xfrm>
          <a:prstGeom prst="rect">
            <a:avLst/>
          </a:prstGeom>
          <a:solidFill>
            <a:srgbClr val="FFF8E8"/>
          </a:solidFill>
          <a:ln/>
          <a:effectLst>
            <a:outerShdw sx="100000" sy="100000" kx="0" ky="0" algn="bl" rotWithShape="0" blurRad="50800" dist="25400" dir="8100000">
              <a:srgbClr val="000000">
                <a:alpha val="10000"/>
              </a:srgbClr>
            </a:outerShdw>
          </a:effectLst>
        </p:spPr>
      </p:sp>
      <p:sp>
        <p:nvSpPr>
          <p:cNvPr id="21" name="Shape 18"/>
          <p:cNvSpPr/>
          <p:nvPr/>
        </p:nvSpPr>
        <p:spPr>
          <a:xfrm>
            <a:off x="3291840" y="3291840"/>
            <a:ext cx="2651760" cy="54864"/>
          </a:xfrm>
          <a:prstGeom prst="rect">
            <a:avLst/>
          </a:prstGeom>
          <a:solidFill>
            <a:srgbClr val="C4A35A"/>
          </a:solidFill>
          <a:ln/>
        </p:spPr>
      </p:sp>
      <p:sp>
        <p:nvSpPr>
          <p:cNvPr id="22" name="Text 19"/>
          <p:cNvSpPr/>
          <p:nvPr/>
        </p:nvSpPr>
        <p:spPr>
          <a:xfrm>
            <a:off x="3383280" y="3383280"/>
            <a:ext cx="1371600" cy="274320"/>
          </a:xfrm>
          <a:prstGeom prst="rect">
            <a:avLst/>
          </a:prstGeom>
          <a:noFill/>
          <a:ln/>
        </p:spPr>
        <p:txBody>
          <a:bodyPr wrap="square" rtlCol="0" anchor="ctr"/>
          <a:lstStyle/>
          <a:p>
            <a:pPr indent="0" marL="0">
              <a:buNone/>
            </a:pPr>
            <a:r>
              <a:rPr lang="en-US" sz="1200" b="1" dirty="0">
                <a:solidFill>
                  <a:srgbClr val="1B365D"/>
                </a:solidFill>
                <a:latin typeface="Arial" pitchFamily="34" charset="0"/>
                <a:ea typeface="Arial" pitchFamily="34" charset="-122"/>
                <a:cs typeface="Arial" pitchFamily="34" charset="-120"/>
              </a:rPr>
              <a:t>90% – 95%</a:t>
            </a:r>
            <a:endParaRPr lang="en-US" sz="1200" dirty="0"/>
          </a:p>
        </p:txBody>
      </p:sp>
      <p:sp>
        <p:nvSpPr>
          <p:cNvPr id="23" name="Text 20"/>
          <p:cNvSpPr/>
          <p:nvPr/>
        </p:nvSpPr>
        <p:spPr>
          <a:xfrm>
            <a:off x="4846320" y="3383280"/>
            <a:ext cx="1005840" cy="274320"/>
          </a:xfrm>
          <a:prstGeom prst="rect">
            <a:avLst/>
          </a:prstGeom>
          <a:noFill/>
          <a:ln/>
        </p:spPr>
        <p:txBody>
          <a:bodyPr wrap="square" rtlCol="0" anchor="ctr"/>
          <a:lstStyle/>
          <a:p>
            <a:pPr algn="r" indent="0" marL="0">
              <a:buNone/>
            </a:pPr>
            <a:r>
              <a:rPr lang="en-US" sz="1300" b="1" dirty="0">
                <a:solidFill>
                  <a:srgbClr val="C4A35A"/>
                </a:solidFill>
                <a:latin typeface="Arial" pitchFamily="34" charset="0"/>
                <a:ea typeface="Arial" pitchFamily="34" charset="-122"/>
                <a:cs typeface="Arial" pitchFamily="34" charset="-120"/>
              </a:rPr>
              <a:t>REVISE</a:t>
            </a:r>
            <a:endParaRPr lang="en-US" sz="1300" dirty="0"/>
          </a:p>
        </p:txBody>
      </p:sp>
      <p:sp>
        <p:nvSpPr>
          <p:cNvPr id="24" name="Text 21"/>
          <p:cNvSpPr/>
          <p:nvPr/>
        </p:nvSpPr>
        <p:spPr>
          <a:xfrm>
            <a:off x="3383280" y="3749040"/>
            <a:ext cx="2468880" cy="64008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Promising but has gaps. Improvement suggestions ranked by score impact.</a:t>
            </a:r>
            <a:endParaRPr lang="en-US" sz="1000" dirty="0"/>
          </a:p>
        </p:txBody>
      </p:sp>
      <p:sp>
        <p:nvSpPr>
          <p:cNvPr id="25" name="Shape 22"/>
          <p:cNvSpPr/>
          <p:nvPr/>
        </p:nvSpPr>
        <p:spPr>
          <a:xfrm>
            <a:off x="6126480" y="3291840"/>
            <a:ext cx="2651760" cy="1188720"/>
          </a:xfrm>
          <a:prstGeom prst="rect">
            <a:avLst/>
          </a:prstGeom>
          <a:solidFill>
            <a:srgbClr val="F0FFF0"/>
          </a:solidFill>
          <a:ln/>
          <a:effectLst>
            <a:outerShdw sx="100000" sy="100000" kx="0" ky="0" algn="bl" rotWithShape="0" blurRad="50800" dist="25400" dir="8100000">
              <a:srgbClr val="000000">
                <a:alpha val="10000"/>
              </a:srgbClr>
            </a:outerShdw>
          </a:effectLst>
        </p:spPr>
      </p:sp>
      <p:sp>
        <p:nvSpPr>
          <p:cNvPr id="26" name="Shape 23"/>
          <p:cNvSpPr/>
          <p:nvPr/>
        </p:nvSpPr>
        <p:spPr>
          <a:xfrm>
            <a:off x="6126480" y="3291840"/>
            <a:ext cx="2651760" cy="54864"/>
          </a:xfrm>
          <a:prstGeom prst="rect">
            <a:avLst/>
          </a:prstGeom>
          <a:solidFill>
            <a:srgbClr val="2E8B57"/>
          </a:solidFill>
          <a:ln/>
        </p:spPr>
      </p:sp>
      <p:sp>
        <p:nvSpPr>
          <p:cNvPr id="27" name="Text 24"/>
          <p:cNvSpPr/>
          <p:nvPr/>
        </p:nvSpPr>
        <p:spPr>
          <a:xfrm>
            <a:off x="6217920" y="3383280"/>
            <a:ext cx="1371600" cy="274320"/>
          </a:xfrm>
          <a:prstGeom prst="rect">
            <a:avLst/>
          </a:prstGeom>
          <a:noFill/>
          <a:ln/>
        </p:spPr>
        <p:txBody>
          <a:bodyPr wrap="square" rtlCol="0" anchor="ctr"/>
          <a:lstStyle/>
          <a:p>
            <a:pPr indent="0" marL="0">
              <a:buNone/>
            </a:pPr>
            <a:r>
              <a:rPr lang="en-US" sz="1200" b="1" dirty="0">
                <a:solidFill>
                  <a:srgbClr val="1B365D"/>
                </a:solidFill>
                <a:latin typeface="Arial" pitchFamily="34" charset="0"/>
                <a:ea typeface="Arial" pitchFamily="34" charset="-122"/>
                <a:cs typeface="Arial" pitchFamily="34" charset="-120"/>
              </a:rPr>
              <a:t>Above 95%</a:t>
            </a:r>
            <a:endParaRPr lang="en-US" sz="1200" dirty="0"/>
          </a:p>
        </p:txBody>
      </p:sp>
      <p:sp>
        <p:nvSpPr>
          <p:cNvPr id="28" name="Text 25"/>
          <p:cNvSpPr/>
          <p:nvPr/>
        </p:nvSpPr>
        <p:spPr>
          <a:xfrm>
            <a:off x="7680960" y="3383280"/>
            <a:ext cx="1005840" cy="274320"/>
          </a:xfrm>
          <a:prstGeom prst="rect">
            <a:avLst/>
          </a:prstGeom>
          <a:noFill/>
          <a:ln/>
        </p:spPr>
        <p:txBody>
          <a:bodyPr wrap="square" rtlCol="0" anchor="ctr"/>
          <a:lstStyle/>
          <a:p>
            <a:pPr algn="r" indent="0" marL="0">
              <a:buNone/>
            </a:pPr>
            <a:r>
              <a:rPr lang="en-US" sz="1300" b="1" dirty="0">
                <a:solidFill>
                  <a:srgbClr val="2E8B57"/>
                </a:solidFill>
                <a:latin typeface="Arial" pitchFamily="34" charset="0"/>
                <a:ea typeface="Arial" pitchFamily="34" charset="-122"/>
                <a:cs typeface="Arial" pitchFamily="34" charset="-120"/>
              </a:rPr>
              <a:t>GO</a:t>
            </a:r>
            <a:endParaRPr lang="en-US" sz="1300" dirty="0"/>
          </a:p>
        </p:txBody>
      </p:sp>
      <p:sp>
        <p:nvSpPr>
          <p:cNvPr id="29" name="Text 26"/>
          <p:cNvSpPr/>
          <p:nvPr/>
        </p:nvSpPr>
        <p:spPr>
          <a:xfrm>
            <a:off x="6217920" y="3749040"/>
            <a:ext cx="2468880" cy="64008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Strong strategic fit. Advance to SCAMPER refinement and Kano analysis.</a:t>
            </a:r>
            <a:endParaRPr lang="en-US" sz="1000" dirty="0"/>
          </a:p>
        </p:txBody>
      </p:sp>
      <p:sp>
        <p:nvSpPr>
          <p:cNvPr id="30" name="Text 27"/>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A35A"/>
          </a:solidFill>
          <a:ln/>
        </p:spPr>
      </p:sp>
      <p:sp>
        <p:nvSpPr>
          <p:cNvPr id="3" name="Shape 1"/>
          <p:cNvSpPr/>
          <p:nvPr/>
        </p:nvSpPr>
        <p:spPr>
          <a:xfrm>
            <a:off x="6583680" y="-1097280"/>
            <a:ext cx="4114800" cy="4114800"/>
          </a:xfrm>
          <a:prstGeom prst="ellipse">
            <a:avLst/>
          </a:prstGeom>
          <a:solidFill>
            <a:srgbClr val="1B365D">
              <a:alpha val="0"/>
            </a:srgbClr>
          </a:solidFill>
          <a:ln w="9525">
            <a:solidFill>
              <a:srgbClr val="C4A35A"/>
            </a:solidFill>
            <a:prstDash val="solid"/>
          </a:ln>
        </p:spPr>
      </p:sp>
      <p:sp>
        <p:nvSpPr>
          <p:cNvPr id="4" name="Shape 2"/>
          <p:cNvSpPr/>
          <p:nvPr/>
        </p:nvSpPr>
        <p:spPr>
          <a:xfrm>
            <a:off x="7498080" y="0"/>
            <a:ext cx="2286000" cy="2286000"/>
          </a:xfrm>
          <a:prstGeom prst="ellipse">
            <a:avLst/>
          </a:prstGeom>
          <a:solidFill>
            <a:srgbClr val="1B365D">
              <a:alpha val="0"/>
            </a:srgbClr>
          </a:solidFill>
          <a:ln w="6350">
            <a:solidFill>
              <a:srgbClr val="C4A35A"/>
            </a:solidFill>
            <a:prstDash val="solid"/>
          </a:ln>
        </p:spPr>
      </p:sp>
      <p:sp>
        <p:nvSpPr>
          <p:cNvPr id="5" name="Shape 3"/>
          <p:cNvSpPr/>
          <p:nvPr/>
        </p:nvSpPr>
        <p:spPr>
          <a:xfrm>
            <a:off x="457200" y="1280160"/>
            <a:ext cx="1463040" cy="411480"/>
          </a:xfrm>
          <a:prstGeom prst="rect">
            <a:avLst/>
          </a:prstGeom>
          <a:solidFill>
            <a:srgbClr val="C4A35A"/>
          </a:solidFill>
          <a:ln/>
        </p:spPr>
      </p:sp>
      <p:sp>
        <p:nvSpPr>
          <p:cNvPr id="6" name="Text 4"/>
          <p:cNvSpPr/>
          <p:nvPr/>
        </p:nvSpPr>
        <p:spPr>
          <a:xfrm>
            <a:off x="457200" y="128016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3</a:t>
            </a:r>
            <a:endParaRPr lang="en-US" sz="1300" dirty="0"/>
          </a:p>
        </p:txBody>
      </p:sp>
      <p:sp>
        <p:nvSpPr>
          <p:cNvPr id="7" name="Text 5"/>
          <p:cNvSpPr/>
          <p:nvPr/>
        </p:nvSpPr>
        <p:spPr>
          <a:xfrm>
            <a:off x="457200" y="1920240"/>
            <a:ext cx="7315200" cy="1097280"/>
          </a:xfrm>
          <a:prstGeom prst="rect">
            <a:avLst/>
          </a:prstGeom>
          <a:noFill/>
          <a:ln/>
        </p:spPr>
        <p:txBody>
          <a:bodyPr wrap="square" rtlCol="0" anchor="t"/>
          <a:lstStyle/>
          <a:p>
            <a:pPr algn="l" indent="0" marL="0">
              <a:buNone/>
            </a:pPr>
            <a:r>
              <a:rPr lang="en-US" sz="3800" b="1" dirty="0">
                <a:solidFill>
                  <a:srgbClr val="FFFFFF"/>
                </a:solidFill>
                <a:latin typeface="Georgia" pitchFamily="34" charset="0"/>
                <a:ea typeface="Georgia" pitchFamily="34" charset="-122"/>
                <a:cs typeface="Georgia" pitchFamily="34" charset="-120"/>
              </a:rPr>
              <a:t>Concept Discovery</a:t>
            </a:r>
            <a:endParaRPr lang="en-US" sz="3800" dirty="0"/>
          </a:p>
        </p:txBody>
      </p:sp>
      <p:sp>
        <p:nvSpPr>
          <p:cNvPr id="8" name="Text 6"/>
          <p:cNvSpPr/>
          <p:nvPr/>
        </p:nvSpPr>
        <p:spPr>
          <a:xfrm>
            <a:off x="457200" y="3108960"/>
            <a:ext cx="6400800" cy="731520"/>
          </a:xfrm>
          <a:prstGeom prst="rect">
            <a:avLst/>
          </a:prstGeom>
          <a:noFill/>
          <a:ln/>
        </p:spPr>
        <p:txBody>
          <a:bodyPr wrap="square" rtlCol="0" anchor="ctr"/>
          <a:lstStyle/>
          <a:p>
            <a:pPr algn="l" indent="0" marL="0">
              <a:buNone/>
            </a:pPr>
            <a:r>
              <a:rPr lang="en-US" sz="1700" i="1" dirty="0">
                <a:solidFill>
                  <a:srgbClr val="C4A35A"/>
                </a:solidFill>
                <a:latin typeface="Georgia" pitchFamily="34" charset="0"/>
                <a:ea typeface="Georgia" pitchFamily="34" charset="-122"/>
                <a:cs typeface="Georgia" pitchFamily="34" charset="-120"/>
              </a:rPr>
              <a:t>Casting a wide net with AI-powered research</a:t>
            </a:r>
            <a:endParaRPr lang="en-US" sz="1700" dirty="0"/>
          </a:p>
        </p:txBody>
      </p:sp>
      <p:sp>
        <p:nvSpPr>
          <p:cNvPr id="9" name="Shape 7"/>
          <p:cNvSpPr/>
          <p:nvPr/>
        </p:nvSpPr>
        <p:spPr>
          <a:xfrm>
            <a:off x="0" y="4960620"/>
            <a:ext cx="9144000" cy="182880"/>
          </a:xfrm>
          <a:prstGeom prst="rect">
            <a:avLst/>
          </a:prstGeom>
          <a:solidFill>
            <a:srgbClr val="C4A35A"/>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274320"/>
            <a:ext cx="1463040" cy="411480"/>
          </a:xfrm>
          <a:prstGeom prst="rect">
            <a:avLst/>
          </a:prstGeom>
          <a:solidFill>
            <a:srgbClr val="C4A35A"/>
          </a:solidFill>
          <a:ln/>
        </p:spPr>
      </p:sp>
      <p:sp>
        <p:nvSpPr>
          <p:cNvPr id="3" name="Text 1"/>
          <p:cNvSpPr/>
          <p:nvPr/>
        </p:nvSpPr>
        <p:spPr>
          <a:xfrm>
            <a:off x="457200" y="27432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3</a:t>
            </a:r>
            <a:endParaRPr lang="en-US" sz="1300" dirty="0"/>
          </a:p>
        </p:txBody>
      </p:sp>
      <p:sp>
        <p:nvSpPr>
          <p:cNvPr id="4" name="Text 2"/>
          <p:cNvSpPr/>
          <p:nvPr/>
        </p:nvSpPr>
        <p:spPr>
          <a:xfrm>
            <a:off x="2103120" y="274320"/>
            <a:ext cx="6400800" cy="457200"/>
          </a:xfrm>
          <a:prstGeom prst="rect">
            <a:avLst/>
          </a:prstGeom>
          <a:noFill/>
          <a:ln/>
        </p:spPr>
        <p:txBody>
          <a:bodyPr wrap="square"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AI-Powered Concept Discovery</a:t>
            </a:r>
            <a:endParaRPr lang="en-US" sz="2800" dirty="0"/>
          </a:p>
        </p:txBody>
      </p:sp>
      <p:sp>
        <p:nvSpPr>
          <p:cNvPr id="5" name="Shape 3"/>
          <p:cNvSpPr/>
          <p:nvPr/>
        </p:nvSpPr>
        <p:spPr>
          <a:xfrm>
            <a:off x="457200" y="914400"/>
            <a:ext cx="3931920" cy="8686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914400"/>
            <a:ext cx="54864" cy="868680"/>
          </a:xfrm>
          <a:prstGeom prst="rect">
            <a:avLst/>
          </a:prstGeom>
          <a:solidFill>
            <a:srgbClr val="C4A35A"/>
          </a:solidFill>
          <a:ln/>
        </p:spPr>
      </p:sp>
      <p:sp>
        <p:nvSpPr>
          <p:cNvPr id="7" name="Text 5"/>
          <p:cNvSpPr/>
          <p:nvPr/>
        </p:nvSpPr>
        <p:spPr>
          <a:xfrm>
            <a:off x="640080" y="987552"/>
            <a:ext cx="1828800" cy="27432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YouTube</a:t>
            </a:r>
            <a:endParaRPr lang="en-US" sz="1400" dirty="0"/>
          </a:p>
        </p:txBody>
      </p:sp>
      <p:sp>
        <p:nvSpPr>
          <p:cNvPr id="8" name="Text 6"/>
          <p:cNvSpPr/>
          <p:nvPr/>
        </p:nvSpPr>
        <p:spPr>
          <a:xfrm>
            <a:off x="640080" y="1298448"/>
            <a:ext cx="3566160" cy="365760"/>
          </a:xfrm>
          <a:prstGeom prst="rect">
            <a:avLst/>
          </a:prstGeom>
          <a:noFill/>
          <a:ln/>
        </p:spPr>
        <p:txBody>
          <a:bodyPr wrap="square" rtlCol="0" anchor="ctr"/>
          <a:lstStyle/>
          <a:p>
            <a:pPr indent="0" marL="0">
              <a:buNone/>
            </a:pPr>
            <a:r>
              <a:rPr lang="en-US" sz="1100" dirty="0">
                <a:solidFill>
                  <a:srgbClr val="5A5A5A"/>
                </a:solidFill>
                <a:latin typeface="Arial" pitchFamily="34" charset="0"/>
                <a:ea typeface="Arial" pitchFamily="34" charset="-122"/>
                <a:cs typeface="Arial" pitchFamily="34" charset="-120"/>
              </a:rPr>
              <a:t>Comments, pain points in tutorials, gaps in existing solutions</a:t>
            </a:r>
            <a:endParaRPr lang="en-US" sz="1100" dirty="0"/>
          </a:p>
        </p:txBody>
      </p:sp>
      <p:sp>
        <p:nvSpPr>
          <p:cNvPr id="9" name="Shape 7"/>
          <p:cNvSpPr/>
          <p:nvPr/>
        </p:nvSpPr>
        <p:spPr>
          <a:xfrm>
            <a:off x="4754880" y="914400"/>
            <a:ext cx="3931920" cy="8686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914400"/>
            <a:ext cx="54864" cy="868680"/>
          </a:xfrm>
          <a:prstGeom prst="rect">
            <a:avLst/>
          </a:prstGeom>
          <a:solidFill>
            <a:srgbClr val="C4A35A"/>
          </a:solidFill>
          <a:ln/>
        </p:spPr>
      </p:sp>
      <p:sp>
        <p:nvSpPr>
          <p:cNvPr id="11" name="Text 9"/>
          <p:cNvSpPr/>
          <p:nvPr/>
        </p:nvSpPr>
        <p:spPr>
          <a:xfrm>
            <a:off x="4937760" y="987552"/>
            <a:ext cx="1828800" cy="27432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Reddit</a:t>
            </a:r>
            <a:endParaRPr lang="en-US" sz="1400" dirty="0"/>
          </a:p>
        </p:txBody>
      </p:sp>
      <p:sp>
        <p:nvSpPr>
          <p:cNvPr id="12" name="Text 10"/>
          <p:cNvSpPr/>
          <p:nvPr/>
        </p:nvSpPr>
        <p:spPr>
          <a:xfrm>
            <a:off x="4937760" y="1298448"/>
            <a:ext cx="3566160" cy="365760"/>
          </a:xfrm>
          <a:prstGeom prst="rect">
            <a:avLst/>
          </a:prstGeom>
          <a:noFill/>
          <a:ln/>
        </p:spPr>
        <p:txBody>
          <a:bodyPr wrap="square" rtlCol="0" anchor="ctr"/>
          <a:lstStyle/>
          <a:p>
            <a:pPr indent="0" marL="0">
              <a:buNone/>
            </a:pPr>
            <a:r>
              <a:rPr lang="en-US" sz="1100" dirty="0">
                <a:solidFill>
                  <a:srgbClr val="5A5A5A"/>
                </a:solidFill>
                <a:latin typeface="Arial" pitchFamily="34" charset="0"/>
                <a:ea typeface="Arial" pitchFamily="34" charset="-122"/>
                <a:cs typeface="Arial" pitchFamily="34" charset="-120"/>
              </a:rPr>
              <a:t>Subreddit discussions, complaint threads, wishlists, workarounds</a:t>
            </a:r>
            <a:endParaRPr lang="en-US" sz="1100" dirty="0"/>
          </a:p>
        </p:txBody>
      </p:sp>
      <p:sp>
        <p:nvSpPr>
          <p:cNvPr id="13" name="Shape 11"/>
          <p:cNvSpPr/>
          <p:nvPr/>
        </p:nvSpPr>
        <p:spPr>
          <a:xfrm>
            <a:off x="457200" y="1965960"/>
            <a:ext cx="3931920" cy="8686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1965960"/>
            <a:ext cx="54864" cy="868680"/>
          </a:xfrm>
          <a:prstGeom prst="rect">
            <a:avLst/>
          </a:prstGeom>
          <a:solidFill>
            <a:srgbClr val="C4A35A"/>
          </a:solidFill>
          <a:ln/>
        </p:spPr>
      </p:sp>
      <p:sp>
        <p:nvSpPr>
          <p:cNvPr id="15" name="Text 13"/>
          <p:cNvSpPr/>
          <p:nvPr/>
        </p:nvSpPr>
        <p:spPr>
          <a:xfrm>
            <a:off x="640080" y="2039112"/>
            <a:ext cx="1828800" cy="27432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X (Twitter)</a:t>
            </a:r>
            <a:endParaRPr lang="en-US" sz="1400" dirty="0"/>
          </a:p>
        </p:txBody>
      </p:sp>
      <p:sp>
        <p:nvSpPr>
          <p:cNvPr id="16" name="Text 14"/>
          <p:cNvSpPr/>
          <p:nvPr/>
        </p:nvSpPr>
        <p:spPr>
          <a:xfrm>
            <a:off x="640080" y="2350008"/>
            <a:ext cx="3566160" cy="365760"/>
          </a:xfrm>
          <a:prstGeom prst="rect">
            <a:avLst/>
          </a:prstGeom>
          <a:noFill/>
          <a:ln/>
        </p:spPr>
        <p:txBody>
          <a:bodyPr wrap="square" rtlCol="0" anchor="ctr"/>
          <a:lstStyle/>
          <a:p>
            <a:pPr indent="0" marL="0">
              <a:buNone/>
            </a:pPr>
            <a:r>
              <a:rPr lang="en-US" sz="1100" dirty="0">
                <a:solidFill>
                  <a:srgbClr val="5A5A5A"/>
                </a:solidFill>
                <a:latin typeface="Arial" pitchFamily="34" charset="0"/>
                <a:ea typeface="Arial" pitchFamily="34" charset="-122"/>
                <a:cs typeface="Arial" pitchFamily="34" charset="-120"/>
              </a:rPr>
              <a:t>Industry discourse, emerging complaints, trending frustrations</a:t>
            </a:r>
            <a:endParaRPr lang="en-US" sz="1100" dirty="0"/>
          </a:p>
        </p:txBody>
      </p:sp>
      <p:sp>
        <p:nvSpPr>
          <p:cNvPr id="17" name="Shape 15"/>
          <p:cNvSpPr/>
          <p:nvPr/>
        </p:nvSpPr>
        <p:spPr>
          <a:xfrm>
            <a:off x="4754880" y="1965960"/>
            <a:ext cx="3931920" cy="8686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1965960"/>
            <a:ext cx="54864" cy="868680"/>
          </a:xfrm>
          <a:prstGeom prst="rect">
            <a:avLst/>
          </a:prstGeom>
          <a:solidFill>
            <a:srgbClr val="C4A35A"/>
          </a:solidFill>
          <a:ln/>
        </p:spPr>
      </p:sp>
      <p:sp>
        <p:nvSpPr>
          <p:cNvPr id="19" name="Text 17"/>
          <p:cNvSpPr/>
          <p:nvPr/>
        </p:nvSpPr>
        <p:spPr>
          <a:xfrm>
            <a:off x="4937760" y="2039112"/>
            <a:ext cx="1828800" cy="27432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Skool</a:t>
            </a:r>
            <a:endParaRPr lang="en-US" sz="1400" dirty="0"/>
          </a:p>
        </p:txBody>
      </p:sp>
      <p:sp>
        <p:nvSpPr>
          <p:cNvPr id="20" name="Text 18"/>
          <p:cNvSpPr/>
          <p:nvPr/>
        </p:nvSpPr>
        <p:spPr>
          <a:xfrm>
            <a:off x="4937760" y="2350008"/>
            <a:ext cx="3566160" cy="365760"/>
          </a:xfrm>
          <a:prstGeom prst="rect">
            <a:avLst/>
          </a:prstGeom>
          <a:noFill/>
          <a:ln/>
        </p:spPr>
        <p:txBody>
          <a:bodyPr wrap="square" rtlCol="0" anchor="ctr"/>
          <a:lstStyle/>
          <a:p>
            <a:pPr indent="0" marL="0">
              <a:buNone/>
            </a:pPr>
            <a:r>
              <a:rPr lang="en-US" sz="1100" dirty="0">
                <a:solidFill>
                  <a:srgbClr val="5A5A5A"/>
                </a:solidFill>
                <a:latin typeface="Arial" pitchFamily="34" charset="0"/>
                <a:ea typeface="Arial" pitchFamily="34" charset="-122"/>
                <a:cs typeface="Arial" pitchFamily="34" charset="-120"/>
              </a:rPr>
              <a:t>Community discussions, course feedback, professional pain points</a:t>
            </a:r>
            <a:endParaRPr lang="en-US" sz="1100" dirty="0"/>
          </a:p>
        </p:txBody>
      </p:sp>
      <p:sp>
        <p:nvSpPr>
          <p:cNvPr id="21" name="Shape 19"/>
          <p:cNvSpPr/>
          <p:nvPr/>
        </p:nvSpPr>
        <p:spPr>
          <a:xfrm>
            <a:off x="457200" y="3108960"/>
            <a:ext cx="8229600" cy="1554480"/>
          </a:xfrm>
          <a:prstGeom prst="rect">
            <a:avLst/>
          </a:prstGeom>
          <a:solidFill>
            <a:srgbClr val="1B365D"/>
          </a:solidFill>
          <a:ln/>
        </p:spPr>
      </p:sp>
      <p:sp>
        <p:nvSpPr>
          <p:cNvPr id="22" name="Text 20"/>
          <p:cNvSpPr/>
          <p:nvPr/>
        </p:nvSpPr>
        <p:spPr>
          <a:xfrm>
            <a:off x="640080" y="3200400"/>
            <a:ext cx="7772400" cy="274320"/>
          </a:xfrm>
          <a:prstGeom prst="rect">
            <a:avLst/>
          </a:prstGeom>
          <a:noFill/>
          <a:ln/>
        </p:spPr>
        <p:txBody>
          <a:bodyPr wrap="square" rtlCol="0" anchor="ctr"/>
          <a:lstStyle/>
          <a:p>
            <a:pPr indent="0" marL="0">
              <a:buNone/>
            </a:pPr>
            <a:r>
              <a:rPr lang="en-US" sz="1200" b="1" dirty="0">
                <a:solidFill>
                  <a:srgbClr val="C4A35A"/>
                </a:solidFill>
                <a:latin typeface="Arial" pitchFamily="34" charset="0"/>
                <a:ea typeface="Arial" pitchFamily="34" charset="-122"/>
                <a:cs typeface="Arial" pitchFamily="34" charset="-120"/>
              </a:rPr>
              <a:t>DISCOVERY PROCESS</a:t>
            </a:r>
            <a:endParaRPr lang="en-US" sz="1200" dirty="0"/>
          </a:p>
        </p:txBody>
      </p:sp>
      <p:sp>
        <p:nvSpPr>
          <p:cNvPr id="23" name="Shape 21"/>
          <p:cNvSpPr/>
          <p:nvPr/>
        </p:nvSpPr>
        <p:spPr>
          <a:xfrm>
            <a:off x="640080" y="3566160"/>
            <a:ext cx="365760" cy="365760"/>
          </a:xfrm>
          <a:prstGeom prst="ellipse">
            <a:avLst/>
          </a:prstGeom>
          <a:solidFill>
            <a:srgbClr val="C4A35A"/>
          </a:solidFill>
          <a:ln/>
        </p:spPr>
      </p:sp>
      <p:sp>
        <p:nvSpPr>
          <p:cNvPr id="24" name="Text 22"/>
          <p:cNvSpPr/>
          <p:nvPr/>
        </p:nvSpPr>
        <p:spPr>
          <a:xfrm>
            <a:off x="640080" y="3566160"/>
            <a:ext cx="365760" cy="36576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1</a:t>
            </a:r>
            <a:endParaRPr lang="en-US" sz="1300" dirty="0"/>
          </a:p>
        </p:txBody>
      </p:sp>
      <p:sp>
        <p:nvSpPr>
          <p:cNvPr id="25" name="Text 23"/>
          <p:cNvSpPr/>
          <p:nvPr/>
        </p:nvSpPr>
        <p:spPr>
          <a:xfrm>
            <a:off x="1097280" y="3520440"/>
            <a:ext cx="1554480" cy="64008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Skill generates</a:t>
            </a:r>
            <a:endParaRPr lang="en-US" sz="1000" dirty="0"/>
          </a:p>
          <a:p>
            <a:pPr indent="0" marL="0">
              <a:buNone/>
            </a:pPr>
            <a:r>
              <a:rPr lang="en-US" sz="1000" dirty="0">
                <a:solidFill>
                  <a:srgbClr val="FFFFFF"/>
                </a:solidFill>
                <a:latin typeface="Arial" pitchFamily="34" charset="0"/>
                <a:ea typeface="Arial" pitchFamily="34" charset="-122"/>
                <a:cs typeface="Arial" pitchFamily="34" charset="-120"/>
              </a:rPr>
              <a:t>search queries from</a:t>
            </a:r>
            <a:endParaRPr lang="en-US" sz="1000" dirty="0"/>
          </a:p>
          <a:p>
            <a:pPr indent="0" marL="0">
              <a:buNone/>
            </a:pPr>
            <a:r>
              <a:rPr lang="en-US" sz="1000" dirty="0">
                <a:solidFill>
                  <a:srgbClr val="FFFFFF"/>
                </a:solidFill>
                <a:latin typeface="Arial" pitchFamily="34" charset="0"/>
                <a:ea typeface="Arial" pitchFamily="34" charset="-122"/>
                <a:cs typeface="Arial" pitchFamily="34" charset="-120"/>
              </a:rPr>
              <a:t>Strategic Brief</a:t>
            </a:r>
            <a:endParaRPr lang="en-US" sz="1000" dirty="0"/>
          </a:p>
        </p:txBody>
      </p:sp>
      <p:sp>
        <p:nvSpPr>
          <p:cNvPr id="26" name="Text 24"/>
          <p:cNvSpPr/>
          <p:nvPr/>
        </p:nvSpPr>
        <p:spPr>
          <a:xfrm>
            <a:off x="2514600" y="3566160"/>
            <a:ext cx="228600" cy="365760"/>
          </a:xfrm>
          <a:prstGeom prst="rect">
            <a:avLst/>
          </a:prstGeom>
          <a:noFill/>
          <a:ln/>
        </p:spPr>
        <p:txBody>
          <a:bodyPr wrap="square" rtlCol="0" anchor="ctr"/>
          <a:lstStyle/>
          <a:p>
            <a:pPr algn="ctr" indent="0" marL="0">
              <a:buNone/>
            </a:pPr>
            <a:r>
              <a:rPr lang="en-US" sz="1400" dirty="0">
                <a:solidFill>
                  <a:srgbClr val="C4A35A"/>
                </a:solidFill>
              </a:rPr>
              <a:t>→</a:t>
            </a:r>
            <a:endParaRPr lang="en-US" sz="1400" dirty="0"/>
          </a:p>
        </p:txBody>
      </p:sp>
      <p:sp>
        <p:nvSpPr>
          <p:cNvPr id="27" name="Shape 25"/>
          <p:cNvSpPr/>
          <p:nvPr/>
        </p:nvSpPr>
        <p:spPr>
          <a:xfrm>
            <a:off x="2743200" y="3566160"/>
            <a:ext cx="365760" cy="365760"/>
          </a:xfrm>
          <a:prstGeom prst="ellipse">
            <a:avLst/>
          </a:prstGeom>
          <a:solidFill>
            <a:srgbClr val="C4A35A"/>
          </a:solidFill>
          <a:ln/>
        </p:spPr>
      </p:sp>
      <p:sp>
        <p:nvSpPr>
          <p:cNvPr id="28" name="Text 26"/>
          <p:cNvSpPr/>
          <p:nvPr/>
        </p:nvSpPr>
        <p:spPr>
          <a:xfrm>
            <a:off x="2743200" y="3566160"/>
            <a:ext cx="365760" cy="36576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2</a:t>
            </a:r>
            <a:endParaRPr lang="en-US" sz="1300" dirty="0"/>
          </a:p>
        </p:txBody>
      </p:sp>
      <p:sp>
        <p:nvSpPr>
          <p:cNvPr id="29" name="Text 27"/>
          <p:cNvSpPr/>
          <p:nvPr/>
        </p:nvSpPr>
        <p:spPr>
          <a:xfrm>
            <a:off x="3200400" y="3520440"/>
            <a:ext cx="1554480" cy="64008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Claude web search</a:t>
            </a:r>
            <a:endParaRPr lang="en-US" sz="1000" dirty="0"/>
          </a:p>
          <a:p>
            <a:pPr indent="0" marL="0">
              <a:buNone/>
            </a:pPr>
            <a:r>
              <a:rPr lang="en-US" sz="1000" dirty="0">
                <a:solidFill>
                  <a:srgbClr val="FFFFFF"/>
                </a:solidFill>
                <a:latin typeface="Arial" pitchFamily="34" charset="0"/>
                <a:ea typeface="Arial" pitchFamily="34" charset="-122"/>
                <a:cs typeface="Arial" pitchFamily="34" charset="-120"/>
              </a:rPr>
              <a:t>scans platforms</a:t>
            </a:r>
            <a:endParaRPr lang="en-US" sz="1000" dirty="0"/>
          </a:p>
          <a:p>
            <a:pPr indent="0" marL="0">
              <a:buNone/>
            </a:pPr>
            <a:r>
              <a:rPr lang="en-US" sz="1000" dirty="0">
                <a:solidFill>
                  <a:srgbClr val="FFFFFF"/>
                </a:solidFill>
                <a:latin typeface="Arial" pitchFamily="34" charset="0"/>
                <a:ea typeface="Arial" pitchFamily="34" charset="-122"/>
                <a:cs typeface="Arial" pitchFamily="34" charset="-120"/>
              </a:rPr>
              <a:t>for pain points</a:t>
            </a:r>
            <a:endParaRPr lang="en-US" sz="1000" dirty="0"/>
          </a:p>
        </p:txBody>
      </p:sp>
      <p:sp>
        <p:nvSpPr>
          <p:cNvPr id="30" name="Text 28"/>
          <p:cNvSpPr/>
          <p:nvPr/>
        </p:nvSpPr>
        <p:spPr>
          <a:xfrm>
            <a:off x="4617720" y="3566160"/>
            <a:ext cx="228600" cy="365760"/>
          </a:xfrm>
          <a:prstGeom prst="rect">
            <a:avLst/>
          </a:prstGeom>
          <a:noFill/>
          <a:ln/>
        </p:spPr>
        <p:txBody>
          <a:bodyPr wrap="square" rtlCol="0" anchor="ctr"/>
          <a:lstStyle/>
          <a:p>
            <a:pPr algn="ctr" indent="0" marL="0">
              <a:buNone/>
            </a:pPr>
            <a:r>
              <a:rPr lang="en-US" sz="1400" dirty="0">
                <a:solidFill>
                  <a:srgbClr val="C4A35A"/>
                </a:solidFill>
              </a:rPr>
              <a:t>→</a:t>
            </a:r>
            <a:endParaRPr lang="en-US" sz="1400" dirty="0"/>
          </a:p>
        </p:txBody>
      </p:sp>
      <p:sp>
        <p:nvSpPr>
          <p:cNvPr id="31" name="Shape 29"/>
          <p:cNvSpPr/>
          <p:nvPr/>
        </p:nvSpPr>
        <p:spPr>
          <a:xfrm>
            <a:off x="4846320" y="3566160"/>
            <a:ext cx="365760" cy="365760"/>
          </a:xfrm>
          <a:prstGeom prst="ellipse">
            <a:avLst/>
          </a:prstGeom>
          <a:solidFill>
            <a:srgbClr val="C4A35A"/>
          </a:solidFill>
          <a:ln/>
        </p:spPr>
      </p:sp>
      <p:sp>
        <p:nvSpPr>
          <p:cNvPr id="32" name="Text 30"/>
          <p:cNvSpPr/>
          <p:nvPr/>
        </p:nvSpPr>
        <p:spPr>
          <a:xfrm>
            <a:off x="4846320" y="3566160"/>
            <a:ext cx="365760" cy="36576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3</a:t>
            </a:r>
            <a:endParaRPr lang="en-US" sz="1300" dirty="0"/>
          </a:p>
        </p:txBody>
      </p:sp>
      <p:sp>
        <p:nvSpPr>
          <p:cNvPr id="33" name="Text 31"/>
          <p:cNvSpPr/>
          <p:nvPr/>
        </p:nvSpPr>
        <p:spPr>
          <a:xfrm>
            <a:off x="5303520" y="3520440"/>
            <a:ext cx="1554480" cy="64008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Gemini Deep Research</a:t>
            </a:r>
            <a:endParaRPr lang="en-US" sz="1000" dirty="0"/>
          </a:p>
          <a:p>
            <a:pPr indent="0" marL="0">
              <a:buNone/>
            </a:pPr>
            <a:r>
              <a:rPr lang="en-US" sz="1000" dirty="0">
                <a:solidFill>
                  <a:srgbClr val="FFFFFF"/>
                </a:solidFill>
                <a:latin typeface="Arial" pitchFamily="34" charset="0"/>
                <a:ea typeface="Arial" pitchFamily="34" charset="-122"/>
                <a:cs typeface="Arial" pitchFamily="34" charset="-120"/>
              </a:rPr>
              <a:t>&amp; Perplexity Pro</a:t>
            </a:r>
            <a:endParaRPr lang="en-US" sz="1000" dirty="0"/>
          </a:p>
          <a:p>
            <a:pPr indent="0" marL="0">
              <a:buNone/>
            </a:pPr>
            <a:r>
              <a:rPr lang="en-US" sz="1000" dirty="0">
                <a:solidFill>
                  <a:srgbClr val="FFFFFF"/>
                </a:solidFill>
                <a:latin typeface="Arial" pitchFamily="34" charset="0"/>
                <a:ea typeface="Arial" pitchFamily="34" charset="-122"/>
                <a:cs typeface="Arial" pitchFamily="34" charset="-120"/>
              </a:rPr>
              <a:t>expand findings</a:t>
            </a:r>
            <a:endParaRPr lang="en-US" sz="1000" dirty="0"/>
          </a:p>
        </p:txBody>
      </p:sp>
      <p:sp>
        <p:nvSpPr>
          <p:cNvPr id="34" name="Text 32"/>
          <p:cNvSpPr/>
          <p:nvPr/>
        </p:nvSpPr>
        <p:spPr>
          <a:xfrm>
            <a:off x="6720840" y="3566160"/>
            <a:ext cx="228600" cy="365760"/>
          </a:xfrm>
          <a:prstGeom prst="rect">
            <a:avLst/>
          </a:prstGeom>
          <a:noFill/>
          <a:ln/>
        </p:spPr>
        <p:txBody>
          <a:bodyPr wrap="square" rtlCol="0" anchor="ctr"/>
          <a:lstStyle/>
          <a:p>
            <a:pPr algn="ctr" indent="0" marL="0">
              <a:buNone/>
            </a:pPr>
            <a:r>
              <a:rPr lang="en-US" sz="1400" dirty="0">
                <a:solidFill>
                  <a:srgbClr val="C4A35A"/>
                </a:solidFill>
              </a:rPr>
              <a:t>→</a:t>
            </a:r>
            <a:endParaRPr lang="en-US" sz="1400" dirty="0"/>
          </a:p>
        </p:txBody>
      </p:sp>
      <p:sp>
        <p:nvSpPr>
          <p:cNvPr id="35" name="Shape 33"/>
          <p:cNvSpPr/>
          <p:nvPr/>
        </p:nvSpPr>
        <p:spPr>
          <a:xfrm>
            <a:off x="6949440" y="3566160"/>
            <a:ext cx="365760" cy="365760"/>
          </a:xfrm>
          <a:prstGeom prst="ellipse">
            <a:avLst/>
          </a:prstGeom>
          <a:solidFill>
            <a:srgbClr val="C4A35A"/>
          </a:solidFill>
          <a:ln/>
        </p:spPr>
      </p:sp>
      <p:sp>
        <p:nvSpPr>
          <p:cNvPr id="36" name="Text 34"/>
          <p:cNvSpPr/>
          <p:nvPr/>
        </p:nvSpPr>
        <p:spPr>
          <a:xfrm>
            <a:off x="6949440" y="3566160"/>
            <a:ext cx="365760" cy="36576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4</a:t>
            </a:r>
            <a:endParaRPr lang="en-US" sz="1300" dirty="0"/>
          </a:p>
        </p:txBody>
      </p:sp>
      <p:sp>
        <p:nvSpPr>
          <p:cNvPr id="37" name="Text 35"/>
          <p:cNvSpPr/>
          <p:nvPr/>
        </p:nvSpPr>
        <p:spPr>
          <a:xfrm>
            <a:off x="7406640" y="3520440"/>
            <a:ext cx="1554480" cy="64008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AI synthesizes</a:t>
            </a:r>
            <a:endParaRPr lang="en-US" sz="1000" dirty="0"/>
          </a:p>
          <a:p>
            <a:pPr indent="0" marL="0">
              <a:buNone/>
            </a:pPr>
            <a:r>
              <a:rPr lang="en-US" sz="1000" dirty="0">
                <a:solidFill>
                  <a:srgbClr val="FFFFFF"/>
                </a:solidFill>
                <a:latin typeface="Arial" pitchFamily="34" charset="0"/>
                <a:ea typeface="Arial" pitchFamily="34" charset="-122"/>
                <a:cs typeface="Arial" pitchFamily="34" charset="-120"/>
              </a:rPr>
              <a:t>and ranks up to</a:t>
            </a:r>
            <a:endParaRPr lang="en-US" sz="1000" dirty="0"/>
          </a:p>
          <a:p>
            <a:pPr indent="0" marL="0">
              <a:buNone/>
            </a:pPr>
            <a:r>
              <a:rPr lang="en-US" sz="1000" dirty="0">
                <a:solidFill>
                  <a:srgbClr val="FFFFFF"/>
                </a:solidFill>
                <a:latin typeface="Arial" pitchFamily="34" charset="0"/>
                <a:ea typeface="Arial" pitchFamily="34" charset="-122"/>
                <a:cs typeface="Arial" pitchFamily="34" charset="-120"/>
              </a:rPr>
              <a:t>40 concepts</a:t>
            </a:r>
            <a:endParaRPr lang="en-US" sz="1000" dirty="0"/>
          </a:p>
        </p:txBody>
      </p:sp>
      <p:sp>
        <p:nvSpPr>
          <p:cNvPr id="38" name="Text 36"/>
          <p:cNvSpPr/>
          <p:nvPr/>
        </p:nvSpPr>
        <p:spPr>
          <a:xfrm>
            <a:off x="640080" y="4297680"/>
            <a:ext cx="7772400" cy="274320"/>
          </a:xfrm>
          <a:prstGeom prst="rect">
            <a:avLst/>
          </a:prstGeom>
          <a:noFill/>
          <a:ln/>
        </p:spPr>
        <p:txBody>
          <a:bodyPr wrap="square" rtlCol="0" anchor="ctr"/>
          <a:lstStyle/>
          <a:p>
            <a:pPr indent="0" marL="0">
              <a:buNone/>
            </a:pPr>
            <a:r>
              <a:rPr lang="en-US" sz="1200" i="1" dirty="0">
                <a:solidFill>
                  <a:srgbClr val="C4A35A"/>
                </a:solidFill>
                <a:latin typeface="Arial" pitchFamily="34" charset="0"/>
                <a:ea typeface="Arial" pitchFamily="34" charset="-122"/>
                <a:cs typeface="Arial" pitchFamily="34" charset="-120"/>
              </a:rPr>
              <a:t>Output: Up to 40 ranked concepts with source links and engagement metrics</a:t>
            </a:r>
            <a:endParaRPr lang="en-US" sz="1200" dirty="0"/>
          </a:p>
        </p:txBody>
      </p:sp>
      <p:sp>
        <p:nvSpPr>
          <p:cNvPr id="39" name="Text 37"/>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A35A"/>
          </a:solidFill>
          <a:ln/>
        </p:spPr>
      </p:sp>
      <p:sp>
        <p:nvSpPr>
          <p:cNvPr id="3" name="Shape 1"/>
          <p:cNvSpPr/>
          <p:nvPr/>
        </p:nvSpPr>
        <p:spPr>
          <a:xfrm>
            <a:off x="6583680" y="-1097280"/>
            <a:ext cx="4114800" cy="4114800"/>
          </a:xfrm>
          <a:prstGeom prst="ellipse">
            <a:avLst/>
          </a:prstGeom>
          <a:solidFill>
            <a:srgbClr val="1B365D">
              <a:alpha val="0"/>
            </a:srgbClr>
          </a:solidFill>
          <a:ln w="9525">
            <a:solidFill>
              <a:srgbClr val="C4A35A"/>
            </a:solidFill>
            <a:prstDash val="solid"/>
          </a:ln>
        </p:spPr>
      </p:sp>
      <p:sp>
        <p:nvSpPr>
          <p:cNvPr id="4" name="Shape 2"/>
          <p:cNvSpPr/>
          <p:nvPr/>
        </p:nvSpPr>
        <p:spPr>
          <a:xfrm>
            <a:off x="7498080" y="0"/>
            <a:ext cx="2286000" cy="2286000"/>
          </a:xfrm>
          <a:prstGeom prst="ellipse">
            <a:avLst/>
          </a:prstGeom>
          <a:solidFill>
            <a:srgbClr val="1B365D">
              <a:alpha val="0"/>
            </a:srgbClr>
          </a:solidFill>
          <a:ln w="6350">
            <a:solidFill>
              <a:srgbClr val="C4A35A"/>
            </a:solidFill>
            <a:prstDash val="solid"/>
          </a:ln>
        </p:spPr>
      </p:sp>
      <p:sp>
        <p:nvSpPr>
          <p:cNvPr id="5" name="Shape 3"/>
          <p:cNvSpPr/>
          <p:nvPr/>
        </p:nvSpPr>
        <p:spPr>
          <a:xfrm>
            <a:off x="457200" y="1280160"/>
            <a:ext cx="1463040" cy="411480"/>
          </a:xfrm>
          <a:prstGeom prst="rect">
            <a:avLst/>
          </a:prstGeom>
          <a:solidFill>
            <a:srgbClr val="C4A35A"/>
          </a:solidFill>
          <a:ln/>
        </p:spPr>
      </p:sp>
      <p:sp>
        <p:nvSpPr>
          <p:cNvPr id="6" name="Text 4"/>
          <p:cNvSpPr/>
          <p:nvPr/>
        </p:nvSpPr>
        <p:spPr>
          <a:xfrm>
            <a:off x="457200" y="128016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4</a:t>
            </a:r>
            <a:endParaRPr lang="en-US" sz="1300" dirty="0"/>
          </a:p>
        </p:txBody>
      </p:sp>
      <p:sp>
        <p:nvSpPr>
          <p:cNvPr id="7" name="Text 5"/>
          <p:cNvSpPr/>
          <p:nvPr/>
        </p:nvSpPr>
        <p:spPr>
          <a:xfrm>
            <a:off x="457200" y="1920240"/>
            <a:ext cx="7315200" cy="1097280"/>
          </a:xfrm>
          <a:prstGeom prst="rect">
            <a:avLst/>
          </a:prstGeom>
          <a:noFill/>
          <a:ln/>
        </p:spPr>
        <p:txBody>
          <a:bodyPr wrap="square" rtlCol="0" anchor="t"/>
          <a:lstStyle/>
          <a:p>
            <a:pPr algn="l" indent="0" marL="0">
              <a:buNone/>
            </a:pPr>
            <a:r>
              <a:rPr lang="en-US" sz="3800" b="1" dirty="0">
                <a:solidFill>
                  <a:srgbClr val="FFFFFF"/>
                </a:solidFill>
                <a:latin typeface="Georgia" pitchFamily="34" charset="0"/>
                <a:ea typeface="Georgia" pitchFamily="34" charset="-122"/>
                <a:cs typeface="Georgia" pitchFamily="34" charset="-120"/>
              </a:rPr>
              <a:t>Deep Research</a:t>
            </a:r>
            <a:endParaRPr lang="en-US" sz="3800" dirty="0"/>
          </a:p>
        </p:txBody>
      </p:sp>
      <p:sp>
        <p:nvSpPr>
          <p:cNvPr id="8" name="Text 6"/>
          <p:cNvSpPr/>
          <p:nvPr/>
        </p:nvSpPr>
        <p:spPr>
          <a:xfrm>
            <a:off x="457200" y="3108960"/>
            <a:ext cx="6400800" cy="731520"/>
          </a:xfrm>
          <a:prstGeom prst="rect">
            <a:avLst/>
          </a:prstGeom>
          <a:noFill/>
          <a:ln/>
        </p:spPr>
        <p:txBody>
          <a:bodyPr wrap="square" rtlCol="0" anchor="ctr"/>
          <a:lstStyle/>
          <a:p>
            <a:pPr algn="l" indent="0" marL="0">
              <a:buNone/>
            </a:pPr>
            <a:r>
              <a:rPr lang="en-US" sz="1700" i="1" dirty="0">
                <a:solidFill>
                  <a:srgbClr val="C4A35A"/>
                </a:solidFill>
                <a:latin typeface="Georgia" pitchFamily="34" charset="0"/>
                <a:ea typeface="Georgia" pitchFamily="34" charset="-122"/>
                <a:cs typeface="Georgia" pitchFamily="34" charset="-120"/>
              </a:rPr>
              <a:t>Building your evidence base with NotebookLM and Perplexity</a:t>
            </a:r>
            <a:endParaRPr lang="en-US" sz="1700" dirty="0"/>
          </a:p>
        </p:txBody>
      </p:sp>
      <p:sp>
        <p:nvSpPr>
          <p:cNvPr id="9" name="Shape 7"/>
          <p:cNvSpPr/>
          <p:nvPr/>
        </p:nvSpPr>
        <p:spPr>
          <a:xfrm>
            <a:off x="0" y="4960620"/>
            <a:ext cx="9144000" cy="182880"/>
          </a:xfrm>
          <a:prstGeom prst="rect">
            <a:avLst/>
          </a:prstGeom>
          <a:solidFill>
            <a:srgbClr val="C4A35A"/>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274320"/>
            <a:ext cx="1463040" cy="411480"/>
          </a:xfrm>
          <a:prstGeom prst="rect">
            <a:avLst/>
          </a:prstGeom>
          <a:solidFill>
            <a:srgbClr val="C4A35A"/>
          </a:solidFill>
          <a:ln/>
        </p:spPr>
      </p:sp>
      <p:sp>
        <p:nvSpPr>
          <p:cNvPr id="3" name="Text 1"/>
          <p:cNvSpPr/>
          <p:nvPr/>
        </p:nvSpPr>
        <p:spPr>
          <a:xfrm>
            <a:off x="457200" y="27432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4</a:t>
            </a:r>
            <a:endParaRPr lang="en-US" sz="1300" dirty="0"/>
          </a:p>
        </p:txBody>
      </p:sp>
      <p:sp>
        <p:nvSpPr>
          <p:cNvPr id="4" name="Text 2"/>
          <p:cNvSpPr/>
          <p:nvPr/>
        </p:nvSpPr>
        <p:spPr>
          <a:xfrm>
            <a:off x="2103120" y="274320"/>
            <a:ext cx="6400800" cy="457200"/>
          </a:xfrm>
          <a:prstGeom prst="rect">
            <a:avLst/>
          </a:prstGeom>
          <a:noFill/>
          <a:ln/>
        </p:spPr>
        <p:txBody>
          <a:bodyPr wrap="square"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Deep Research Workflow</a:t>
            </a:r>
            <a:endParaRPr lang="en-US" sz="2800" dirty="0"/>
          </a:p>
        </p:txBody>
      </p:sp>
      <p:sp>
        <p:nvSpPr>
          <p:cNvPr id="5" name="Shape 3"/>
          <p:cNvSpPr/>
          <p:nvPr/>
        </p:nvSpPr>
        <p:spPr>
          <a:xfrm>
            <a:off x="457200" y="914400"/>
            <a:ext cx="3931920" cy="25603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914400"/>
            <a:ext cx="54864" cy="2560320"/>
          </a:xfrm>
          <a:prstGeom prst="rect">
            <a:avLst/>
          </a:prstGeom>
          <a:solidFill>
            <a:srgbClr val="C4A35A"/>
          </a:solidFill>
          <a:ln/>
        </p:spPr>
      </p:sp>
      <p:sp>
        <p:nvSpPr>
          <p:cNvPr id="7" name="Text 5"/>
          <p:cNvSpPr/>
          <p:nvPr/>
        </p:nvSpPr>
        <p:spPr>
          <a:xfrm>
            <a:off x="685800" y="1005840"/>
            <a:ext cx="3474720" cy="274320"/>
          </a:xfrm>
          <a:prstGeom prst="rect">
            <a:avLst/>
          </a:prstGeom>
          <a:noFill/>
          <a:ln/>
        </p:spPr>
        <p:txBody>
          <a:bodyPr wrap="square" rtlCol="0" anchor="ctr"/>
          <a:lstStyle/>
          <a:p>
            <a:pPr indent="0" marL="0">
              <a:buNone/>
            </a:pPr>
            <a:r>
              <a:rPr lang="en-US" sz="1200" b="1" dirty="0">
                <a:solidFill>
                  <a:srgbClr val="C4A35A"/>
                </a:solidFill>
                <a:latin typeface="Arial" pitchFamily="34" charset="0"/>
                <a:ea typeface="Arial" pitchFamily="34" charset="-122"/>
                <a:cs typeface="Arial" pitchFamily="34" charset="-120"/>
              </a:rPr>
              <a:t>NOTEBOOKLM DEEP RESEARCH</a:t>
            </a:r>
            <a:endParaRPr lang="en-US" sz="1200" dirty="0"/>
          </a:p>
        </p:txBody>
      </p:sp>
      <p:sp>
        <p:nvSpPr>
          <p:cNvPr id="8" name="Text 6"/>
          <p:cNvSpPr/>
          <p:nvPr/>
        </p:nvSpPr>
        <p:spPr>
          <a:xfrm>
            <a:off x="685800" y="1371600"/>
            <a:ext cx="3474720" cy="2011680"/>
          </a:xfrm>
          <a:prstGeom prst="rect">
            <a:avLst/>
          </a:prstGeom>
          <a:noFill/>
          <a:ln/>
        </p:spPr>
        <p:txBody>
          <a:bodyPr wrap="square" rtlCol="0" anchor="ctr"/>
          <a:lstStyle/>
          <a:p>
            <a:pPr marL="342900" indent="-342900">
              <a:spcAft>
                <a:spcPts val="500"/>
              </a:spcAft>
              <a:buSzPct val="100000"/>
              <a:buChar char="•"/>
            </a:pPr>
            <a:r>
              <a:rPr lang="en-US" sz="1100" dirty="0">
                <a:solidFill>
                  <a:srgbClr val="1B365D"/>
                </a:solidFill>
                <a:latin typeface="Arial" pitchFamily="34" charset="0"/>
                <a:ea typeface="Arial" pitchFamily="34" charset="-122"/>
                <a:cs typeface="Arial" pitchFamily="34" charset="-120"/>
              </a:rPr>
              <a:t>Create a notebook per top concept</a:t>
            </a:r>
            <a:endParaRPr lang="en-US" sz="1100" dirty="0"/>
          </a:p>
          <a:p>
            <a:pPr marL="342900" indent="-342900">
              <a:spcAft>
                <a:spcPts val="500"/>
              </a:spcAft>
              <a:buSzPct val="100000"/>
              <a:buChar char="•"/>
            </a:pPr>
            <a:r>
              <a:rPr lang="en-US" sz="1100" dirty="0">
                <a:solidFill>
                  <a:srgbClr val="1B365D"/>
                </a:solidFill>
                <a:latin typeface="Arial" pitchFamily="34" charset="0"/>
                <a:ea typeface="Arial" pitchFamily="34" charset="-122"/>
                <a:cs typeface="Arial" pitchFamily="34" charset="-120"/>
              </a:rPr>
              <a:t>Skill generates research questions</a:t>
            </a:r>
            <a:endParaRPr lang="en-US" sz="1100" dirty="0"/>
          </a:p>
          <a:p>
            <a:pPr marL="342900" indent="-342900">
              <a:spcAft>
                <a:spcPts val="500"/>
              </a:spcAft>
              <a:buSzPct val="100000"/>
              <a:buChar char="•"/>
            </a:pPr>
            <a:r>
              <a:rPr lang="en-US" sz="1100" dirty="0">
                <a:solidFill>
                  <a:srgbClr val="1B365D"/>
                </a:solidFill>
                <a:latin typeface="Arial" pitchFamily="34" charset="0"/>
                <a:ea typeface="Arial" pitchFamily="34" charset="-122"/>
                <a:cs typeface="Arial" pitchFamily="34" charset="-120"/>
              </a:rPr>
              <a:t>Run Deep Research on each question</a:t>
            </a:r>
            <a:endParaRPr lang="en-US" sz="1100" dirty="0"/>
          </a:p>
          <a:p>
            <a:pPr marL="342900" indent="-342900">
              <a:spcAft>
                <a:spcPts val="500"/>
              </a:spcAft>
              <a:buSzPct val="100000"/>
              <a:buChar char="•"/>
            </a:pPr>
            <a:r>
              <a:rPr lang="en-US" sz="1100" b="1" dirty="0">
                <a:solidFill>
                  <a:srgbClr val="1B365D"/>
                </a:solidFill>
                <a:latin typeface="Arial" pitchFamily="34" charset="0"/>
                <a:ea typeface="Arial" pitchFamily="34" charset="-122"/>
                <a:cs typeface="Arial" pitchFamily="34" charset="-120"/>
              </a:rPr>
              <a:t>Follow EVERY follow-up question</a:t>
            </a:r>
            <a:endParaRPr lang="en-US" sz="1100" dirty="0"/>
          </a:p>
          <a:p>
            <a:pPr marL="342900" indent="-342900">
              <a:spcAft>
                <a:spcPts val="500"/>
              </a:spcAft>
              <a:buSzPct val="100000"/>
              <a:buChar char="•"/>
            </a:pPr>
            <a:r>
              <a:rPr lang="en-US" sz="1100" dirty="0">
                <a:solidFill>
                  <a:srgbClr val="1B365D"/>
                </a:solidFill>
                <a:latin typeface="Arial" pitchFamily="34" charset="0"/>
                <a:ea typeface="Arial" pitchFamily="34" charset="-122"/>
                <a:cs typeface="Arial" pitchFamily="34" charset="-120"/>
              </a:rPr>
              <a:t>All replies saved as sources</a:t>
            </a:r>
            <a:endParaRPr lang="en-US" sz="1100" dirty="0"/>
          </a:p>
          <a:p>
            <a:pPr marL="342900" indent="-342900">
              <a:buSzPct val="100000"/>
              <a:buChar char="•"/>
            </a:pPr>
            <a:r>
              <a:rPr lang="en-US" sz="1100" dirty="0">
                <a:solidFill>
                  <a:srgbClr val="1B365D"/>
                </a:solidFill>
                <a:latin typeface="Arial" pitchFamily="34" charset="0"/>
                <a:ea typeface="Arial" pitchFamily="34" charset="-122"/>
                <a:cs typeface="Arial" pitchFamily="34" charset="-120"/>
              </a:rPr>
              <a:t>Build comprehensive evidence repository</a:t>
            </a:r>
            <a:endParaRPr lang="en-US" sz="1100" dirty="0"/>
          </a:p>
        </p:txBody>
      </p:sp>
      <p:sp>
        <p:nvSpPr>
          <p:cNvPr id="9" name="Shape 7"/>
          <p:cNvSpPr/>
          <p:nvPr/>
        </p:nvSpPr>
        <p:spPr>
          <a:xfrm>
            <a:off x="4754880" y="914400"/>
            <a:ext cx="3931920" cy="25603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914400"/>
            <a:ext cx="54864" cy="2560320"/>
          </a:xfrm>
          <a:prstGeom prst="rect">
            <a:avLst/>
          </a:prstGeom>
          <a:solidFill>
            <a:srgbClr val="C4A35A"/>
          </a:solidFill>
          <a:ln/>
        </p:spPr>
      </p:sp>
      <p:sp>
        <p:nvSpPr>
          <p:cNvPr id="11" name="Text 9"/>
          <p:cNvSpPr/>
          <p:nvPr/>
        </p:nvSpPr>
        <p:spPr>
          <a:xfrm>
            <a:off x="4983480" y="1005840"/>
            <a:ext cx="3474720" cy="274320"/>
          </a:xfrm>
          <a:prstGeom prst="rect">
            <a:avLst/>
          </a:prstGeom>
          <a:noFill/>
          <a:ln/>
        </p:spPr>
        <p:txBody>
          <a:bodyPr wrap="square" rtlCol="0" anchor="ctr"/>
          <a:lstStyle/>
          <a:p>
            <a:pPr indent="0" marL="0">
              <a:buNone/>
            </a:pPr>
            <a:r>
              <a:rPr lang="en-US" sz="1200" b="1" dirty="0">
                <a:solidFill>
                  <a:srgbClr val="C4A35A"/>
                </a:solidFill>
                <a:latin typeface="Arial" pitchFamily="34" charset="0"/>
                <a:ea typeface="Arial" pitchFamily="34" charset="-122"/>
                <a:cs typeface="Arial" pitchFamily="34" charset="-120"/>
              </a:rPr>
              <a:t>PERPLEXITY PRO RESEARCH</a:t>
            </a:r>
            <a:endParaRPr lang="en-US" sz="1200" dirty="0"/>
          </a:p>
        </p:txBody>
      </p:sp>
      <p:sp>
        <p:nvSpPr>
          <p:cNvPr id="12" name="Text 10"/>
          <p:cNvSpPr/>
          <p:nvPr/>
        </p:nvSpPr>
        <p:spPr>
          <a:xfrm>
            <a:off x="4983480" y="1371600"/>
            <a:ext cx="3474720" cy="2011680"/>
          </a:xfrm>
          <a:prstGeom prst="rect">
            <a:avLst/>
          </a:prstGeom>
          <a:noFill/>
          <a:ln/>
        </p:spPr>
        <p:txBody>
          <a:bodyPr wrap="square" rtlCol="0" anchor="ctr"/>
          <a:lstStyle/>
          <a:p>
            <a:pPr marL="342900" indent="-342900">
              <a:spcAft>
                <a:spcPts val="500"/>
              </a:spcAft>
              <a:buSzPct val="100000"/>
              <a:buChar char="•"/>
            </a:pPr>
            <a:r>
              <a:rPr lang="en-US" sz="1100" dirty="0">
                <a:solidFill>
                  <a:srgbClr val="1B365D"/>
                </a:solidFill>
                <a:latin typeface="Arial" pitchFamily="34" charset="0"/>
                <a:ea typeface="Arial" pitchFamily="34" charset="-122"/>
                <a:cs typeface="Arial" pitchFamily="34" charset="-120"/>
              </a:rPr>
              <a:t>Skill generates targeted prompts</a:t>
            </a:r>
            <a:endParaRPr lang="en-US" sz="1100" dirty="0"/>
          </a:p>
          <a:p>
            <a:pPr marL="342900" indent="-342900">
              <a:spcAft>
                <a:spcPts val="500"/>
              </a:spcAft>
              <a:buSzPct val="100000"/>
              <a:buChar char="•"/>
            </a:pPr>
            <a:r>
              <a:rPr lang="en-US" sz="1100" dirty="0">
                <a:solidFill>
                  <a:srgbClr val="1B365D"/>
                </a:solidFill>
                <a:latin typeface="Arial" pitchFamily="34" charset="0"/>
                <a:ea typeface="Arial" pitchFamily="34" charset="-122"/>
                <a:cs typeface="Arial" pitchFamily="34" charset="-120"/>
              </a:rPr>
              <a:t>Run in Perplexity Pro for citations</a:t>
            </a:r>
            <a:endParaRPr lang="en-US" sz="1100" dirty="0"/>
          </a:p>
          <a:p>
            <a:pPr marL="342900" indent="-342900">
              <a:spcAft>
                <a:spcPts val="500"/>
              </a:spcAft>
              <a:buSzPct val="100000"/>
              <a:buChar char="•"/>
            </a:pPr>
            <a:r>
              <a:rPr lang="en-US" sz="1100" b="1" dirty="0">
                <a:solidFill>
                  <a:srgbClr val="1B365D"/>
                </a:solidFill>
                <a:latin typeface="Arial" pitchFamily="34" charset="0"/>
                <a:ea typeface="Arial" pitchFamily="34" charset="-122"/>
                <a:cs typeface="Arial" pitchFamily="34" charset="-120"/>
              </a:rPr>
              <a:t>Follow ALL follow-up questions</a:t>
            </a:r>
            <a:endParaRPr lang="en-US" sz="1100" dirty="0"/>
          </a:p>
          <a:p>
            <a:pPr marL="342900" indent="-342900">
              <a:spcAft>
                <a:spcPts val="300"/>
              </a:spcAft>
              <a:buSzPct val="100000"/>
              <a:buChar char="•"/>
            </a:pPr>
            <a:r>
              <a:rPr lang="en-US" sz="1100" dirty="0">
                <a:solidFill>
                  <a:srgbClr val="1B365D"/>
                </a:solidFill>
                <a:latin typeface="Arial" pitchFamily="34" charset="0"/>
                <a:ea typeface="Arial" pitchFamily="34" charset="-122"/>
                <a:cs typeface="Arial" pitchFamily="34" charset="-120"/>
              </a:rPr>
              <a:t>Export chats to NotebookLM via:</a:t>
            </a:r>
            <a:endParaRPr lang="en-US" sz="1100" dirty="0"/>
          </a:p>
          <a:p>
            <a:pPr indent="0" marL="0">
              <a:spcAft>
                <a:spcPts val="300"/>
              </a:spcAft>
              <a:buNone/>
            </a:pPr>
            <a:r>
              <a:rPr lang="en-US" sz="1100" dirty="0">
                <a:solidFill>
                  <a:srgbClr val="5A5A5A"/>
                </a:solidFill>
                <a:latin typeface="Arial" pitchFamily="34" charset="0"/>
                <a:ea typeface="Arial" pitchFamily="34" charset="-122"/>
                <a:cs typeface="Arial" pitchFamily="34" charset="-120"/>
              </a:rPr>
              <a:t>  — Chrome extension, or</a:t>
            </a:r>
            <a:endParaRPr lang="en-US" sz="1100" dirty="0"/>
          </a:p>
          <a:p>
            <a:pPr indent="0" marL="0">
              <a:buNone/>
            </a:pPr>
            <a:r>
              <a:rPr lang="en-US" sz="1100" dirty="0">
                <a:solidFill>
                  <a:srgbClr val="5A5A5A"/>
                </a:solidFill>
                <a:latin typeface="Arial" pitchFamily="34" charset="0"/>
                <a:ea typeface="Arial" pitchFamily="34" charset="-122"/>
                <a:cs typeface="Arial" pitchFamily="34" charset="-120"/>
              </a:rPr>
              <a:t>  — Copy/paste through Claude</a:t>
            </a:r>
            <a:endParaRPr lang="en-US" sz="1100" dirty="0"/>
          </a:p>
        </p:txBody>
      </p:sp>
      <p:sp>
        <p:nvSpPr>
          <p:cNvPr id="13" name="Shape 11"/>
          <p:cNvSpPr/>
          <p:nvPr/>
        </p:nvSpPr>
        <p:spPr>
          <a:xfrm>
            <a:off x="457200" y="3703320"/>
            <a:ext cx="8229600" cy="777240"/>
          </a:xfrm>
          <a:prstGeom prst="rect">
            <a:avLst/>
          </a:prstGeom>
          <a:solidFill>
            <a:srgbClr val="1B365D"/>
          </a:solidFill>
          <a:ln/>
        </p:spPr>
      </p:sp>
      <p:sp>
        <p:nvSpPr>
          <p:cNvPr id="14" name="Text 12"/>
          <p:cNvSpPr/>
          <p:nvPr/>
        </p:nvSpPr>
        <p:spPr>
          <a:xfrm>
            <a:off x="640080" y="3749040"/>
            <a:ext cx="2286000" cy="274320"/>
          </a:xfrm>
          <a:prstGeom prst="rect">
            <a:avLst/>
          </a:prstGeom>
          <a:noFill/>
          <a:ln/>
        </p:spPr>
        <p:txBody>
          <a:bodyPr wrap="square" rtlCol="0" anchor="ctr"/>
          <a:lstStyle/>
          <a:p>
            <a:pPr indent="0" marL="0">
              <a:buNone/>
            </a:pPr>
            <a:r>
              <a:rPr lang="en-US" sz="1200" b="1" dirty="0">
                <a:solidFill>
                  <a:srgbClr val="C4A35A"/>
                </a:solidFill>
                <a:latin typeface="Arial" pitchFamily="34" charset="0"/>
                <a:ea typeface="Arial" pitchFamily="34" charset="-122"/>
                <a:cs typeface="Arial" pitchFamily="34" charset="-120"/>
              </a:rPr>
              <a:t>MCP AUTOMATION</a:t>
            </a:r>
            <a:endParaRPr lang="en-US" sz="1200" dirty="0"/>
          </a:p>
        </p:txBody>
      </p:sp>
      <p:sp>
        <p:nvSpPr>
          <p:cNvPr id="15" name="Text 13"/>
          <p:cNvSpPr/>
          <p:nvPr/>
        </p:nvSpPr>
        <p:spPr>
          <a:xfrm>
            <a:off x="2926080" y="3749040"/>
            <a:ext cx="5577840" cy="64008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With the NotebookLM MCP Server, Claude creates notebooks, adds sources, and triggers Deep Research directly. Setup in companion video.</a:t>
            </a:r>
            <a:endParaRPr lang="en-US" sz="1100" dirty="0"/>
          </a:p>
        </p:txBody>
      </p:sp>
      <p:sp>
        <p:nvSpPr>
          <p:cNvPr id="16" name="Text 14"/>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A35A"/>
          </a:solidFill>
          <a:ln/>
        </p:spPr>
      </p:sp>
      <p:sp>
        <p:nvSpPr>
          <p:cNvPr id="3" name="Shape 1"/>
          <p:cNvSpPr/>
          <p:nvPr/>
        </p:nvSpPr>
        <p:spPr>
          <a:xfrm>
            <a:off x="6583680" y="-1097280"/>
            <a:ext cx="4114800" cy="4114800"/>
          </a:xfrm>
          <a:prstGeom prst="ellipse">
            <a:avLst/>
          </a:prstGeom>
          <a:solidFill>
            <a:srgbClr val="1B365D">
              <a:alpha val="0"/>
            </a:srgbClr>
          </a:solidFill>
          <a:ln w="9525">
            <a:solidFill>
              <a:srgbClr val="C4A35A"/>
            </a:solidFill>
            <a:prstDash val="solid"/>
          </a:ln>
        </p:spPr>
      </p:sp>
      <p:sp>
        <p:nvSpPr>
          <p:cNvPr id="4" name="Shape 2"/>
          <p:cNvSpPr/>
          <p:nvPr/>
        </p:nvSpPr>
        <p:spPr>
          <a:xfrm>
            <a:off x="7498080" y="0"/>
            <a:ext cx="2286000" cy="2286000"/>
          </a:xfrm>
          <a:prstGeom prst="ellipse">
            <a:avLst/>
          </a:prstGeom>
          <a:solidFill>
            <a:srgbClr val="1B365D">
              <a:alpha val="0"/>
            </a:srgbClr>
          </a:solidFill>
          <a:ln w="6350">
            <a:solidFill>
              <a:srgbClr val="C4A35A"/>
            </a:solidFill>
            <a:prstDash val="solid"/>
          </a:ln>
        </p:spPr>
      </p:sp>
      <p:sp>
        <p:nvSpPr>
          <p:cNvPr id="5" name="Shape 3"/>
          <p:cNvSpPr/>
          <p:nvPr/>
        </p:nvSpPr>
        <p:spPr>
          <a:xfrm>
            <a:off x="457200" y="1280160"/>
            <a:ext cx="1463040" cy="411480"/>
          </a:xfrm>
          <a:prstGeom prst="rect">
            <a:avLst/>
          </a:prstGeom>
          <a:solidFill>
            <a:srgbClr val="C4A35A"/>
          </a:solidFill>
          <a:ln/>
        </p:spPr>
      </p:sp>
      <p:sp>
        <p:nvSpPr>
          <p:cNvPr id="6" name="Text 4"/>
          <p:cNvSpPr/>
          <p:nvPr/>
        </p:nvSpPr>
        <p:spPr>
          <a:xfrm>
            <a:off x="457200" y="128016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5</a:t>
            </a:r>
            <a:endParaRPr lang="en-US" sz="1300" dirty="0"/>
          </a:p>
        </p:txBody>
      </p:sp>
      <p:sp>
        <p:nvSpPr>
          <p:cNvPr id="7" name="Text 5"/>
          <p:cNvSpPr/>
          <p:nvPr/>
        </p:nvSpPr>
        <p:spPr>
          <a:xfrm>
            <a:off x="457200" y="1920240"/>
            <a:ext cx="7315200" cy="1097280"/>
          </a:xfrm>
          <a:prstGeom prst="rect">
            <a:avLst/>
          </a:prstGeom>
          <a:noFill/>
          <a:ln/>
        </p:spPr>
        <p:txBody>
          <a:bodyPr wrap="square" rtlCol="0" anchor="t"/>
          <a:lstStyle/>
          <a:p>
            <a:pPr algn="l" indent="0" marL="0">
              <a:buNone/>
            </a:pPr>
            <a:r>
              <a:rPr lang="en-US" sz="3800" b="1" dirty="0">
                <a:solidFill>
                  <a:srgbClr val="FFFFFF"/>
                </a:solidFill>
                <a:latin typeface="Georgia" pitchFamily="34" charset="0"/>
                <a:ea typeface="Georgia" pitchFamily="34" charset="-122"/>
                <a:cs typeface="Georgia" pitchFamily="34" charset="-120"/>
              </a:rPr>
              <a:t>Concept Evaluation</a:t>
            </a:r>
            <a:endParaRPr lang="en-US" sz="3800" dirty="0"/>
          </a:p>
        </p:txBody>
      </p:sp>
      <p:sp>
        <p:nvSpPr>
          <p:cNvPr id="8" name="Text 6"/>
          <p:cNvSpPr/>
          <p:nvPr/>
        </p:nvSpPr>
        <p:spPr>
          <a:xfrm>
            <a:off x="457200" y="3108960"/>
            <a:ext cx="6400800" cy="731520"/>
          </a:xfrm>
          <a:prstGeom prst="rect">
            <a:avLst/>
          </a:prstGeom>
          <a:noFill/>
          <a:ln/>
        </p:spPr>
        <p:txBody>
          <a:bodyPr wrap="square" rtlCol="0" anchor="ctr"/>
          <a:lstStyle/>
          <a:p>
            <a:pPr algn="l" indent="0" marL="0">
              <a:buNone/>
            </a:pPr>
            <a:r>
              <a:rPr lang="en-US" sz="1700" i="1" dirty="0">
                <a:solidFill>
                  <a:srgbClr val="C4A35A"/>
                </a:solidFill>
                <a:latin typeface="Georgia" pitchFamily="34" charset="0"/>
                <a:ea typeface="Georgia" pitchFamily="34" charset="-122"/>
                <a:cs typeface="Georgia" pitchFamily="34" charset="-120"/>
              </a:rPr>
              <a:t>Multi-model scoring against your custom rubric</a:t>
            </a:r>
            <a:endParaRPr lang="en-US" sz="1700" dirty="0"/>
          </a:p>
        </p:txBody>
      </p:sp>
      <p:sp>
        <p:nvSpPr>
          <p:cNvPr id="9" name="Shape 7"/>
          <p:cNvSpPr/>
          <p:nvPr/>
        </p:nvSpPr>
        <p:spPr>
          <a:xfrm>
            <a:off x="0" y="4960620"/>
            <a:ext cx="9144000" cy="182880"/>
          </a:xfrm>
          <a:prstGeom prst="rect">
            <a:avLst/>
          </a:prstGeom>
          <a:solidFill>
            <a:srgbClr val="C4A35A"/>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274320"/>
            <a:ext cx="1463040" cy="411480"/>
          </a:xfrm>
          <a:prstGeom prst="rect">
            <a:avLst/>
          </a:prstGeom>
          <a:solidFill>
            <a:srgbClr val="C4A35A"/>
          </a:solidFill>
          <a:ln/>
        </p:spPr>
      </p:sp>
      <p:sp>
        <p:nvSpPr>
          <p:cNvPr id="3" name="Text 1"/>
          <p:cNvSpPr/>
          <p:nvPr/>
        </p:nvSpPr>
        <p:spPr>
          <a:xfrm>
            <a:off x="457200" y="27432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5</a:t>
            </a:r>
            <a:endParaRPr lang="en-US" sz="1300" dirty="0"/>
          </a:p>
        </p:txBody>
      </p:sp>
      <p:sp>
        <p:nvSpPr>
          <p:cNvPr id="4" name="Text 2"/>
          <p:cNvSpPr/>
          <p:nvPr/>
        </p:nvSpPr>
        <p:spPr>
          <a:xfrm>
            <a:off x="2103120" y="274320"/>
            <a:ext cx="6400800" cy="457200"/>
          </a:xfrm>
          <a:prstGeom prst="rect">
            <a:avLst/>
          </a:prstGeom>
          <a:noFill/>
          <a:ln/>
        </p:spPr>
        <p:txBody>
          <a:bodyPr wrap="square"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Multi-Model Evaluation</a:t>
            </a:r>
            <a:endParaRPr lang="en-US" sz="2800" dirty="0"/>
          </a:p>
        </p:txBody>
      </p:sp>
      <p:sp>
        <p:nvSpPr>
          <p:cNvPr id="5" name="Shape 3"/>
          <p:cNvSpPr/>
          <p:nvPr/>
        </p:nvSpPr>
        <p:spPr>
          <a:xfrm>
            <a:off x="457200" y="914400"/>
            <a:ext cx="822960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914400"/>
            <a:ext cx="54864" cy="1005840"/>
          </a:xfrm>
          <a:prstGeom prst="rect">
            <a:avLst/>
          </a:prstGeom>
          <a:solidFill>
            <a:srgbClr val="1B365D"/>
          </a:solidFill>
          <a:ln/>
        </p:spPr>
      </p:sp>
      <p:sp>
        <p:nvSpPr>
          <p:cNvPr id="7" name="Text 5"/>
          <p:cNvSpPr/>
          <p:nvPr/>
        </p:nvSpPr>
        <p:spPr>
          <a:xfrm>
            <a:off x="685800" y="1005840"/>
            <a:ext cx="2286000" cy="32004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CLAUDE EVALUATION</a:t>
            </a:r>
            <a:endParaRPr lang="en-US" sz="1400" dirty="0"/>
          </a:p>
        </p:txBody>
      </p:sp>
      <p:sp>
        <p:nvSpPr>
          <p:cNvPr id="8" name="Text 6"/>
          <p:cNvSpPr/>
          <p:nvPr/>
        </p:nvSpPr>
        <p:spPr>
          <a:xfrm>
            <a:off x="3017520" y="1005840"/>
            <a:ext cx="5394960" cy="822960"/>
          </a:xfrm>
          <a:prstGeom prst="rect">
            <a:avLst/>
          </a:prstGeom>
          <a:noFill/>
          <a:ln/>
        </p:spPr>
        <p:txBody>
          <a:bodyPr wrap="square" rtlCol="0" anchor="ctr"/>
          <a:lstStyle/>
          <a:p>
            <a:pPr indent="0" marL="0">
              <a:buNone/>
            </a:pPr>
            <a:r>
              <a:rPr lang="en-US" sz="1200" dirty="0">
                <a:solidFill>
                  <a:srgbClr val="5A5A5A"/>
                </a:solidFill>
                <a:latin typeface="Arial" pitchFamily="34" charset="0"/>
                <a:ea typeface="Arial" pitchFamily="34" charset="-122"/>
                <a:cs typeface="Arial" pitchFamily="34" charset="-120"/>
              </a:rPr>
              <a:t>Reads each concept's NotebookLM sources against your rubric. Detailed scoring with evidence citations.</a:t>
            </a:r>
            <a:endParaRPr lang="en-US" sz="1200" dirty="0"/>
          </a:p>
        </p:txBody>
      </p:sp>
      <p:sp>
        <p:nvSpPr>
          <p:cNvPr id="9" name="Text 7"/>
          <p:cNvSpPr/>
          <p:nvPr/>
        </p:nvSpPr>
        <p:spPr>
          <a:xfrm>
            <a:off x="4297680" y="1892808"/>
            <a:ext cx="548640" cy="228600"/>
          </a:xfrm>
          <a:prstGeom prst="rect">
            <a:avLst/>
          </a:prstGeom>
          <a:noFill/>
          <a:ln/>
        </p:spPr>
        <p:txBody>
          <a:bodyPr wrap="square" rtlCol="0" anchor="ctr"/>
          <a:lstStyle/>
          <a:p>
            <a:pPr algn="ctr" indent="0" marL="0">
              <a:buNone/>
            </a:pPr>
            <a:r>
              <a:rPr lang="en-US" sz="1200" dirty="0">
                <a:solidFill>
                  <a:srgbClr val="C4A35A"/>
                </a:solidFill>
              </a:rPr>
              <a:t>▼</a:t>
            </a:r>
            <a:endParaRPr lang="en-US" sz="1200" dirty="0"/>
          </a:p>
        </p:txBody>
      </p:sp>
      <p:sp>
        <p:nvSpPr>
          <p:cNvPr id="10" name="Shape 8"/>
          <p:cNvSpPr/>
          <p:nvPr/>
        </p:nvSpPr>
        <p:spPr>
          <a:xfrm>
            <a:off x="457200" y="2103120"/>
            <a:ext cx="822960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57200" y="2103120"/>
            <a:ext cx="54864" cy="1005840"/>
          </a:xfrm>
          <a:prstGeom prst="rect">
            <a:avLst/>
          </a:prstGeom>
          <a:solidFill>
            <a:srgbClr val="1B365D"/>
          </a:solidFill>
          <a:ln/>
        </p:spPr>
      </p:sp>
      <p:sp>
        <p:nvSpPr>
          <p:cNvPr id="12" name="Text 10"/>
          <p:cNvSpPr/>
          <p:nvPr/>
        </p:nvSpPr>
        <p:spPr>
          <a:xfrm>
            <a:off x="685800" y="2194560"/>
            <a:ext cx="2286000" cy="32004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GEMINI EVALUATION</a:t>
            </a:r>
            <a:endParaRPr lang="en-US" sz="1400" dirty="0"/>
          </a:p>
        </p:txBody>
      </p:sp>
      <p:sp>
        <p:nvSpPr>
          <p:cNvPr id="13" name="Text 11"/>
          <p:cNvSpPr/>
          <p:nvPr/>
        </p:nvSpPr>
        <p:spPr>
          <a:xfrm>
            <a:off x="3017520" y="2194560"/>
            <a:ext cx="5394960" cy="822960"/>
          </a:xfrm>
          <a:prstGeom prst="rect">
            <a:avLst/>
          </a:prstGeom>
          <a:noFill/>
          <a:ln/>
        </p:spPr>
        <p:txBody>
          <a:bodyPr wrap="square" rtlCol="0" anchor="ctr"/>
          <a:lstStyle/>
          <a:p>
            <a:pPr indent="0" marL="0">
              <a:buNone/>
            </a:pPr>
            <a:r>
              <a:rPr lang="en-US" sz="1200" dirty="0">
                <a:solidFill>
                  <a:srgbClr val="5A5A5A"/>
                </a:solidFill>
                <a:latin typeface="Arial" pitchFamily="34" charset="0"/>
                <a:ea typeface="Arial" pitchFamily="34" charset="-122"/>
                <a:cs typeface="Arial" pitchFamily="34" charset="-120"/>
              </a:rPr>
              <a:t>Independently evaluates the same concepts with the same rubric. Different model, different perspective.</a:t>
            </a:r>
            <a:endParaRPr lang="en-US" sz="1200" dirty="0"/>
          </a:p>
        </p:txBody>
      </p:sp>
      <p:sp>
        <p:nvSpPr>
          <p:cNvPr id="14" name="Text 12"/>
          <p:cNvSpPr/>
          <p:nvPr/>
        </p:nvSpPr>
        <p:spPr>
          <a:xfrm>
            <a:off x="4297680" y="3081528"/>
            <a:ext cx="548640" cy="228600"/>
          </a:xfrm>
          <a:prstGeom prst="rect">
            <a:avLst/>
          </a:prstGeom>
          <a:noFill/>
          <a:ln/>
        </p:spPr>
        <p:txBody>
          <a:bodyPr wrap="square" rtlCol="0" anchor="ctr"/>
          <a:lstStyle/>
          <a:p>
            <a:pPr algn="ctr" indent="0" marL="0">
              <a:buNone/>
            </a:pPr>
            <a:r>
              <a:rPr lang="en-US" sz="1200" dirty="0">
                <a:solidFill>
                  <a:srgbClr val="C4A35A"/>
                </a:solidFill>
              </a:rPr>
              <a:t>▼</a:t>
            </a:r>
            <a:endParaRPr lang="en-US" sz="1200" dirty="0"/>
          </a:p>
        </p:txBody>
      </p:sp>
      <p:sp>
        <p:nvSpPr>
          <p:cNvPr id="15" name="Shape 13"/>
          <p:cNvSpPr/>
          <p:nvPr/>
        </p:nvSpPr>
        <p:spPr>
          <a:xfrm>
            <a:off x="457200" y="3291840"/>
            <a:ext cx="822960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6" name="Shape 14"/>
          <p:cNvSpPr/>
          <p:nvPr/>
        </p:nvSpPr>
        <p:spPr>
          <a:xfrm>
            <a:off x="457200" y="3291840"/>
            <a:ext cx="54864" cy="1005840"/>
          </a:xfrm>
          <a:prstGeom prst="rect">
            <a:avLst/>
          </a:prstGeom>
          <a:solidFill>
            <a:srgbClr val="C4A35A"/>
          </a:solidFill>
          <a:ln/>
        </p:spPr>
      </p:sp>
      <p:sp>
        <p:nvSpPr>
          <p:cNvPr id="17" name="Text 15"/>
          <p:cNvSpPr/>
          <p:nvPr/>
        </p:nvSpPr>
        <p:spPr>
          <a:xfrm>
            <a:off x="685800" y="3383280"/>
            <a:ext cx="2286000" cy="32004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LLM COUNCIL</a:t>
            </a:r>
            <a:endParaRPr lang="en-US" sz="1400" dirty="0"/>
          </a:p>
        </p:txBody>
      </p:sp>
      <p:sp>
        <p:nvSpPr>
          <p:cNvPr id="18" name="Text 16"/>
          <p:cNvSpPr/>
          <p:nvPr/>
        </p:nvSpPr>
        <p:spPr>
          <a:xfrm>
            <a:off x="3017520" y="3383280"/>
            <a:ext cx="5394960" cy="822960"/>
          </a:xfrm>
          <a:prstGeom prst="rect">
            <a:avLst/>
          </a:prstGeom>
          <a:noFill/>
          <a:ln/>
        </p:spPr>
        <p:txBody>
          <a:bodyPr wrap="square" rtlCol="0" anchor="ctr"/>
          <a:lstStyle/>
          <a:p>
            <a:pPr indent="0" marL="0">
              <a:buNone/>
            </a:pPr>
            <a:r>
              <a:rPr lang="en-US" sz="1200" dirty="0">
                <a:solidFill>
                  <a:srgbClr val="5A5A5A"/>
                </a:solidFill>
                <a:latin typeface="Arial" pitchFamily="34" charset="0"/>
                <a:ea typeface="Arial" pitchFamily="34" charset="-122"/>
                <a:cs typeface="Arial" pitchFamily="34" charset="-120"/>
              </a:rPr>
              <a:t>Compare results. Agreement = high confidence. Disagreement = investigate. Consensus scores + recommendations.</a:t>
            </a:r>
            <a:endParaRPr lang="en-US" sz="1200" dirty="0"/>
          </a:p>
        </p:txBody>
      </p:sp>
      <p:sp>
        <p:nvSpPr>
          <p:cNvPr id="19" name="Shape 17"/>
          <p:cNvSpPr/>
          <p:nvPr/>
        </p:nvSpPr>
        <p:spPr>
          <a:xfrm>
            <a:off x="457200" y="4069080"/>
            <a:ext cx="8229600" cy="594360"/>
          </a:xfrm>
          <a:prstGeom prst="rect">
            <a:avLst/>
          </a:prstGeom>
          <a:solidFill>
            <a:srgbClr val="1B365D"/>
          </a:solidFill>
          <a:ln/>
        </p:spPr>
      </p:sp>
      <p:sp>
        <p:nvSpPr>
          <p:cNvPr id="20" name="Text 18"/>
          <p:cNvSpPr/>
          <p:nvPr/>
        </p:nvSpPr>
        <p:spPr>
          <a:xfrm>
            <a:off x="640080" y="4114800"/>
            <a:ext cx="1097280" cy="502920"/>
          </a:xfrm>
          <a:prstGeom prst="rect">
            <a:avLst/>
          </a:prstGeom>
          <a:noFill/>
          <a:ln/>
        </p:spPr>
        <p:txBody>
          <a:bodyPr wrap="square" rtlCol="0" anchor="ctr"/>
          <a:lstStyle/>
          <a:p>
            <a:pPr indent="0" marL="0">
              <a:buNone/>
            </a:pPr>
            <a:r>
              <a:rPr lang="en-US" sz="1200" b="1" dirty="0">
                <a:solidFill>
                  <a:srgbClr val="C4A35A"/>
                </a:solidFill>
                <a:latin typeface="Arial" pitchFamily="34" charset="0"/>
                <a:ea typeface="Arial" pitchFamily="34" charset="-122"/>
                <a:cs typeface="Arial" pitchFamily="34" charset="-120"/>
              </a:rPr>
              <a:t>OUTPUT:</a:t>
            </a:r>
            <a:endParaRPr lang="en-US" sz="1200" dirty="0"/>
          </a:p>
        </p:txBody>
      </p:sp>
      <p:sp>
        <p:nvSpPr>
          <p:cNvPr id="21" name="Text 19"/>
          <p:cNvSpPr/>
          <p:nvPr/>
        </p:nvSpPr>
        <p:spPr>
          <a:xfrm>
            <a:off x="1737360" y="4114800"/>
            <a:ext cx="6766560" cy="50292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Final score %  •  Criterion breakdown  •  Improvement suggestions ranked by impact  •  Kill / Revise / Continue</a:t>
            </a:r>
            <a:endParaRPr lang="en-US" sz="1100" dirty="0"/>
          </a:p>
        </p:txBody>
      </p:sp>
      <p:sp>
        <p:nvSpPr>
          <p:cNvPr id="22" name="Text 20"/>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A35A"/>
          </a:solidFill>
          <a:ln/>
        </p:spPr>
      </p:sp>
      <p:sp>
        <p:nvSpPr>
          <p:cNvPr id="3" name="Shape 1"/>
          <p:cNvSpPr/>
          <p:nvPr/>
        </p:nvSpPr>
        <p:spPr>
          <a:xfrm>
            <a:off x="6583680" y="-1097280"/>
            <a:ext cx="4114800" cy="4114800"/>
          </a:xfrm>
          <a:prstGeom prst="ellipse">
            <a:avLst/>
          </a:prstGeom>
          <a:solidFill>
            <a:srgbClr val="1B365D">
              <a:alpha val="0"/>
            </a:srgbClr>
          </a:solidFill>
          <a:ln w="9525">
            <a:solidFill>
              <a:srgbClr val="C4A35A"/>
            </a:solidFill>
            <a:prstDash val="solid"/>
          </a:ln>
        </p:spPr>
      </p:sp>
      <p:sp>
        <p:nvSpPr>
          <p:cNvPr id="4" name="Shape 2"/>
          <p:cNvSpPr/>
          <p:nvPr/>
        </p:nvSpPr>
        <p:spPr>
          <a:xfrm>
            <a:off x="7498080" y="0"/>
            <a:ext cx="2286000" cy="2286000"/>
          </a:xfrm>
          <a:prstGeom prst="ellipse">
            <a:avLst/>
          </a:prstGeom>
          <a:solidFill>
            <a:srgbClr val="1B365D">
              <a:alpha val="0"/>
            </a:srgbClr>
          </a:solidFill>
          <a:ln w="6350">
            <a:solidFill>
              <a:srgbClr val="C4A35A"/>
            </a:solidFill>
            <a:prstDash val="solid"/>
          </a:ln>
        </p:spPr>
      </p:sp>
      <p:sp>
        <p:nvSpPr>
          <p:cNvPr id="5" name="Shape 3"/>
          <p:cNvSpPr/>
          <p:nvPr/>
        </p:nvSpPr>
        <p:spPr>
          <a:xfrm>
            <a:off x="457200" y="1280160"/>
            <a:ext cx="1463040" cy="411480"/>
          </a:xfrm>
          <a:prstGeom prst="rect">
            <a:avLst/>
          </a:prstGeom>
          <a:solidFill>
            <a:srgbClr val="C4A35A"/>
          </a:solidFill>
          <a:ln/>
        </p:spPr>
      </p:sp>
      <p:sp>
        <p:nvSpPr>
          <p:cNvPr id="6" name="Text 4"/>
          <p:cNvSpPr/>
          <p:nvPr/>
        </p:nvSpPr>
        <p:spPr>
          <a:xfrm>
            <a:off x="457200" y="128016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6</a:t>
            </a:r>
            <a:endParaRPr lang="en-US" sz="1300" dirty="0"/>
          </a:p>
        </p:txBody>
      </p:sp>
      <p:sp>
        <p:nvSpPr>
          <p:cNvPr id="7" name="Text 5"/>
          <p:cNvSpPr/>
          <p:nvPr/>
        </p:nvSpPr>
        <p:spPr>
          <a:xfrm>
            <a:off x="457200" y="1920240"/>
            <a:ext cx="7315200" cy="1097280"/>
          </a:xfrm>
          <a:prstGeom prst="rect">
            <a:avLst/>
          </a:prstGeom>
          <a:noFill/>
          <a:ln/>
        </p:spPr>
        <p:txBody>
          <a:bodyPr wrap="square" rtlCol="0" anchor="t"/>
          <a:lstStyle/>
          <a:p>
            <a:pPr algn="l" indent="0" marL="0">
              <a:buNone/>
            </a:pPr>
            <a:r>
              <a:rPr lang="en-US" sz="3800" b="1" dirty="0">
                <a:solidFill>
                  <a:srgbClr val="FFFFFF"/>
                </a:solidFill>
                <a:latin typeface="Georgia" pitchFamily="34" charset="0"/>
                <a:ea typeface="Georgia" pitchFamily="34" charset="-122"/>
                <a:cs typeface="Georgia" pitchFamily="34" charset="-120"/>
              </a:rPr>
              <a:t>SCAMPER, Morphological</a:t>
            </a:r>
            <a:endParaRPr lang="en-US" sz="3800" dirty="0"/>
          </a:p>
          <a:p>
            <a:pPr algn="l" indent="0" marL="0">
              <a:buNone/>
            </a:pPr>
            <a:r>
              <a:rPr lang="en-US" sz="3800" b="1" dirty="0">
                <a:solidFill>
                  <a:srgbClr val="FFFFFF"/>
                </a:solidFill>
                <a:latin typeface="Georgia" pitchFamily="34" charset="0"/>
                <a:ea typeface="Georgia" pitchFamily="34" charset="-122"/>
                <a:cs typeface="Georgia" pitchFamily="34" charset="-120"/>
              </a:rPr>
              <a:t>Analysis &amp; Kano Model</a:t>
            </a:r>
            <a:endParaRPr lang="en-US" sz="3800" dirty="0"/>
          </a:p>
        </p:txBody>
      </p:sp>
      <p:sp>
        <p:nvSpPr>
          <p:cNvPr id="8" name="Text 6"/>
          <p:cNvSpPr/>
          <p:nvPr/>
        </p:nvSpPr>
        <p:spPr>
          <a:xfrm>
            <a:off x="457200" y="3108960"/>
            <a:ext cx="6400800" cy="731520"/>
          </a:xfrm>
          <a:prstGeom prst="rect">
            <a:avLst/>
          </a:prstGeom>
          <a:noFill/>
          <a:ln/>
        </p:spPr>
        <p:txBody>
          <a:bodyPr wrap="square" rtlCol="0" anchor="ctr"/>
          <a:lstStyle/>
          <a:p>
            <a:pPr algn="l" indent="0" marL="0">
              <a:buNone/>
            </a:pPr>
            <a:r>
              <a:rPr lang="en-US" sz="1700" i="1" dirty="0">
                <a:solidFill>
                  <a:srgbClr val="C4A35A"/>
                </a:solidFill>
                <a:latin typeface="Georgia" pitchFamily="34" charset="0"/>
                <a:ea typeface="Georgia" pitchFamily="34" charset="-122"/>
                <a:cs typeface="Georgia" pitchFamily="34" charset="-120"/>
              </a:rPr>
              <a:t>Refining and specifying your winning concept</a:t>
            </a:r>
            <a:endParaRPr lang="en-US" sz="1700" dirty="0"/>
          </a:p>
        </p:txBody>
      </p:sp>
      <p:sp>
        <p:nvSpPr>
          <p:cNvPr id="9" name="Shape 7"/>
          <p:cNvSpPr/>
          <p:nvPr/>
        </p:nvSpPr>
        <p:spPr>
          <a:xfrm>
            <a:off x="0" y="4960620"/>
            <a:ext cx="9144000" cy="182880"/>
          </a:xfrm>
          <a:prstGeom prst="rect">
            <a:avLst/>
          </a:prstGeom>
          <a:solidFill>
            <a:srgbClr val="C4A35A"/>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274320"/>
            <a:ext cx="1463040" cy="411480"/>
          </a:xfrm>
          <a:prstGeom prst="rect">
            <a:avLst/>
          </a:prstGeom>
          <a:solidFill>
            <a:srgbClr val="C4A35A"/>
          </a:solidFill>
          <a:ln/>
        </p:spPr>
      </p:sp>
      <p:sp>
        <p:nvSpPr>
          <p:cNvPr id="3" name="Text 1"/>
          <p:cNvSpPr/>
          <p:nvPr/>
        </p:nvSpPr>
        <p:spPr>
          <a:xfrm>
            <a:off x="457200" y="27432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6</a:t>
            </a:r>
            <a:endParaRPr lang="en-US" sz="1300" dirty="0"/>
          </a:p>
        </p:txBody>
      </p:sp>
      <p:sp>
        <p:nvSpPr>
          <p:cNvPr id="4" name="Text 2"/>
          <p:cNvSpPr/>
          <p:nvPr/>
        </p:nvSpPr>
        <p:spPr>
          <a:xfrm>
            <a:off x="2103120" y="274320"/>
            <a:ext cx="6400800" cy="457200"/>
          </a:xfrm>
          <a:prstGeom prst="rect">
            <a:avLst/>
          </a:prstGeom>
          <a:noFill/>
          <a:ln/>
        </p:spPr>
        <p:txBody>
          <a:bodyPr wrap="square" rtlCol="0" anchor="ctr"/>
          <a:lstStyle/>
          <a:p>
            <a:pPr indent="0" marL="0">
              <a:buNone/>
            </a:pPr>
            <a:r>
              <a:rPr lang="en-US" sz="2600" b="1" dirty="0">
                <a:solidFill>
                  <a:srgbClr val="1B365D"/>
                </a:solidFill>
                <a:latin typeface="Georgia" pitchFamily="34" charset="0"/>
                <a:ea typeface="Georgia" pitchFamily="34" charset="-122"/>
                <a:cs typeface="Georgia" pitchFamily="34" charset="-120"/>
              </a:rPr>
              <a:t>Concept Refinement &amp; Specification</a:t>
            </a:r>
            <a:endParaRPr lang="en-US" sz="2600" dirty="0"/>
          </a:p>
        </p:txBody>
      </p:sp>
      <p:sp>
        <p:nvSpPr>
          <p:cNvPr id="5" name="Shape 3"/>
          <p:cNvSpPr/>
          <p:nvPr/>
        </p:nvSpPr>
        <p:spPr>
          <a:xfrm>
            <a:off x="457200" y="868680"/>
            <a:ext cx="3931920" cy="1737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868680"/>
            <a:ext cx="54864" cy="1737360"/>
          </a:xfrm>
          <a:prstGeom prst="rect">
            <a:avLst/>
          </a:prstGeom>
          <a:solidFill>
            <a:srgbClr val="C4A35A"/>
          </a:solidFill>
          <a:ln/>
        </p:spPr>
      </p:sp>
      <p:sp>
        <p:nvSpPr>
          <p:cNvPr id="7" name="Text 5"/>
          <p:cNvSpPr/>
          <p:nvPr/>
        </p:nvSpPr>
        <p:spPr>
          <a:xfrm>
            <a:off x="685800" y="932688"/>
            <a:ext cx="3474720" cy="256032"/>
          </a:xfrm>
          <a:prstGeom prst="rect">
            <a:avLst/>
          </a:prstGeom>
          <a:noFill/>
          <a:ln/>
        </p:spPr>
        <p:txBody>
          <a:bodyPr wrap="square" rtlCol="0" anchor="ctr"/>
          <a:lstStyle/>
          <a:p>
            <a:pPr indent="0" marL="0">
              <a:buNone/>
            </a:pPr>
            <a:r>
              <a:rPr lang="en-US" sz="1200" b="1" dirty="0">
                <a:solidFill>
                  <a:srgbClr val="C4A35A"/>
                </a:solidFill>
                <a:latin typeface="Arial" pitchFamily="34" charset="0"/>
                <a:ea typeface="Arial" pitchFamily="34" charset="-122"/>
                <a:cs typeface="Arial" pitchFamily="34" charset="-120"/>
              </a:rPr>
              <a:t>SCAMPER METHOD</a:t>
            </a:r>
            <a:endParaRPr lang="en-US" sz="1200" dirty="0"/>
          </a:p>
        </p:txBody>
      </p:sp>
      <p:sp>
        <p:nvSpPr>
          <p:cNvPr id="8" name="Text 6"/>
          <p:cNvSpPr/>
          <p:nvPr/>
        </p:nvSpPr>
        <p:spPr>
          <a:xfrm>
            <a:off x="685800" y="1234440"/>
            <a:ext cx="3474720" cy="182880"/>
          </a:xfrm>
          <a:prstGeom prst="rect">
            <a:avLst/>
          </a:prstGeom>
          <a:noFill/>
          <a:ln/>
        </p:spPr>
        <p:txBody>
          <a:bodyPr wrap="square" rtlCol="0" anchor="ctr"/>
          <a:lstStyle/>
          <a:p>
            <a:pPr indent="0" marL="0">
              <a:buNone/>
            </a:pPr>
            <a:r>
              <a:rPr lang="en-US" sz="1050" dirty="0">
                <a:solidFill>
                  <a:srgbClr val="1B365D"/>
                </a:solidFill>
                <a:latin typeface="Arial" pitchFamily="34" charset="0"/>
                <a:ea typeface="Arial" pitchFamily="34" charset="-122"/>
                <a:cs typeface="Arial" pitchFamily="34" charset="-120"/>
              </a:rPr>
              <a:t>S - Substitute</a:t>
            </a:r>
            <a:endParaRPr lang="en-US" sz="1050" dirty="0"/>
          </a:p>
        </p:txBody>
      </p:sp>
      <p:sp>
        <p:nvSpPr>
          <p:cNvPr id="9" name="Text 7"/>
          <p:cNvSpPr/>
          <p:nvPr/>
        </p:nvSpPr>
        <p:spPr>
          <a:xfrm>
            <a:off x="685800" y="1417320"/>
            <a:ext cx="3474720" cy="182880"/>
          </a:xfrm>
          <a:prstGeom prst="rect">
            <a:avLst/>
          </a:prstGeom>
          <a:noFill/>
          <a:ln/>
        </p:spPr>
        <p:txBody>
          <a:bodyPr wrap="square" rtlCol="0" anchor="ctr"/>
          <a:lstStyle/>
          <a:p>
            <a:pPr indent="0" marL="0">
              <a:buNone/>
            </a:pPr>
            <a:r>
              <a:rPr lang="en-US" sz="1050" dirty="0">
                <a:solidFill>
                  <a:srgbClr val="1B365D"/>
                </a:solidFill>
                <a:latin typeface="Arial" pitchFamily="34" charset="0"/>
                <a:ea typeface="Arial" pitchFamily="34" charset="-122"/>
                <a:cs typeface="Arial" pitchFamily="34" charset="-120"/>
              </a:rPr>
              <a:t>C - Combine</a:t>
            </a:r>
            <a:endParaRPr lang="en-US" sz="1050" dirty="0"/>
          </a:p>
        </p:txBody>
      </p:sp>
      <p:sp>
        <p:nvSpPr>
          <p:cNvPr id="10" name="Text 8"/>
          <p:cNvSpPr/>
          <p:nvPr/>
        </p:nvSpPr>
        <p:spPr>
          <a:xfrm>
            <a:off x="685800" y="1600200"/>
            <a:ext cx="3474720" cy="182880"/>
          </a:xfrm>
          <a:prstGeom prst="rect">
            <a:avLst/>
          </a:prstGeom>
          <a:noFill/>
          <a:ln/>
        </p:spPr>
        <p:txBody>
          <a:bodyPr wrap="square" rtlCol="0" anchor="ctr"/>
          <a:lstStyle/>
          <a:p>
            <a:pPr indent="0" marL="0">
              <a:buNone/>
            </a:pPr>
            <a:r>
              <a:rPr lang="en-US" sz="1050" dirty="0">
                <a:solidFill>
                  <a:srgbClr val="1B365D"/>
                </a:solidFill>
                <a:latin typeface="Arial" pitchFamily="34" charset="0"/>
                <a:ea typeface="Arial" pitchFamily="34" charset="-122"/>
                <a:cs typeface="Arial" pitchFamily="34" charset="-120"/>
              </a:rPr>
              <a:t>A - Adapt</a:t>
            </a:r>
            <a:endParaRPr lang="en-US" sz="1050" dirty="0"/>
          </a:p>
        </p:txBody>
      </p:sp>
      <p:sp>
        <p:nvSpPr>
          <p:cNvPr id="11" name="Text 9"/>
          <p:cNvSpPr/>
          <p:nvPr/>
        </p:nvSpPr>
        <p:spPr>
          <a:xfrm>
            <a:off x="685800" y="1783080"/>
            <a:ext cx="3474720" cy="182880"/>
          </a:xfrm>
          <a:prstGeom prst="rect">
            <a:avLst/>
          </a:prstGeom>
          <a:noFill/>
          <a:ln/>
        </p:spPr>
        <p:txBody>
          <a:bodyPr wrap="square" rtlCol="0" anchor="ctr"/>
          <a:lstStyle/>
          <a:p>
            <a:pPr indent="0" marL="0">
              <a:buNone/>
            </a:pPr>
            <a:r>
              <a:rPr lang="en-US" sz="1050" dirty="0">
                <a:solidFill>
                  <a:srgbClr val="1B365D"/>
                </a:solidFill>
                <a:latin typeface="Arial" pitchFamily="34" charset="0"/>
                <a:ea typeface="Arial" pitchFamily="34" charset="-122"/>
                <a:cs typeface="Arial" pitchFamily="34" charset="-120"/>
              </a:rPr>
              <a:t>M - Modify / Magnify</a:t>
            </a:r>
            <a:endParaRPr lang="en-US" sz="1050" dirty="0"/>
          </a:p>
        </p:txBody>
      </p:sp>
      <p:sp>
        <p:nvSpPr>
          <p:cNvPr id="12" name="Text 10"/>
          <p:cNvSpPr/>
          <p:nvPr/>
        </p:nvSpPr>
        <p:spPr>
          <a:xfrm>
            <a:off x="685800" y="1965960"/>
            <a:ext cx="3474720" cy="182880"/>
          </a:xfrm>
          <a:prstGeom prst="rect">
            <a:avLst/>
          </a:prstGeom>
          <a:noFill/>
          <a:ln/>
        </p:spPr>
        <p:txBody>
          <a:bodyPr wrap="square" rtlCol="0" anchor="ctr"/>
          <a:lstStyle/>
          <a:p>
            <a:pPr indent="0" marL="0">
              <a:buNone/>
            </a:pPr>
            <a:r>
              <a:rPr lang="en-US" sz="1050" dirty="0">
                <a:solidFill>
                  <a:srgbClr val="1B365D"/>
                </a:solidFill>
                <a:latin typeface="Arial" pitchFamily="34" charset="0"/>
                <a:ea typeface="Arial" pitchFamily="34" charset="-122"/>
                <a:cs typeface="Arial" pitchFamily="34" charset="-120"/>
              </a:rPr>
              <a:t>P - Put to other uses</a:t>
            </a:r>
            <a:endParaRPr lang="en-US" sz="1050" dirty="0"/>
          </a:p>
        </p:txBody>
      </p:sp>
      <p:sp>
        <p:nvSpPr>
          <p:cNvPr id="13" name="Text 11"/>
          <p:cNvSpPr/>
          <p:nvPr/>
        </p:nvSpPr>
        <p:spPr>
          <a:xfrm>
            <a:off x="685800" y="2148840"/>
            <a:ext cx="3474720" cy="182880"/>
          </a:xfrm>
          <a:prstGeom prst="rect">
            <a:avLst/>
          </a:prstGeom>
          <a:noFill/>
          <a:ln/>
        </p:spPr>
        <p:txBody>
          <a:bodyPr wrap="square" rtlCol="0" anchor="ctr"/>
          <a:lstStyle/>
          <a:p>
            <a:pPr indent="0" marL="0">
              <a:buNone/>
            </a:pPr>
            <a:r>
              <a:rPr lang="en-US" sz="1050" dirty="0">
                <a:solidFill>
                  <a:srgbClr val="1B365D"/>
                </a:solidFill>
                <a:latin typeface="Arial" pitchFamily="34" charset="0"/>
                <a:ea typeface="Arial" pitchFamily="34" charset="-122"/>
                <a:cs typeface="Arial" pitchFamily="34" charset="-120"/>
              </a:rPr>
              <a:t>E - Eliminate</a:t>
            </a:r>
            <a:endParaRPr lang="en-US" sz="1050" dirty="0"/>
          </a:p>
        </p:txBody>
      </p:sp>
      <p:sp>
        <p:nvSpPr>
          <p:cNvPr id="14" name="Text 12"/>
          <p:cNvSpPr/>
          <p:nvPr/>
        </p:nvSpPr>
        <p:spPr>
          <a:xfrm>
            <a:off x="685800" y="2331720"/>
            <a:ext cx="3474720" cy="182880"/>
          </a:xfrm>
          <a:prstGeom prst="rect">
            <a:avLst/>
          </a:prstGeom>
          <a:noFill/>
          <a:ln/>
        </p:spPr>
        <p:txBody>
          <a:bodyPr wrap="square" rtlCol="0" anchor="ctr"/>
          <a:lstStyle/>
          <a:p>
            <a:pPr indent="0" marL="0">
              <a:buNone/>
            </a:pPr>
            <a:r>
              <a:rPr lang="en-US" sz="1050" dirty="0">
                <a:solidFill>
                  <a:srgbClr val="1B365D"/>
                </a:solidFill>
                <a:latin typeface="Arial" pitchFamily="34" charset="0"/>
                <a:ea typeface="Arial" pitchFamily="34" charset="-122"/>
                <a:cs typeface="Arial" pitchFamily="34" charset="-120"/>
              </a:rPr>
              <a:t>R - Reverse / Rearrange</a:t>
            </a:r>
            <a:endParaRPr lang="en-US" sz="1050" dirty="0"/>
          </a:p>
        </p:txBody>
      </p:sp>
      <p:sp>
        <p:nvSpPr>
          <p:cNvPr id="15" name="Shape 13"/>
          <p:cNvSpPr/>
          <p:nvPr/>
        </p:nvSpPr>
        <p:spPr>
          <a:xfrm>
            <a:off x="4754880" y="868680"/>
            <a:ext cx="3931920" cy="1737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6" name="Shape 14"/>
          <p:cNvSpPr/>
          <p:nvPr/>
        </p:nvSpPr>
        <p:spPr>
          <a:xfrm>
            <a:off x="4754880" y="868680"/>
            <a:ext cx="54864" cy="1737360"/>
          </a:xfrm>
          <a:prstGeom prst="rect">
            <a:avLst/>
          </a:prstGeom>
          <a:solidFill>
            <a:srgbClr val="C4A35A"/>
          </a:solidFill>
          <a:ln/>
        </p:spPr>
      </p:sp>
      <p:sp>
        <p:nvSpPr>
          <p:cNvPr id="17" name="Text 15"/>
          <p:cNvSpPr/>
          <p:nvPr/>
        </p:nvSpPr>
        <p:spPr>
          <a:xfrm>
            <a:off x="4983480" y="932688"/>
            <a:ext cx="3474720" cy="256032"/>
          </a:xfrm>
          <a:prstGeom prst="rect">
            <a:avLst/>
          </a:prstGeom>
          <a:noFill/>
          <a:ln/>
        </p:spPr>
        <p:txBody>
          <a:bodyPr wrap="square" rtlCol="0" anchor="ctr"/>
          <a:lstStyle/>
          <a:p>
            <a:pPr indent="0" marL="0">
              <a:buNone/>
            </a:pPr>
            <a:r>
              <a:rPr lang="en-US" sz="1200" b="1" dirty="0">
                <a:solidFill>
                  <a:srgbClr val="C4A35A"/>
                </a:solidFill>
                <a:latin typeface="Arial" pitchFamily="34" charset="0"/>
                <a:ea typeface="Arial" pitchFamily="34" charset="-122"/>
                <a:cs typeface="Arial" pitchFamily="34" charset="-120"/>
              </a:rPr>
              <a:t>MORPHOLOGICAL CHART</a:t>
            </a:r>
            <a:endParaRPr lang="en-US" sz="1200" dirty="0"/>
          </a:p>
        </p:txBody>
      </p:sp>
      <p:sp>
        <p:nvSpPr>
          <p:cNvPr id="18" name="Text 16"/>
          <p:cNvSpPr/>
          <p:nvPr/>
        </p:nvSpPr>
        <p:spPr>
          <a:xfrm>
            <a:off x="4983480" y="1234440"/>
            <a:ext cx="3474720" cy="1280160"/>
          </a:xfrm>
          <a:prstGeom prst="rect">
            <a:avLst/>
          </a:prstGeom>
          <a:noFill/>
          <a:ln/>
        </p:spPr>
        <p:txBody>
          <a:bodyPr wrap="square" rtlCol="0" anchor="ctr"/>
          <a:lstStyle/>
          <a:p>
            <a:pPr marL="342900" indent="-342900">
              <a:spcAft>
                <a:spcPts val="300"/>
              </a:spcAft>
              <a:buSzPct val="100000"/>
              <a:buChar char="•"/>
            </a:pPr>
            <a:r>
              <a:rPr lang="en-US" sz="1050" dirty="0">
                <a:solidFill>
                  <a:srgbClr val="1B365D"/>
                </a:solidFill>
                <a:latin typeface="Arial" pitchFamily="34" charset="0"/>
                <a:ea typeface="Arial" pitchFamily="34" charset="-122"/>
                <a:cs typeface="Arial" pitchFamily="34" charset="-120"/>
              </a:rPr>
              <a:t>Break concept into components</a:t>
            </a:r>
            <a:endParaRPr lang="en-US" sz="1050" dirty="0"/>
          </a:p>
          <a:p>
            <a:pPr marL="342900" indent="-342900">
              <a:spcAft>
                <a:spcPts val="300"/>
              </a:spcAft>
              <a:buSzPct val="100000"/>
              <a:buChar char="•"/>
            </a:pPr>
            <a:r>
              <a:rPr lang="en-US" sz="1050" dirty="0">
                <a:solidFill>
                  <a:srgbClr val="1B365D"/>
                </a:solidFill>
                <a:latin typeface="Arial" pitchFamily="34" charset="0"/>
                <a:ea typeface="Arial" pitchFamily="34" charset="-122"/>
                <a:cs typeface="Arial" pitchFamily="34" charset="-120"/>
              </a:rPr>
              <a:t>List alternatives for each component</a:t>
            </a:r>
            <a:endParaRPr lang="en-US" sz="1050" dirty="0"/>
          </a:p>
          <a:p>
            <a:pPr marL="342900" indent="-342900">
              <a:spcAft>
                <a:spcPts val="300"/>
              </a:spcAft>
              <a:buSzPct val="100000"/>
              <a:buChar char="•"/>
            </a:pPr>
            <a:r>
              <a:rPr lang="en-US" sz="1050" dirty="0">
                <a:solidFill>
                  <a:srgbClr val="1B365D"/>
                </a:solidFill>
                <a:latin typeface="Arial" pitchFamily="34" charset="0"/>
                <a:ea typeface="Arial" pitchFamily="34" charset="-122"/>
                <a:cs typeface="Arial" pitchFamily="34" charset="-120"/>
              </a:rPr>
              <a:t>Research similar solutions</a:t>
            </a:r>
            <a:endParaRPr lang="en-US" sz="1050" dirty="0"/>
          </a:p>
          <a:p>
            <a:pPr marL="342900" indent="-342900">
              <a:spcAft>
                <a:spcPts val="300"/>
              </a:spcAft>
              <a:buSzPct val="100000"/>
              <a:buChar char="•"/>
            </a:pPr>
            <a:r>
              <a:rPr lang="en-US" sz="1050" dirty="0">
                <a:solidFill>
                  <a:srgbClr val="1B365D"/>
                </a:solidFill>
                <a:latin typeface="Arial" pitchFamily="34" charset="0"/>
                <a:ea typeface="Arial" pitchFamily="34" charset="-122"/>
                <a:cs typeface="Arial" pitchFamily="34" charset="-120"/>
              </a:rPr>
              <a:t>Select best combination</a:t>
            </a:r>
            <a:endParaRPr lang="en-US" sz="1050" dirty="0"/>
          </a:p>
          <a:p>
            <a:pPr marL="342900" indent="-342900">
              <a:buSzPct val="100000"/>
              <a:buChar char="•"/>
            </a:pPr>
            <a:r>
              <a:rPr lang="en-US" sz="1050" dirty="0">
                <a:solidFill>
                  <a:srgbClr val="1B365D"/>
                </a:solidFill>
                <a:latin typeface="Arial" pitchFamily="34" charset="0"/>
                <a:ea typeface="Arial" pitchFamily="34" charset="-122"/>
                <a:cs typeface="Arial" pitchFamily="34" charset="-120"/>
              </a:rPr>
              <a:t>Design architecture</a:t>
            </a:r>
            <a:endParaRPr lang="en-US" sz="1050" dirty="0"/>
          </a:p>
        </p:txBody>
      </p:sp>
      <p:sp>
        <p:nvSpPr>
          <p:cNvPr id="19" name="Shape 17"/>
          <p:cNvSpPr/>
          <p:nvPr/>
        </p:nvSpPr>
        <p:spPr>
          <a:xfrm>
            <a:off x="457200" y="2834640"/>
            <a:ext cx="8229600" cy="1828800"/>
          </a:xfrm>
          <a:prstGeom prst="rect">
            <a:avLst/>
          </a:prstGeom>
          <a:solidFill>
            <a:srgbClr val="1B365D"/>
          </a:solidFill>
          <a:ln/>
        </p:spPr>
      </p:sp>
      <p:sp>
        <p:nvSpPr>
          <p:cNvPr id="20" name="Text 18"/>
          <p:cNvSpPr/>
          <p:nvPr/>
        </p:nvSpPr>
        <p:spPr>
          <a:xfrm>
            <a:off x="640080" y="2907792"/>
            <a:ext cx="7772400" cy="274320"/>
          </a:xfrm>
          <a:prstGeom prst="rect">
            <a:avLst/>
          </a:prstGeom>
          <a:noFill/>
          <a:ln/>
        </p:spPr>
        <p:txBody>
          <a:bodyPr wrap="square" rtlCol="0" anchor="ctr"/>
          <a:lstStyle/>
          <a:p>
            <a:pPr indent="0" marL="0">
              <a:buNone/>
            </a:pPr>
            <a:r>
              <a:rPr lang="en-US" sz="1300" b="1" dirty="0">
                <a:solidFill>
                  <a:srgbClr val="C4A35A"/>
                </a:solidFill>
                <a:latin typeface="Arial" pitchFamily="34" charset="0"/>
                <a:ea typeface="Arial" pitchFamily="34" charset="-122"/>
                <a:cs typeface="Arial" pitchFamily="34" charset="-120"/>
              </a:rPr>
              <a:t>KANO MODEL — ALL FIVE CATEGORIES</a:t>
            </a:r>
            <a:endParaRPr lang="en-US" sz="1300" dirty="0"/>
          </a:p>
        </p:txBody>
      </p:sp>
      <p:sp>
        <p:nvSpPr>
          <p:cNvPr id="21" name="Shape 19"/>
          <p:cNvSpPr/>
          <p:nvPr/>
        </p:nvSpPr>
        <p:spPr>
          <a:xfrm>
            <a:off x="640080" y="3291840"/>
            <a:ext cx="1444752" cy="36576"/>
          </a:xfrm>
          <a:prstGeom prst="rect">
            <a:avLst/>
          </a:prstGeom>
          <a:solidFill>
            <a:srgbClr val="CC5555"/>
          </a:solidFill>
          <a:ln/>
        </p:spPr>
      </p:sp>
      <p:sp>
        <p:nvSpPr>
          <p:cNvPr id="22" name="Text 20"/>
          <p:cNvSpPr/>
          <p:nvPr/>
        </p:nvSpPr>
        <p:spPr>
          <a:xfrm>
            <a:off x="640080" y="3383280"/>
            <a:ext cx="1444752" cy="228600"/>
          </a:xfrm>
          <a:prstGeom prst="rect">
            <a:avLst/>
          </a:prstGeom>
          <a:noFill/>
          <a:ln/>
        </p:spPr>
        <p:txBody>
          <a:bodyPr wrap="square" rtlCol="0" anchor="ctr"/>
          <a:lstStyle/>
          <a:p>
            <a:pPr indent="0" marL="0">
              <a:buNone/>
            </a:pPr>
            <a:r>
              <a:rPr lang="en-US" sz="1000" b="1" dirty="0">
                <a:solidFill>
                  <a:srgbClr val="CC5555"/>
                </a:solidFill>
                <a:latin typeface="Arial" pitchFamily="34" charset="0"/>
                <a:ea typeface="Arial" pitchFamily="34" charset="-122"/>
                <a:cs typeface="Arial" pitchFamily="34" charset="-120"/>
              </a:rPr>
              <a:t>MUST-BE</a:t>
            </a:r>
            <a:endParaRPr lang="en-US" sz="1000" dirty="0"/>
          </a:p>
        </p:txBody>
      </p:sp>
      <p:sp>
        <p:nvSpPr>
          <p:cNvPr id="23" name="Text 21"/>
          <p:cNvSpPr/>
          <p:nvPr/>
        </p:nvSpPr>
        <p:spPr>
          <a:xfrm>
            <a:off x="640080" y="3639312"/>
            <a:ext cx="1444752" cy="64008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Basic expectations.</a:t>
            </a:r>
            <a:endParaRPr lang="en-US" sz="900" dirty="0"/>
          </a:p>
          <a:p>
            <a:pPr indent="0" marL="0">
              <a:buNone/>
            </a:pPr>
            <a:r>
              <a:rPr lang="en-US" sz="900" dirty="0">
                <a:solidFill>
                  <a:srgbClr val="FFFFFF"/>
                </a:solidFill>
                <a:latin typeface="Arial" pitchFamily="34" charset="0"/>
                <a:ea typeface="Arial" pitchFamily="34" charset="-122"/>
                <a:cs typeface="Arial" pitchFamily="34" charset="-120"/>
              </a:rPr>
              <a:t>Absence = dissatisfaction.</a:t>
            </a:r>
            <a:endParaRPr lang="en-US" sz="900" dirty="0"/>
          </a:p>
        </p:txBody>
      </p:sp>
      <p:sp>
        <p:nvSpPr>
          <p:cNvPr id="24" name="Shape 22"/>
          <p:cNvSpPr/>
          <p:nvPr/>
        </p:nvSpPr>
        <p:spPr>
          <a:xfrm>
            <a:off x="2267712" y="3291840"/>
            <a:ext cx="1444752" cy="36576"/>
          </a:xfrm>
          <a:prstGeom prst="rect">
            <a:avLst/>
          </a:prstGeom>
          <a:solidFill>
            <a:srgbClr val="C4A35A"/>
          </a:solidFill>
          <a:ln/>
        </p:spPr>
      </p:sp>
      <p:sp>
        <p:nvSpPr>
          <p:cNvPr id="25" name="Text 23"/>
          <p:cNvSpPr/>
          <p:nvPr/>
        </p:nvSpPr>
        <p:spPr>
          <a:xfrm>
            <a:off x="2267712" y="3383280"/>
            <a:ext cx="1444752" cy="228600"/>
          </a:xfrm>
          <a:prstGeom prst="rect">
            <a:avLst/>
          </a:prstGeom>
          <a:noFill/>
          <a:ln/>
        </p:spPr>
        <p:txBody>
          <a:bodyPr wrap="square" rtlCol="0" anchor="ctr"/>
          <a:lstStyle/>
          <a:p>
            <a:pPr indent="0" marL="0">
              <a:buNone/>
            </a:pPr>
            <a:r>
              <a:rPr lang="en-US" sz="1000" b="1" dirty="0">
                <a:solidFill>
                  <a:srgbClr val="C4A35A"/>
                </a:solidFill>
                <a:latin typeface="Arial" pitchFamily="34" charset="0"/>
                <a:ea typeface="Arial" pitchFamily="34" charset="-122"/>
                <a:cs typeface="Arial" pitchFamily="34" charset="-120"/>
              </a:rPr>
              <a:t>PERFORMANCE</a:t>
            </a:r>
            <a:endParaRPr lang="en-US" sz="1000" dirty="0"/>
          </a:p>
        </p:txBody>
      </p:sp>
      <p:sp>
        <p:nvSpPr>
          <p:cNvPr id="26" name="Text 24"/>
          <p:cNvSpPr/>
          <p:nvPr/>
        </p:nvSpPr>
        <p:spPr>
          <a:xfrm>
            <a:off x="2267712" y="3639312"/>
            <a:ext cx="1444752" cy="64008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Linear satisfaction.</a:t>
            </a:r>
            <a:endParaRPr lang="en-US" sz="900" dirty="0"/>
          </a:p>
          <a:p>
            <a:pPr indent="0" marL="0">
              <a:buNone/>
            </a:pPr>
            <a:r>
              <a:rPr lang="en-US" sz="900" dirty="0">
                <a:solidFill>
                  <a:srgbClr val="FFFFFF"/>
                </a:solidFill>
                <a:latin typeface="Arial" pitchFamily="34" charset="0"/>
                <a:ea typeface="Arial" pitchFamily="34" charset="-122"/>
                <a:cs typeface="Arial" pitchFamily="34" charset="-120"/>
              </a:rPr>
              <a:t>Better = happier.</a:t>
            </a:r>
            <a:endParaRPr lang="en-US" sz="900" dirty="0"/>
          </a:p>
        </p:txBody>
      </p:sp>
      <p:sp>
        <p:nvSpPr>
          <p:cNvPr id="27" name="Shape 25"/>
          <p:cNvSpPr/>
          <p:nvPr/>
        </p:nvSpPr>
        <p:spPr>
          <a:xfrm>
            <a:off x="3895344" y="3291840"/>
            <a:ext cx="1444752" cy="36576"/>
          </a:xfrm>
          <a:prstGeom prst="rect">
            <a:avLst/>
          </a:prstGeom>
          <a:solidFill>
            <a:srgbClr val="2E8B57"/>
          </a:solidFill>
          <a:ln/>
        </p:spPr>
      </p:sp>
      <p:sp>
        <p:nvSpPr>
          <p:cNvPr id="28" name="Text 26"/>
          <p:cNvSpPr/>
          <p:nvPr/>
        </p:nvSpPr>
        <p:spPr>
          <a:xfrm>
            <a:off x="3895344" y="3383280"/>
            <a:ext cx="1444752" cy="228600"/>
          </a:xfrm>
          <a:prstGeom prst="rect">
            <a:avLst/>
          </a:prstGeom>
          <a:noFill/>
          <a:ln/>
        </p:spPr>
        <p:txBody>
          <a:bodyPr wrap="square" rtlCol="0" anchor="ctr"/>
          <a:lstStyle/>
          <a:p>
            <a:pPr indent="0" marL="0">
              <a:buNone/>
            </a:pPr>
            <a:r>
              <a:rPr lang="en-US" sz="1000" b="1" dirty="0">
                <a:solidFill>
                  <a:srgbClr val="2E8B57"/>
                </a:solidFill>
                <a:latin typeface="Arial" pitchFamily="34" charset="0"/>
                <a:ea typeface="Arial" pitchFamily="34" charset="-122"/>
                <a:cs typeface="Arial" pitchFamily="34" charset="-120"/>
              </a:rPr>
              <a:t>EXCITEMENT</a:t>
            </a:r>
            <a:endParaRPr lang="en-US" sz="1000" dirty="0"/>
          </a:p>
        </p:txBody>
      </p:sp>
      <p:sp>
        <p:nvSpPr>
          <p:cNvPr id="29" name="Text 27"/>
          <p:cNvSpPr/>
          <p:nvPr/>
        </p:nvSpPr>
        <p:spPr>
          <a:xfrm>
            <a:off x="3895344" y="3639312"/>
            <a:ext cx="1444752" cy="64008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Unexpected delighters.</a:t>
            </a:r>
            <a:endParaRPr lang="en-US" sz="900" dirty="0"/>
          </a:p>
          <a:p>
            <a:pPr indent="0" marL="0">
              <a:buNone/>
            </a:pPr>
            <a:r>
              <a:rPr lang="en-US" sz="900" dirty="0">
                <a:solidFill>
                  <a:srgbClr val="FFFFFF"/>
                </a:solidFill>
                <a:latin typeface="Arial" pitchFamily="34" charset="0"/>
                <a:ea typeface="Arial" pitchFamily="34" charset="-122"/>
                <a:cs typeface="Arial" pitchFamily="34" charset="-120"/>
              </a:rPr>
              <a:t>Create loyalty.</a:t>
            </a:r>
            <a:endParaRPr lang="en-US" sz="900" dirty="0"/>
          </a:p>
        </p:txBody>
      </p:sp>
      <p:sp>
        <p:nvSpPr>
          <p:cNvPr id="30" name="Shape 28"/>
          <p:cNvSpPr/>
          <p:nvPr/>
        </p:nvSpPr>
        <p:spPr>
          <a:xfrm>
            <a:off x="5522976" y="3291840"/>
            <a:ext cx="1444752" cy="36576"/>
          </a:xfrm>
          <a:prstGeom prst="rect">
            <a:avLst/>
          </a:prstGeom>
          <a:solidFill>
            <a:srgbClr val="5A5A5A"/>
          </a:solidFill>
          <a:ln/>
        </p:spPr>
      </p:sp>
      <p:sp>
        <p:nvSpPr>
          <p:cNvPr id="31" name="Text 29"/>
          <p:cNvSpPr/>
          <p:nvPr/>
        </p:nvSpPr>
        <p:spPr>
          <a:xfrm>
            <a:off x="5522976" y="3383280"/>
            <a:ext cx="1444752" cy="228600"/>
          </a:xfrm>
          <a:prstGeom prst="rect">
            <a:avLst/>
          </a:prstGeom>
          <a:noFill/>
          <a:ln/>
        </p:spPr>
        <p:txBody>
          <a:bodyPr wrap="square" rtlCol="0" anchor="ctr"/>
          <a:lstStyle/>
          <a:p>
            <a:pPr indent="0" marL="0">
              <a:buNone/>
            </a:pPr>
            <a:r>
              <a:rPr lang="en-US" sz="1000" b="1" dirty="0">
                <a:solidFill>
                  <a:srgbClr val="5A5A5A"/>
                </a:solidFill>
                <a:latin typeface="Arial" pitchFamily="34" charset="0"/>
                <a:ea typeface="Arial" pitchFamily="34" charset="-122"/>
                <a:cs typeface="Arial" pitchFamily="34" charset="-120"/>
              </a:rPr>
              <a:t>INDIFFERENT</a:t>
            </a:r>
            <a:endParaRPr lang="en-US" sz="1000" dirty="0"/>
          </a:p>
        </p:txBody>
      </p:sp>
      <p:sp>
        <p:nvSpPr>
          <p:cNvPr id="32" name="Text 30"/>
          <p:cNvSpPr/>
          <p:nvPr/>
        </p:nvSpPr>
        <p:spPr>
          <a:xfrm>
            <a:off x="5522976" y="3639312"/>
            <a:ext cx="1444752" cy="64008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Users don't care.</a:t>
            </a:r>
            <a:endParaRPr lang="en-US" sz="900" dirty="0"/>
          </a:p>
          <a:p>
            <a:pPr indent="0" marL="0">
              <a:buNone/>
            </a:pPr>
            <a:r>
              <a:rPr lang="en-US" sz="900" dirty="0">
                <a:solidFill>
                  <a:srgbClr val="FFFFFF"/>
                </a:solidFill>
                <a:latin typeface="Arial" pitchFamily="34" charset="0"/>
                <a:ea typeface="Arial" pitchFamily="34" charset="-122"/>
                <a:cs typeface="Arial" pitchFamily="34" charset="-120"/>
              </a:rPr>
              <a:t>Save resources.</a:t>
            </a:r>
            <a:endParaRPr lang="en-US" sz="900" dirty="0"/>
          </a:p>
        </p:txBody>
      </p:sp>
      <p:sp>
        <p:nvSpPr>
          <p:cNvPr id="33" name="Shape 31"/>
          <p:cNvSpPr/>
          <p:nvPr/>
        </p:nvSpPr>
        <p:spPr>
          <a:xfrm>
            <a:off x="7150608" y="3291840"/>
            <a:ext cx="1444752" cy="36576"/>
          </a:xfrm>
          <a:prstGeom prst="rect">
            <a:avLst/>
          </a:prstGeom>
          <a:solidFill>
            <a:srgbClr val="884444"/>
          </a:solidFill>
          <a:ln/>
        </p:spPr>
      </p:sp>
      <p:sp>
        <p:nvSpPr>
          <p:cNvPr id="34" name="Text 32"/>
          <p:cNvSpPr/>
          <p:nvPr/>
        </p:nvSpPr>
        <p:spPr>
          <a:xfrm>
            <a:off x="7150608" y="3383280"/>
            <a:ext cx="1444752" cy="228600"/>
          </a:xfrm>
          <a:prstGeom prst="rect">
            <a:avLst/>
          </a:prstGeom>
          <a:noFill/>
          <a:ln/>
        </p:spPr>
        <p:txBody>
          <a:bodyPr wrap="square" rtlCol="0" anchor="ctr"/>
          <a:lstStyle/>
          <a:p>
            <a:pPr indent="0" marL="0">
              <a:buNone/>
            </a:pPr>
            <a:r>
              <a:rPr lang="en-US" sz="1000" b="1" dirty="0">
                <a:solidFill>
                  <a:srgbClr val="884444"/>
                </a:solidFill>
                <a:latin typeface="Arial" pitchFamily="34" charset="0"/>
                <a:ea typeface="Arial" pitchFamily="34" charset="-122"/>
                <a:cs typeface="Arial" pitchFamily="34" charset="-120"/>
              </a:rPr>
              <a:t>REVERSE</a:t>
            </a:r>
            <a:endParaRPr lang="en-US" sz="1000" dirty="0"/>
          </a:p>
        </p:txBody>
      </p:sp>
      <p:sp>
        <p:nvSpPr>
          <p:cNvPr id="35" name="Text 33"/>
          <p:cNvSpPr/>
          <p:nvPr/>
        </p:nvSpPr>
        <p:spPr>
          <a:xfrm>
            <a:off x="7150608" y="3639312"/>
            <a:ext cx="1444752" cy="64008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Users dislike.</a:t>
            </a:r>
            <a:endParaRPr lang="en-US" sz="900" dirty="0"/>
          </a:p>
          <a:p>
            <a:pPr indent="0" marL="0">
              <a:buNone/>
            </a:pPr>
            <a:r>
              <a:rPr lang="en-US" sz="900" dirty="0">
                <a:solidFill>
                  <a:srgbClr val="FFFFFF"/>
                </a:solidFill>
                <a:latin typeface="Arial" pitchFamily="34" charset="0"/>
                <a:ea typeface="Arial" pitchFamily="34" charset="-122"/>
                <a:cs typeface="Arial" pitchFamily="34" charset="-120"/>
              </a:rPr>
              <a:t>Know what to avoid.</a:t>
            </a:r>
            <a:endParaRPr lang="en-US" sz="900" dirty="0"/>
          </a:p>
        </p:txBody>
      </p:sp>
      <p:sp>
        <p:nvSpPr>
          <p:cNvPr id="36" name="Text 34"/>
          <p:cNvSpPr/>
          <p:nvPr/>
        </p:nvSpPr>
        <p:spPr>
          <a:xfrm>
            <a:off x="640080" y="4343400"/>
            <a:ext cx="7772400" cy="228600"/>
          </a:xfrm>
          <a:prstGeom prst="rect">
            <a:avLst/>
          </a:prstGeom>
          <a:noFill/>
          <a:ln/>
        </p:spPr>
        <p:txBody>
          <a:bodyPr wrap="square" rtlCol="0" anchor="ctr"/>
          <a:lstStyle/>
          <a:p>
            <a:pPr indent="0" marL="0">
              <a:buNone/>
            </a:pPr>
            <a:r>
              <a:rPr lang="en-US" sz="1100" i="1" dirty="0">
                <a:solidFill>
                  <a:srgbClr val="C4A35A"/>
                </a:solidFill>
                <a:latin typeface="Arial" pitchFamily="34" charset="0"/>
                <a:ea typeface="Arial" pitchFamily="34" charset="-122"/>
                <a:cs typeface="Arial" pitchFamily="34" charset="-120"/>
              </a:rPr>
              <a:t>The skill interviews your team, proposes classifications, and lets you adjust</a:t>
            </a:r>
            <a:endParaRPr lang="en-US" sz="1100" dirty="0"/>
          </a:p>
        </p:txBody>
      </p:sp>
      <p:sp>
        <p:nvSpPr>
          <p:cNvPr id="37" name="Text 35"/>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A35A"/>
          </a:solidFill>
          <a:ln/>
        </p:spPr>
      </p:sp>
      <p:sp>
        <p:nvSpPr>
          <p:cNvPr id="3" name="Shape 1"/>
          <p:cNvSpPr/>
          <p:nvPr/>
        </p:nvSpPr>
        <p:spPr>
          <a:xfrm>
            <a:off x="6583680" y="-1097280"/>
            <a:ext cx="4114800" cy="4114800"/>
          </a:xfrm>
          <a:prstGeom prst="ellipse">
            <a:avLst/>
          </a:prstGeom>
          <a:solidFill>
            <a:srgbClr val="1B365D">
              <a:alpha val="0"/>
            </a:srgbClr>
          </a:solidFill>
          <a:ln w="9525">
            <a:solidFill>
              <a:srgbClr val="C4A35A"/>
            </a:solidFill>
            <a:prstDash val="solid"/>
          </a:ln>
        </p:spPr>
      </p:sp>
      <p:sp>
        <p:nvSpPr>
          <p:cNvPr id="4" name="Shape 2"/>
          <p:cNvSpPr/>
          <p:nvPr/>
        </p:nvSpPr>
        <p:spPr>
          <a:xfrm>
            <a:off x="7498080" y="0"/>
            <a:ext cx="2286000" cy="2286000"/>
          </a:xfrm>
          <a:prstGeom prst="ellipse">
            <a:avLst/>
          </a:prstGeom>
          <a:solidFill>
            <a:srgbClr val="1B365D">
              <a:alpha val="0"/>
            </a:srgbClr>
          </a:solidFill>
          <a:ln w="6350">
            <a:solidFill>
              <a:srgbClr val="C4A35A"/>
            </a:solidFill>
            <a:prstDash val="solid"/>
          </a:ln>
        </p:spPr>
      </p:sp>
      <p:sp>
        <p:nvSpPr>
          <p:cNvPr id="5" name="Shape 3"/>
          <p:cNvSpPr/>
          <p:nvPr/>
        </p:nvSpPr>
        <p:spPr>
          <a:xfrm>
            <a:off x="457200" y="1280160"/>
            <a:ext cx="1463040" cy="411480"/>
          </a:xfrm>
          <a:prstGeom prst="rect">
            <a:avLst/>
          </a:prstGeom>
          <a:solidFill>
            <a:srgbClr val="C4A35A"/>
          </a:solidFill>
          <a:ln/>
        </p:spPr>
      </p:sp>
      <p:sp>
        <p:nvSpPr>
          <p:cNvPr id="6" name="Text 4"/>
          <p:cNvSpPr/>
          <p:nvPr/>
        </p:nvSpPr>
        <p:spPr>
          <a:xfrm>
            <a:off x="457200" y="128016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7</a:t>
            </a:r>
            <a:endParaRPr lang="en-US" sz="1300" dirty="0"/>
          </a:p>
        </p:txBody>
      </p:sp>
      <p:sp>
        <p:nvSpPr>
          <p:cNvPr id="7" name="Text 5"/>
          <p:cNvSpPr/>
          <p:nvPr/>
        </p:nvSpPr>
        <p:spPr>
          <a:xfrm>
            <a:off x="457200" y="1920240"/>
            <a:ext cx="7315200" cy="1097280"/>
          </a:xfrm>
          <a:prstGeom prst="rect">
            <a:avLst/>
          </a:prstGeom>
          <a:noFill/>
          <a:ln/>
        </p:spPr>
        <p:txBody>
          <a:bodyPr wrap="square" rtlCol="0" anchor="t"/>
          <a:lstStyle/>
          <a:p>
            <a:pPr algn="l" indent="0" marL="0">
              <a:buNone/>
            </a:pPr>
            <a:r>
              <a:rPr lang="en-US" sz="3800" b="1" dirty="0">
                <a:solidFill>
                  <a:srgbClr val="FFFFFF"/>
                </a:solidFill>
                <a:latin typeface="Georgia" pitchFamily="34" charset="0"/>
                <a:ea typeface="Georgia" pitchFamily="34" charset="-122"/>
                <a:cs typeface="Georgia" pitchFamily="34" charset="-120"/>
              </a:rPr>
              <a:t>PRD &amp; Final</a:t>
            </a:r>
            <a:endParaRPr lang="en-US" sz="3800" dirty="0"/>
          </a:p>
          <a:p>
            <a:pPr algn="l" indent="0" marL="0">
              <a:buNone/>
            </a:pPr>
            <a:r>
              <a:rPr lang="en-US" sz="3800" b="1" dirty="0">
                <a:solidFill>
                  <a:srgbClr val="FFFFFF"/>
                </a:solidFill>
                <a:latin typeface="Georgia" pitchFamily="34" charset="0"/>
                <a:ea typeface="Georgia" pitchFamily="34" charset="-122"/>
                <a:cs typeface="Georgia" pitchFamily="34" charset="-120"/>
              </a:rPr>
              <a:t>Presentation</a:t>
            </a:r>
            <a:endParaRPr lang="en-US" sz="3800" dirty="0"/>
          </a:p>
        </p:txBody>
      </p:sp>
      <p:sp>
        <p:nvSpPr>
          <p:cNvPr id="8" name="Text 6"/>
          <p:cNvSpPr/>
          <p:nvPr/>
        </p:nvSpPr>
        <p:spPr>
          <a:xfrm>
            <a:off x="457200" y="3108960"/>
            <a:ext cx="6400800" cy="731520"/>
          </a:xfrm>
          <a:prstGeom prst="rect">
            <a:avLst/>
          </a:prstGeom>
          <a:noFill/>
          <a:ln/>
        </p:spPr>
        <p:txBody>
          <a:bodyPr wrap="square" rtlCol="0" anchor="ctr"/>
          <a:lstStyle/>
          <a:p>
            <a:pPr algn="l" indent="0" marL="0">
              <a:buNone/>
            </a:pPr>
            <a:r>
              <a:rPr lang="en-US" sz="1700" i="1" dirty="0">
                <a:solidFill>
                  <a:srgbClr val="C4A35A"/>
                </a:solidFill>
                <a:latin typeface="Georgia" pitchFamily="34" charset="0"/>
                <a:ea typeface="Georgia" pitchFamily="34" charset="-122"/>
                <a:cs typeface="Georgia" pitchFamily="34" charset="-120"/>
              </a:rPr>
              <a:t>Delivering your Product Requirements Document</a:t>
            </a:r>
            <a:endParaRPr lang="en-US" sz="1700" dirty="0"/>
          </a:p>
        </p:txBody>
      </p:sp>
      <p:sp>
        <p:nvSpPr>
          <p:cNvPr id="9" name="Shape 7"/>
          <p:cNvSpPr/>
          <p:nvPr/>
        </p:nvSpPr>
        <p:spPr>
          <a:xfrm>
            <a:off x="0" y="4960620"/>
            <a:ext cx="9144000" cy="182880"/>
          </a:xfrm>
          <a:prstGeom prst="rect">
            <a:avLst/>
          </a:prstGeom>
          <a:solidFill>
            <a:srgbClr val="C4A35A"/>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274320"/>
            <a:ext cx="1463040" cy="411480"/>
          </a:xfrm>
          <a:prstGeom prst="rect">
            <a:avLst/>
          </a:prstGeom>
          <a:solidFill>
            <a:srgbClr val="C4A35A"/>
          </a:solidFill>
          <a:ln/>
        </p:spPr>
      </p:sp>
      <p:sp>
        <p:nvSpPr>
          <p:cNvPr id="3" name="Text 1"/>
          <p:cNvSpPr/>
          <p:nvPr/>
        </p:nvSpPr>
        <p:spPr>
          <a:xfrm>
            <a:off x="457200" y="274320"/>
            <a:ext cx="1463040" cy="411480"/>
          </a:xfrm>
          <a:prstGeom prst="rect">
            <a:avLst/>
          </a:prstGeom>
          <a:noFill/>
          <a:ln/>
        </p:spPr>
        <p:txBody>
          <a:bodyPr wrap="square"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PHASE 7</a:t>
            </a:r>
            <a:endParaRPr lang="en-US" sz="1300" dirty="0"/>
          </a:p>
        </p:txBody>
      </p:sp>
      <p:sp>
        <p:nvSpPr>
          <p:cNvPr id="4" name="Text 2"/>
          <p:cNvSpPr/>
          <p:nvPr/>
        </p:nvSpPr>
        <p:spPr>
          <a:xfrm>
            <a:off x="2103120" y="274320"/>
            <a:ext cx="6400800" cy="457200"/>
          </a:xfrm>
          <a:prstGeom prst="rect">
            <a:avLst/>
          </a:prstGeom>
          <a:noFill/>
          <a:ln/>
        </p:spPr>
        <p:txBody>
          <a:bodyPr wrap="square"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PRD Structure</a:t>
            </a:r>
            <a:endParaRPr lang="en-US" sz="2800" dirty="0"/>
          </a:p>
        </p:txBody>
      </p:sp>
      <p:sp>
        <p:nvSpPr>
          <p:cNvPr id="5" name="Shape 3"/>
          <p:cNvSpPr/>
          <p:nvPr/>
        </p:nvSpPr>
        <p:spPr>
          <a:xfrm>
            <a:off x="457200" y="914400"/>
            <a:ext cx="54864" cy="594360"/>
          </a:xfrm>
          <a:prstGeom prst="rect">
            <a:avLst/>
          </a:prstGeom>
          <a:solidFill>
            <a:srgbClr val="C4A35A"/>
          </a:solidFill>
          <a:ln/>
        </p:spPr>
      </p:sp>
      <p:sp>
        <p:nvSpPr>
          <p:cNvPr id="6" name="Text 4"/>
          <p:cNvSpPr/>
          <p:nvPr/>
        </p:nvSpPr>
        <p:spPr>
          <a:xfrm>
            <a:off x="640080" y="914400"/>
            <a:ext cx="3840480" cy="256032"/>
          </a:xfrm>
          <a:prstGeom prst="rect">
            <a:avLst/>
          </a:prstGeom>
          <a:noFill/>
          <a:ln/>
        </p:spPr>
        <p:txBody>
          <a:bodyPr wrap="square" rtlCol="0" anchor="ctr"/>
          <a:lstStyle/>
          <a:p>
            <a:pPr indent="0" marL="0">
              <a:buNone/>
            </a:pPr>
            <a:r>
              <a:rPr lang="en-US" sz="1300" b="1" dirty="0">
                <a:solidFill>
                  <a:srgbClr val="1B365D"/>
                </a:solidFill>
                <a:latin typeface="Arial" pitchFamily="34" charset="0"/>
                <a:ea typeface="Arial" pitchFamily="34" charset="-122"/>
                <a:cs typeface="Arial" pitchFamily="34" charset="-120"/>
              </a:rPr>
              <a:t>Executive Summary</a:t>
            </a:r>
            <a:endParaRPr lang="en-US" sz="1300" dirty="0"/>
          </a:p>
        </p:txBody>
      </p:sp>
      <p:sp>
        <p:nvSpPr>
          <p:cNvPr id="7" name="Text 5"/>
          <p:cNvSpPr/>
          <p:nvPr/>
        </p:nvSpPr>
        <p:spPr>
          <a:xfrm>
            <a:off x="640080" y="1188720"/>
            <a:ext cx="3840480" cy="27432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Concept overview, strategic rationale, target market</a:t>
            </a:r>
            <a:endParaRPr lang="en-US" sz="1000" dirty="0"/>
          </a:p>
        </p:txBody>
      </p:sp>
      <p:sp>
        <p:nvSpPr>
          <p:cNvPr id="8" name="Shape 6"/>
          <p:cNvSpPr/>
          <p:nvPr/>
        </p:nvSpPr>
        <p:spPr>
          <a:xfrm>
            <a:off x="4754880" y="914400"/>
            <a:ext cx="54864" cy="594360"/>
          </a:xfrm>
          <a:prstGeom prst="rect">
            <a:avLst/>
          </a:prstGeom>
          <a:solidFill>
            <a:srgbClr val="C4A35A"/>
          </a:solidFill>
          <a:ln/>
        </p:spPr>
      </p:sp>
      <p:sp>
        <p:nvSpPr>
          <p:cNvPr id="9" name="Text 7"/>
          <p:cNvSpPr/>
          <p:nvPr/>
        </p:nvSpPr>
        <p:spPr>
          <a:xfrm>
            <a:off x="4937760" y="914400"/>
            <a:ext cx="3840480" cy="256032"/>
          </a:xfrm>
          <a:prstGeom prst="rect">
            <a:avLst/>
          </a:prstGeom>
          <a:noFill/>
          <a:ln/>
        </p:spPr>
        <p:txBody>
          <a:bodyPr wrap="square" rtlCol="0" anchor="ctr"/>
          <a:lstStyle/>
          <a:p>
            <a:pPr indent="0" marL="0">
              <a:buNone/>
            </a:pPr>
            <a:r>
              <a:rPr lang="en-US" sz="1300" b="1" dirty="0">
                <a:solidFill>
                  <a:srgbClr val="1B365D"/>
                </a:solidFill>
                <a:latin typeface="Arial" pitchFamily="34" charset="0"/>
                <a:ea typeface="Arial" pitchFamily="34" charset="-122"/>
                <a:cs typeface="Arial" pitchFamily="34" charset="-120"/>
              </a:rPr>
              <a:t>Problem Statement</a:t>
            </a:r>
            <a:endParaRPr lang="en-US" sz="1300" dirty="0"/>
          </a:p>
        </p:txBody>
      </p:sp>
      <p:sp>
        <p:nvSpPr>
          <p:cNvPr id="10" name="Text 8"/>
          <p:cNvSpPr/>
          <p:nvPr/>
        </p:nvSpPr>
        <p:spPr>
          <a:xfrm>
            <a:off x="4937760" y="1188720"/>
            <a:ext cx="3840480" cy="27432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Pain points from research, evidence from sources</a:t>
            </a:r>
            <a:endParaRPr lang="en-US" sz="1000" dirty="0"/>
          </a:p>
        </p:txBody>
      </p:sp>
      <p:sp>
        <p:nvSpPr>
          <p:cNvPr id="11" name="Shape 9"/>
          <p:cNvSpPr/>
          <p:nvPr/>
        </p:nvSpPr>
        <p:spPr>
          <a:xfrm>
            <a:off x="457200" y="1645920"/>
            <a:ext cx="54864" cy="594360"/>
          </a:xfrm>
          <a:prstGeom prst="rect">
            <a:avLst/>
          </a:prstGeom>
          <a:solidFill>
            <a:srgbClr val="C4A35A"/>
          </a:solidFill>
          <a:ln/>
        </p:spPr>
      </p:sp>
      <p:sp>
        <p:nvSpPr>
          <p:cNvPr id="12" name="Text 10"/>
          <p:cNvSpPr/>
          <p:nvPr/>
        </p:nvSpPr>
        <p:spPr>
          <a:xfrm>
            <a:off x="640080" y="1645920"/>
            <a:ext cx="3840480" cy="256032"/>
          </a:xfrm>
          <a:prstGeom prst="rect">
            <a:avLst/>
          </a:prstGeom>
          <a:noFill/>
          <a:ln/>
        </p:spPr>
        <p:txBody>
          <a:bodyPr wrap="square" rtlCol="0" anchor="ctr"/>
          <a:lstStyle/>
          <a:p>
            <a:pPr indent="0" marL="0">
              <a:buNone/>
            </a:pPr>
            <a:r>
              <a:rPr lang="en-US" sz="1300" b="1" dirty="0">
                <a:solidFill>
                  <a:srgbClr val="1B365D"/>
                </a:solidFill>
                <a:latin typeface="Arial" pitchFamily="34" charset="0"/>
                <a:ea typeface="Arial" pitchFamily="34" charset="-122"/>
                <a:cs typeface="Arial" pitchFamily="34" charset="-120"/>
              </a:rPr>
              <a:t>Strategic Context</a:t>
            </a:r>
            <a:endParaRPr lang="en-US" sz="1300" dirty="0"/>
          </a:p>
        </p:txBody>
      </p:sp>
      <p:sp>
        <p:nvSpPr>
          <p:cNvPr id="13" name="Text 11"/>
          <p:cNvSpPr/>
          <p:nvPr/>
        </p:nvSpPr>
        <p:spPr>
          <a:xfrm>
            <a:off x="640080" y="1920240"/>
            <a:ext cx="3840480" cy="27432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Phase 1: PESTEL, VRIO, SWOT, positioning</a:t>
            </a:r>
            <a:endParaRPr lang="en-US" sz="1000" dirty="0"/>
          </a:p>
        </p:txBody>
      </p:sp>
      <p:sp>
        <p:nvSpPr>
          <p:cNvPr id="14" name="Shape 12"/>
          <p:cNvSpPr/>
          <p:nvPr/>
        </p:nvSpPr>
        <p:spPr>
          <a:xfrm>
            <a:off x="4754880" y="1645920"/>
            <a:ext cx="54864" cy="594360"/>
          </a:xfrm>
          <a:prstGeom prst="rect">
            <a:avLst/>
          </a:prstGeom>
          <a:solidFill>
            <a:srgbClr val="C4A35A"/>
          </a:solidFill>
          <a:ln/>
        </p:spPr>
      </p:sp>
      <p:sp>
        <p:nvSpPr>
          <p:cNvPr id="15" name="Text 13"/>
          <p:cNvSpPr/>
          <p:nvPr/>
        </p:nvSpPr>
        <p:spPr>
          <a:xfrm>
            <a:off x="4937760" y="1645920"/>
            <a:ext cx="3840480" cy="256032"/>
          </a:xfrm>
          <a:prstGeom prst="rect">
            <a:avLst/>
          </a:prstGeom>
          <a:noFill/>
          <a:ln/>
        </p:spPr>
        <p:txBody>
          <a:bodyPr wrap="square" rtlCol="0" anchor="ctr"/>
          <a:lstStyle/>
          <a:p>
            <a:pPr indent="0" marL="0">
              <a:buNone/>
            </a:pPr>
            <a:r>
              <a:rPr lang="en-US" sz="1300" b="1" dirty="0">
                <a:solidFill>
                  <a:srgbClr val="1B365D"/>
                </a:solidFill>
                <a:latin typeface="Arial" pitchFamily="34" charset="0"/>
                <a:ea typeface="Arial" pitchFamily="34" charset="-122"/>
                <a:cs typeface="Arial" pitchFamily="34" charset="-120"/>
              </a:rPr>
              <a:t>Target Users</a:t>
            </a:r>
            <a:endParaRPr lang="en-US" sz="1300" dirty="0"/>
          </a:p>
        </p:txBody>
      </p:sp>
      <p:sp>
        <p:nvSpPr>
          <p:cNvPr id="16" name="Text 14"/>
          <p:cNvSpPr/>
          <p:nvPr/>
        </p:nvSpPr>
        <p:spPr>
          <a:xfrm>
            <a:off x="4937760" y="1920240"/>
            <a:ext cx="3840480" cy="27432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Personas from research, needs hierarchy</a:t>
            </a:r>
            <a:endParaRPr lang="en-US" sz="1000" dirty="0"/>
          </a:p>
        </p:txBody>
      </p:sp>
      <p:sp>
        <p:nvSpPr>
          <p:cNvPr id="17" name="Shape 15"/>
          <p:cNvSpPr/>
          <p:nvPr/>
        </p:nvSpPr>
        <p:spPr>
          <a:xfrm>
            <a:off x="457200" y="2377440"/>
            <a:ext cx="54864" cy="594360"/>
          </a:xfrm>
          <a:prstGeom prst="rect">
            <a:avLst/>
          </a:prstGeom>
          <a:solidFill>
            <a:srgbClr val="C4A35A"/>
          </a:solidFill>
          <a:ln/>
        </p:spPr>
      </p:sp>
      <p:sp>
        <p:nvSpPr>
          <p:cNvPr id="18" name="Text 16"/>
          <p:cNvSpPr/>
          <p:nvPr/>
        </p:nvSpPr>
        <p:spPr>
          <a:xfrm>
            <a:off x="640080" y="2377440"/>
            <a:ext cx="3840480" cy="256032"/>
          </a:xfrm>
          <a:prstGeom prst="rect">
            <a:avLst/>
          </a:prstGeom>
          <a:noFill/>
          <a:ln/>
        </p:spPr>
        <p:txBody>
          <a:bodyPr wrap="square" rtlCol="0" anchor="ctr"/>
          <a:lstStyle/>
          <a:p>
            <a:pPr indent="0" marL="0">
              <a:buNone/>
            </a:pPr>
            <a:r>
              <a:rPr lang="en-US" sz="1300" b="1" dirty="0">
                <a:solidFill>
                  <a:srgbClr val="1B365D"/>
                </a:solidFill>
                <a:latin typeface="Arial" pitchFamily="34" charset="0"/>
                <a:ea typeface="Arial" pitchFamily="34" charset="-122"/>
                <a:cs typeface="Arial" pitchFamily="34" charset="-120"/>
              </a:rPr>
              <a:t>Product Vision</a:t>
            </a:r>
            <a:endParaRPr lang="en-US" sz="1300" dirty="0"/>
          </a:p>
        </p:txBody>
      </p:sp>
      <p:sp>
        <p:nvSpPr>
          <p:cNvPr id="19" name="Text 17"/>
          <p:cNvSpPr/>
          <p:nvPr/>
        </p:nvSpPr>
        <p:spPr>
          <a:xfrm>
            <a:off x="640080" y="2651760"/>
            <a:ext cx="3840480" cy="27432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How concept addresses opportunity</a:t>
            </a:r>
            <a:endParaRPr lang="en-US" sz="1000" dirty="0"/>
          </a:p>
        </p:txBody>
      </p:sp>
      <p:sp>
        <p:nvSpPr>
          <p:cNvPr id="20" name="Shape 18"/>
          <p:cNvSpPr/>
          <p:nvPr/>
        </p:nvSpPr>
        <p:spPr>
          <a:xfrm>
            <a:off x="4754880" y="2377440"/>
            <a:ext cx="54864" cy="594360"/>
          </a:xfrm>
          <a:prstGeom prst="rect">
            <a:avLst/>
          </a:prstGeom>
          <a:solidFill>
            <a:srgbClr val="C4A35A"/>
          </a:solidFill>
          <a:ln/>
        </p:spPr>
      </p:sp>
      <p:sp>
        <p:nvSpPr>
          <p:cNvPr id="21" name="Text 19"/>
          <p:cNvSpPr/>
          <p:nvPr/>
        </p:nvSpPr>
        <p:spPr>
          <a:xfrm>
            <a:off x="4937760" y="2377440"/>
            <a:ext cx="3840480" cy="256032"/>
          </a:xfrm>
          <a:prstGeom prst="rect">
            <a:avLst/>
          </a:prstGeom>
          <a:noFill/>
          <a:ln/>
        </p:spPr>
        <p:txBody>
          <a:bodyPr wrap="square" rtlCol="0" anchor="ctr"/>
          <a:lstStyle/>
          <a:p>
            <a:pPr indent="0" marL="0">
              <a:buNone/>
            </a:pPr>
            <a:r>
              <a:rPr lang="en-US" sz="1300" b="1" dirty="0">
                <a:solidFill>
                  <a:srgbClr val="1B365D"/>
                </a:solidFill>
                <a:latin typeface="Arial" pitchFamily="34" charset="0"/>
                <a:ea typeface="Arial" pitchFamily="34" charset="-122"/>
                <a:cs typeface="Arial" pitchFamily="34" charset="-120"/>
              </a:rPr>
              <a:t>Feature Specifications</a:t>
            </a:r>
            <a:endParaRPr lang="en-US" sz="1300" dirty="0"/>
          </a:p>
        </p:txBody>
      </p:sp>
      <p:sp>
        <p:nvSpPr>
          <p:cNvPr id="22" name="Text 20"/>
          <p:cNvSpPr/>
          <p:nvPr/>
        </p:nvSpPr>
        <p:spPr>
          <a:xfrm>
            <a:off x="4937760" y="2651760"/>
            <a:ext cx="3840480" cy="27432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Kano-classified: Must-Be, Performance, Excitement</a:t>
            </a:r>
            <a:endParaRPr lang="en-US" sz="1000" dirty="0"/>
          </a:p>
        </p:txBody>
      </p:sp>
      <p:sp>
        <p:nvSpPr>
          <p:cNvPr id="23" name="Shape 21"/>
          <p:cNvSpPr/>
          <p:nvPr/>
        </p:nvSpPr>
        <p:spPr>
          <a:xfrm>
            <a:off x="457200" y="3108960"/>
            <a:ext cx="54864" cy="594360"/>
          </a:xfrm>
          <a:prstGeom prst="rect">
            <a:avLst/>
          </a:prstGeom>
          <a:solidFill>
            <a:srgbClr val="C4A35A"/>
          </a:solidFill>
          <a:ln/>
        </p:spPr>
      </p:sp>
      <p:sp>
        <p:nvSpPr>
          <p:cNvPr id="24" name="Text 22"/>
          <p:cNvSpPr/>
          <p:nvPr/>
        </p:nvSpPr>
        <p:spPr>
          <a:xfrm>
            <a:off x="640080" y="3108960"/>
            <a:ext cx="3840480" cy="256032"/>
          </a:xfrm>
          <a:prstGeom prst="rect">
            <a:avLst/>
          </a:prstGeom>
          <a:noFill/>
          <a:ln/>
        </p:spPr>
        <p:txBody>
          <a:bodyPr wrap="square" rtlCol="0" anchor="ctr"/>
          <a:lstStyle/>
          <a:p>
            <a:pPr indent="0" marL="0">
              <a:buNone/>
            </a:pPr>
            <a:r>
              <a:rPr lang="en-US" sz="1300" b="1" dirty="0">
                <a:solidFill>
                  <a:srgbClr val="1B365D"/>
                </a:solidFill>
                <a:latin typeface="Arial" pitchFamily="34" charset="0"/>
                <a:ea typeface="Arial" pitchFamily="34" charset="-122"/>
                <a:cs typeface="Arial" pitchFamily="34" charset="-120"/>
              </a:rPr>
              <a:t>Architecture Overview</a:t>
            </a:r>
            <a:endParaRPr lang="en-US" sz="1300" dirty="0"/>
          </a:p>
        </p:txBody>
      </p:sp>
      <p:sp>
        <p:nvSpPr>
          <p:cNvPr id="25" name="Text 23"/>
          <p:cNvSpPr/>
          <p:nvPr/>
        </p:nvSpPr>
        <p:spPr>
          <a:xfrm>
            <a:off x="640080" y="3383280"/>
            <a:ext cx="3840480" cy="27432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Component breakdown from morphological analysis</a:t>
            </a:r>
            <a:endParaRPr lang="en-US" sz="1000" dirty="0"/>
          </a:p>
        </p:txBody>
      </p:sp>
      <p:sp>
        <p:nvSpPr>
          <p:cNvPr id="26" name="Shape 24"/>
          <p:cNvSpPr/>
          <p:nvPr/>
        </p:nvSpPr>
        <p:spPr>
          <a:xfrm>
            <a:off x="4754880" y="3108960"/>
            <a:ext cx="54864" cy="594360"/>
          </a:xfrm>
          <a:prstGeom prst="rect">
            <a:avLst/>
          </a:prstGeom>
          <a:solidFill>
            <a:srgbClr val="C4A35A"/>
          </a:solidFill>
          <a:ln/>
        </p:spPr>
      </p:sp>
      <p:sp>
        <p:nvSpPr>
          <p:cNvPr id="27" name="Text 25"/>
          <p:cNvSpPr/>
          <p:nvPr/>
        </p:nvSpPr>
        <p:spPr>
          <a:xfrm>
            <a:off x="4937760" y="3108960"/>
            <a:ext cx="3840480" cy="256032"/>
          </a:xfrm>
          <a:prstGeom prst="rect">
            <a:avLst/>
          </a:prstGeom>
          <a:noFill/>
          <a:ln/>
        </p:spPr>
        <p:txBody>
          <a:bodyPr wrap="square" rtlCol="0" anchor="ctr"/>
          <a:lstStyle/>
          <a:p>
            <a:pPr indent="0" marL="0">
              <a:buNone/>
            </a:pPr>
            <a:r>
              <a:rPr lang="en-US" sz="1300" b="1" dirty="0">
                <a:solidFill>
                  <a:srgbClr val="1B365D"/>
                </a:solidFill>
                <a:latin typeface="Arial" pitchFamily="34" charset="0"/>
                <a:ea typeface="Arial" pitchFamily="34" charset="-122"/>
                <a:cs typeface="Arial" pitchFamily="34" charset="-120"/>
              </a:rPr>
              <a:t>Success Metrics</a:t>
            </a:r>
            <a:endParaRPr lang="en-US" sz="1300" dirty="0"/>
          </a:p>
        </p:txBody>
      </p:sp>
      <p:sp>
        <p:nvSpPr>
          <p:cNvPr id="28" name="Text 26"/>
          <p:cNvSpPr/>
          <p:nvPr/>
        </p:nvSpPr>
        <p:spPr>
          <a:xfrm>
            <a:off x="4937760" y="3383280"/>
            <a:ext cx="3840480" cy="27432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KPIs tied to rubric criteria</a:t>
            </a:r>
            <a:endParaRPr lang="en-US" sz="1000" dirty="0"/>
          </a:p>
        </p:txBody>
      </p:sp>
      <p:sp>
        <p:nvSpPr>
          <p:cNvPr id="29" name="Shape 27"/>
          <p:cNvSpPr/>
          <p:nvPr/>
        </p:nvSpPr>
        <p:spPr>
          <a:xfrm>
            <a:off x="457200" y="3840480"/>
            <a:ext cx="54864" cy="594360"/>
          </a:xfrm>
          <a:prstGeom prst="rect">
            <a:avLst/>
          </a:prstGeom>
          <a:solidFill>
            <a:srgbClr val="C4A35A"/>
          </a:solidFill>
          <a:ln/>
        </p:spPr>
      </p:sp>
      <p:sp>
        <p:nvSpPr>
          <p:cNvPr id="30" name="Text 28"/>
          <p:cNvSpPr/>
          <p:nvPr/>
        </p:nvSpPr>
        <p:spPr>
          <a:xfrm>
            <a:off x="640080" y="3840480"/>
            <a:ext cx="3840480" cy="256032"/>
          </a:xfrm>
          <a:prstGeom prst="rect">
            <a:avLst/>
          </a:prstGeom>
          <a:noFill/>
          <a:ln/>
        </p:spPr>
        <p:txBody>
          <a:bodyPr wrap="square" rtlCol="0" anchor="ctr"/>
          <a:lstStyle/>
          <a:p>
            <a:pPr indent="0" marL="0">
              <a:buNone/>
            </a:pPr>
            <a:r>
              <a:rPr lang="en-US" sz="1300" b="1" dirty="0">
                <a:solidFill>
                  <a:srgbClr val="1B365D"/>
                </a:solidFill>
                <a:latin typeface="Arial" pitchFamily="34" charset="0"/>
                <a:ea typeface="Arial" pitchFamily="34" charset="-122"/>
                <a:cs typeface="Arial" pitchFamily="34" charset="-120"/>
              </a:rPr>
              <a:t>Risks &amp; Mitigations</a:t>
            </a:r>
            <a:endParaRPr lang="en-US" sz="1300" dirty="0"/>
          </a:p>
        </p:txBody>
      </p:sp>
      <p:sp>
        <p:nvSpPr>
          <p:cNvPr id="31" name="Text 29"/>
          <p:cNvSpPr/>
          <p:nvPr/>
        </p:nvSpPr>
        <p:spPr>
          <a:xfrm>
            <a:off x="640080" y="4114800"/>
            <a:ext cx="3840480" cy="27432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Low-scoring areas, competitive threats</a:t>
            </a:r>
            <a:endParaRPr lang="en-US" sz="1000" dirty="0"/>
          </a:p>
        </p:txBody>
      </p:sp>
      <p:sp>
        <p:nvSpPr>
          <p:cNvPr id="32" name="Shape 30"/>
          <p:cNvSpPr/>
          <p:nvPr/>
        </p:nvSpPr>
        <p:spPr>
          <a:xfrm>
            <a:off x="4754880" y="3840480"/>
            <a:ext cx="54864" cy="594360"/>
          </a:xfrm>
          <a:prstGeom prst="rect">
            <a:avLst/>
          </a:prstGeom>
          <a:solidFill>
            <a:srgbClr val="C4A35A"/>
          </a:solidFill>
          <a:ln/>
        </p:spPr>
      </p:sp>
      <p:sp>
        <p:nvSpPr>
          <p:cNvPr id="33" name="Text 31"/>
          <p:cNvSpPr/>
          <p:nvPr/>
        </p:nvSpPr>
        <p:spPr>
          <a:xfrm>
            <a:off x="4937760" y="3840480"/>
            <a:ext cx="3840480" cy="256032"/>
          </a:xfrm>
          <a:prstGeom prst="rect">
            <a:avLst/>
          </a:prstGeom>
          <a:noFill/>
          <a:ln/>
        </p:spPr>
        <p:txBody>
          <a:bodyPr wrap="square" rtlCol="0" anchor="ctr"/>
          <a:lstStyle/>
          <a:p>
            <a:pPr indent="0" marL="0">
              <a:buNone/>
            </a:pPr>
            <a:r>
              <a:rPr lang="en-US" sz="1300" b="1" dirty="0">
                <a:solidFill>
                  <a:srgbClr val="1B365D"/>
                </a:solidFill>
                <a:latin typeface="Arial" pitchFamily="34" charset="0"/>
                <a:ea typeface="Arial" pitchFamily="34" charset="-122"/>
                <a:cs typeface="Arial" pitchFamily="34" charset="-120"/>
              </a:rPr>
              <a:t>Implementation Roadmap</a:t>
            </a:r>
            <a:endParaRPr lang="en-US" sz="1300" dirty="0"/>
          </a:p>
        </p:txBody>
      </p:sp>
      <p:sp>
        <p:nvSpPr>
          <p:cNvPr id="34" name="Text 32"/>
          <p:cNvSpPr/>
          <p:nvPr/>
        </p:nvSpPr>
        <p:spPr>
          <a:xfrm>
            <a:off x="4937760" y="4114800"/>
            <a:ext cx="3840480" cy="274320"/>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Phased plan, resources, timeline</a:t>
            </a:r>
            <a:endParaRPr lang="en-US" sz="1000" dirty="0"/>
          </a:p>
        </p:txBody>
      </p:sp>
      <p:sp>
        <p:nvSpPr>
          <p:cNvPr id="35" name="Text 33"/>
          <p:cNvSpPr/>
          <p:nvPr/>
        </p:nvSpPr>
        <p:spPr>
          <a:xfrm>
            <a:off x="457200" y="4526280"/>
            <a:ext cx="8229600" cy="274320"/>
          </a:xfrm>
          <a:prstGeom prst="rect">
            <a:avLst/>
          </a:prstGeom>
          <a:noFill/>
          <a:ln/>
        </p:spPr>
        <p:txBody>
          <a:bodyPr wrap="square" rtlCol="0" anchor="ctr"/>
          <a:lstStyle/>
          <a:p>
            <a:pPr indent="0" marL="0">
              <a:buNone/>
            </a:pPr>
            <a:r>
              <a:rPr lang="en-US" sz="1300" b="1" i="1" dirty="0">
                <a:solidFill>
                  <a:srgbClr val="C4A35A"/>
                </a:solidFill>
                <a:latin typeface="Arial" pitchFamily="34" charset="0"/>
                <a:ea typeface="Arial" pitchFamily="34" charset="-122"/>
                <a:cs typeface="Arial" pitchFamily="34" charset="-120"/>
              </a:rPr>
              <a:t>Formats: Word/PDF for submission  +  Markdown for build phase</a:t>
            </a:r>
            <a:endParaRPr lang="en-US" sz="1300" dirty="0"/>
          </a:p>
        </p:txBody>
      </p:sp>
      <p:sp>
        <p:nvSpPr>
          <p:cNvPr id="36" name="Text 34"/>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6400800" cy="548640"/>
          </a:xfrm>
          <a:prstGeom prst="rect">
            <a:avLst/>
          </a:prstGeom>
          <a:noFill/>
          <a:ln/>
        </p:spPr>
        <p:txBody>
          <a:bodyPr wrap="square" rtlCol="0" anchor="ctr"/>
          <a:lstStyle/>
          <a:p>
            <a:pPr indent="0" marL="0">
              <a:buNone/>
            </a:pPr>
            <a:r>
              <a:rPr lang="en-US" sz="3400" b="1" dirty="0">
                <a:solidFill>
                  <a:srgbClr val="1B365D"/>
                </a:solidFill>
                <a:latin typeface="Georgia" pitchFamily="34" charset="0"/>
                <a:ea typeface="Georgia" pitchFamily="34" charset="-122"/>
                <a:cs typeface="Georgia" pitchFamily="34" charset="-120"/>
              </a:rPr>
              <a:t>Timeline &amp; Deliverables</a:t>
            </a:r>
            <a:endParaRPr lang="en-US" sz="3400" dirty="0"/>
          </a:p>
        </p:txBody>
      </p:sp>
      <p:sp>
        <p:nvSpPr>
          <p:cNvPr id="3" name="Text 1"/>
          <p:cNvSpPr/>
          <p:nvPr/>
        </p:nvSpPr>
        <p:spPr>
          <a:xfrm>
            <a:off x="6400800" y="274320"/>
            <a:ext cx="2286000" cy="548640"/>
          </a:xfrm>
          <a:prstGeom prst="rect">
            <a:avLst/>
          </a:prstGeom>
          <a:noFill/>
          <a:ln/>
        </p:spPr>
        <p:txBody>
          <a:bodyPr wrap="square" rtlCol="0" anchor="ctr"/>
          <a:lstStyle/>
          <a:p>
            <a:pPr algn="r" indent="0" marL="0">
              <a:buNone/>
            </a:pPr>
            <a:r>
              <a:rPr lang="en-US" sz="1800" b="1" dirty="0">
                <a:solidFill>
                  <a:srgbClr val="C4A35A"/>
                </a:solidFill>
                <a:latin typeface="Georgia" pitchFamily="34" charset="0"/>
                <a:ea typeface="Georgia" pitchFamily="34" charset="-122"/>
                <a:cs typeface="Georgia" pitchFamily="34" charset="-120"/>
              </a:rPr>
              <a:t>Due: February 10, 2026</a:t>
            </a:r>
            <a:endParaRPr lang="en-US" sz="1800" dirty="0"/>
          </a:p>
        </p:txBody>
      </p:sp>
      <p:sp>
        <p:nvSpPr>
          <p:cNvPr id="4" name="Shape 2"/>
          <p:cNvSpPr/>
          <p:nvPr/>
        </p:nvSpPr>
        <p:spPr>
          <a:xfrm>
            <a:off x="548640" y="1097280"/>
            <a:ext cx="347472" cy="347472"/>
          </a:xfrm>
          <a:prstGeom prst="ellipse">
            <a:avLst/>
          </a:prstGeom>
          <a:solidFill>
            <a:srgbClr val="1B365D"/>
          </a:solidFill>
          <a:ln/>
        </p:spPr>
      </p:sp>
      <p:sp>
        <p:nvSpPr>
          <p:cNvPr id="5" name="Text 3"/>
          <p:cNvSpPr/>
          <p:nvPr/>
        </p:nvSpPr>
        <p:spPr>
          <a:xfrm>
            <a:off x="548640" y="1097280"/>
            <a:ext cx="347472"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6" name="Shape 4"/>
          <p:cNvSpPr/>
          <p:nvPr/>
        </p:nvSpPr>
        <p:spPr>
          <a:xfrm>
            <a:off x="722376" y="1444752"/>
            <a:ext cx="0" cy="155448"/>
          </a:xfrm>
          <a:prstGeom prst="line">
            <a:avLst/>
          </a:prstGeom>
          <a:noFill/>
          <a:ln w="19050">
            <a:solidFill>
              <a:srgbClr val="C4A35A"/>
            </a:solidFill>
            <a:prstDash val="solid"/>
          </a:ln>
        </p:spPr>
      </p:sp>
      <p:sp>
        <p:nvSpPr>
          <p:cNvPr id="7" name="Text 5"/>
          <p:cNvSpPr/>
          <p:nvPr/>
        </p:nvSpPr>
        <p:spPr>
          <a:xfrm>
            <a:off x="1051560" y="1051560"/>
            <a:ext cx="1005840" cy="41148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Feb 5-6</a:t>
            </a:r>
            <a:endParaRPr lang="en-US" sz="1100" dirty="0"/>
          </a:p>
        </p:txBody>
      </p:sp>
      <p:sp>
        <p:nvSpPr>
          <p:cNvPr id="8" name="Text 6"/>
          <p:cNvSpPr/>
          <p:nvPr/>
        </p:nvSpPr>
        <p:spPr>
          <a:xfrm>
            <a:off x="2194560" y="1051560"/>
            <a:ext cx="6492240" cy="411480"/>
          </a:xfrm>
          <a:prstGeom prst="rect">
            <a:avLst/>
          </a:prstGeom>
          <a:noFill/>
          <a:ln/>
        </p:spPr>
        <p:txBody>
          <a:bodyPr wrap="square" rtlCol="0" anchor="ctr"/>
          <a:lstStyle/>
          <a:p>
            <a:pPr indent="0" marL="0">
              <a:buNone/>
            </a:pPr>
            <a:r>
              <a:rPr lang="en-US" sz="1200" dirty="0">
                <a:solidFill>
                  <a:srgbClr val="1B365D"/>
                </a:solidFill>
                <a:latin typeface="Arial" pitchFamily="34" charset="0"/>
                <a:ea typeface="Arial" pitchFamily="34" charset="-122"/>
                <a:cs typeface="Arial" pitchFamily="34" charset="-120"/>
              </a:rPr>
              <a:t>Phase 1: Define company, run strategic analysis, produce Strategic Brief</a:t>
            </a:r>
            <a:endParaRPr lang="en-US" sz="1200" dirty="0"/>
          </a:p>
        </p:txBody>
      </p:sp>
      <p:sp>
        <p:nvSpPr>
          <p:cNvPr id="9" name="Shape 7"/>
          <p:cNvSpPr/>
          <p:nvPr/>
        </p:nvSpPr>
        <p:spPr>
          <a:xfrm>
            <a:off x="548640" y="1600200"/>
            <a:ext cx="347472" cy="347472"/>
          </a:xfrm>
          <a:prstGeom prst="ellipse">
            <a:avLst/>
          </a:prstGeom>
          <a:solidFill>
            <a:srgbClr val="1B365D"/>
          </a:solidFill>
          <a:ln/>
        </p:spPr>
      </p:sp>
      <p:sp>
        <p:nvSpPr>
          <p:cNvPr id="10" name="Text 8"/>
          <p:cNvSpPr/>
          <p:nvPr/>
        </p:nvSpPr>
        <p:spPr>
          <a:xfrm>
            <a:off x="548640" y="1600200"/>
            <a:ext cx="347472"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722376" y="1947672"/>
            <a:ext cx="0" cy="155448"/>
          </a:xfrm>
          <a:prstGeom prst="line">
            <a:avLst/>
          </a:prstGeom>
          <a:noFill/>
          <a:ln w="19050">
            <a:solidFill>
              <a:srgbClr val="C4A35A"/>
            </a:solidFill>
            <a:prstDash val="solid"/>
          </a:ln>
        </p:spPr>
      </p:sp>
      <p:sp>
        <p:nvSpPr>
          <p:cNvPr id="12" name="Text 10"/>
          <p:cNvSpPr/>
          <p:nvPr/>
        </p:nvSpPr>
        <p:spPr>
          <a:xfrm>
            <a:off x="1051560" y="1554480"/>
            <a:ext cx="1005840" cy="41148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Feb 6</a:t>
            </a:r>
            <a:endParaRPr lang="en-US" sz="1100" dirty="0"/>
          </a:p>
        </p:txBody>
      </p:sp>
      <p:sp>
        <p:nvSpPr>
          <p:cNvPr id="13" name="Text 11"/>
          <p:cNvSpPr/>
          <p:nvPr/>
        </p:nvSpPr>
        <p:spPr>
          <a:xfrm>
            <a:off x="2194560" y="1554480"/>
            <a:ext cx="6492240" cy="411480"/>
          </a:xfrm>
          <a:prstGeom prst="rect">
            <a:avLst/>
          </a:prstGeom>
          <a:noFill/>
          <a:ln/>
        </p:spPr>
        <p:txBody>
          <a:bodyPr wrap="square" rtlCol="0" anchor="ctr"/>
          <a:lstStyle/>
          <a:p>
            <a:pPr indent="0" marL="0">
              <a:buNone/>
            </a:pPr>
            <a:r>
              <a:rPr lang="en-US" sz="1200" dirty="0">
                <a:solidFill>
                  <a:srgbClr val="1B365D"/>
                </a:solidFill>
                <a:latin typeface="Arial" pitchFamily="34" charset="0"/>
                <a:ea typeface="Arial" pitchFamily="34" charset="-122"/>
                <a:cs typeface="Arial" pitchFamily="34" charset="-120"/>
              </a:rPr>
              <a:t>Phase 2: Build custom rubric with weighted criteria</a:t>
            </a:r>
            <a:endParaRPr lang="en-US" sz="1200" dirty="0"/>
          </a:p>
        </p:txBody>
      </p:sp>
      <p:sp>
        <p:nvSpPr>
          <p:cNvPr id="14" name="Shape 12"/>
          <p:cNvSpPr/>
          <p:nvPr/>
        </p:nvSpPr>
        <p:spPr>
          <a:xfrm>
            <a:off x="548640" y="2103120"/>
            <a:ext cx="347472" cy="347472"/>
          </a:xfrm>
          <a:prstGeom prst="ellipse">
            <a:avLst/>
          </a:prstGeom>
          <a:solidFill>
            <a:srgbClr val="1B365D"/>
          </a:solidFill>
          <a:ln/>
        </p:spPr>
      </p:sp>
      <p:sp>
        <p:nvSpPr>
          <p:cNvPr id="15" name="Text 13"/>
          <p:cNvSpPr/>
          <p:nvPr/>
        </p:nvSpPr>
        <p:spPr>
          <a:xfrm>
            <a:off x="548640" y="2103120"/>
            <a:ext cx="347472"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Shape 14"/>
          <p:cNvSpPr/>
          <p:nvPr/>
        </p:nvSpPr>
        <p:spPr>
          <a:xfrm>
            <a:off x="722376" y="2450592"/>
            <a:ext cx="0" cy="155448"/>
          </a:xfrm>
          <a:prstGeom prst="line">
            <a:avLst/>
          </a:prstGeom>
          <a:noFill/>
          <a:ln w="19050">
            <a:solidFill>
              <a:srgbClr val="C4A35A"/>
            </a:solidFill>
            <a:prstDash val="solid"/>
          </a:ln>
        </p:spPr>
      </p:sp>
      <p:sp>
        <p:nvSpPr>
          <p:cNvPr id="17" name="Text 15"/>
          <p:cNvSpPr/>
          <p:nvPr/>
        </p:nvSpPr>
        <p:spPr>
          <a:xfrm>
            <a:off x="1051560" y="2057400"/>
            <a:ext cx="1005840" cy="41148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Feb 6-7</a:t>
            </a:r>
            <a:endParaRPr lang="en-US" sz="1100" dirty="0"/>
          </a:p>
        </p:txBody>
      </p:sp>
      <p:sp>
        <p:nvSpPr>
          <p:cNvPr id="18" name="Text 16"/>
          <p:cNvSpPr/>
          <p:nvPr/>
        </p:nvSpPr>
        <p:spPr>
          <a:xfrm>
            <a:off x="2194560" y="2057400"/>
            <a:ext cx="6492240" cy="411480"/>
          </a:xfrm>
          <a:prstGeom prst="rect">
            <a:avLst/>
          </a:prstGeom>
          <a:noFill/>
          <a:ln/>
        </p:spPr>
        <p:txBody>
          <a:bodyPr wrap="square" rtlCol="0" anchor="ctr"/>
          <a:lstStyle/>
          <a:p>
            <a:pPr indent="0" marL="0">
              <a:buNone/>
            </a:pPr>
            <a:r>
              <a:rPr lang="en-US" sz="1200" dirty="0">
                <a:solidFill>
                  <a:srgbClr val="1B365D"/>
                </a:solidFill>
                <a:latin typeface="Arial" pitchFamily="34" charset="0"/>
                <a:ea typeface="Arial" pitchFamily="34" charset="-122"/>
                <a:cs typeface="Arial" pitchFamily="34" charset="-120"/>
              </a:rPr>
              <a:t>Phase 3: Concept discovery across platforms (up to 40 concepts)</a:t>
            </a:r>
            <a:endParaRPr lang="en-US" sz="1200" dirty="0"/>
          </a:p>
        </p:txBody>
      </p:sp>
      <p:sp>
        <p:nvSpPr>
          <p:cNvPr id="19" name="Shape 17"/>
          <p:cNvSpPr/>
          <p:nvPr/>
        </p:nvSpPr>
        <p:spPr>
          <a:xfrm>
            <a:off x="548640" y="2606040"/>
            <a:ext cx="347472" cy="347472"/>
          </a:xfrm>
          <a:prstGeom prst="ellipse">
            <a:avLst/>
          </a:prstGeom>
          <a:solidFill>
            <a:srgbClr val="1B365D"/>
          </a:solidFill>
          <a:ln/>
        </p:spPr>
      </p:sp>
      <p:sp>
        <p:nvSpPr>
          <p:cNvPr id="20" name="Text 18"/>
          <p:cNvSpPr/>
          <p:nvPr/>
        </p:nvSpPr>
        <p:spPr>
          <a:xfrm>
            <a:off x="548640" y="2606040"/>
            <a:ext cx="347472"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1" name="Shape 19"/>
          <p:cNvSpPr/>
          <p:nvPr/>
        </p:nvSpPr>
        <p:spPr>
          <a:xfrm>
            <a:off x="722376" y="2953512"/>
            <a:ext cx="0" cy="155448"/>
          </a:xfrm>
          <a:prstGeom prst="line">
            <a:avLst/>
          </a:prstGeom>
          <a:noFill/>
          <a:ln w="19050">
            <a:solidFill>
              <a:srgbClr val="C4A35A"/>
            </a:solidFill>
            <a:prstDash val="solid"/>
          </a:ln>
        </p:spPr>
      </p:sp>
      <p:sp>
        <p:nvSpPr>
          <p:cNvPr id="22" name="Text 20"/>
          <p:cNvSpPr/>
          <p:nvPr/>
        </p:nvSpPr>
        <p:spPr>
          <a:xfrm>
            <a:off x="1051560" y="2560320"/>
            <a:ext cx="1005840" cy="41148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Feb 7-8</a:t>
            </a:r>
            <a:endParaRPr lang="en-US" sz="1100" dirty="0"/>
          </a:p>
        </p:txBody>
      </p:sp>
      <p:sp>
        <p:nvSpPr>
          <p:cNvPr id="23" name="Text 21"/>
          <p:cNvSpPr/>
          <p:nvPr/>
        </p:nvSpPr>
        <p:spPr>
          <a:xfrm>
            <a:off x="2194560" y="2560320"/>
            <a:ext cx="6492240" cy="411480"/>
          </a:xfrm>
          <a:prstGeom prst="rect">
            <a:avLst/>
          </a:prstGeom>
          <a:noFill/>
          <a:ln/>
        </p:spPr>
        <p:txBody>
          <a:bodyPr wrap="square" rtlCol="0" anchor="ctr"/>
          <a:lstStyle/>
          <a:p>
            <a:pPr indent="0" marL="0">
              <a:buNone/>
            </a:pPr>
            <a:r>
              <a:rPr lang="en-US" sz="1200" dirty="0">
                <a:solidFill>
                  <a:srgbClr val="1B365D"/>
                </a:solidFill>
                <a:latin typeface="Arial" pitchFamily="34" charset="0"/>
                <a:ea typeface="Arial" pitchFamily="34" charset="-122"/>
                <a:cs typeface="Arial" pitchFamily="34" charset="-120"/>
              </a:rPr>
              <a:t>Phase 4: Deep research via NotebookLM + Perplexity</a:t>
            </a:r>
            <a:endParaRPr lang="en-US" sz="1200" dirty="0"/>
          </a:p>
        </p:txBody>
      </p:sp>
      <p:sp>
        <p:nvSpPr>
          <p:cNvPr id="24" name="Shape 22"/>
          <p:cNvSpPr/>
          <p:nvPr/>
        </p:nvSpPr>
        <p:spPr>
          <a:xfrm>
            <a:off x="548640" y="3108960"/>
            <a:ext cx="347472" cy="347472"/>
          </a:xfrm>
          <a:prstGeom prst="ellipse">
            <a:avLst/>
          </a:prstGeom>
          <a:solidFill>
            <a:srgbClr val="1B365D"/>
          </a:solidFill>
          <a:ln/>
        </p:spPr>
      </p:sp>
      <p:sp>
        <p:nvSpPr>
          <p:cNvPr id="25" name="Text 23"/>
          <p:cNvSpPr/>
          <p:nvPr/>
        </p:nvSpPr>
        <p:spPr>
          <a:xfrm>
            <a:off x="548640" y="3108960"/>
            <a:ext cx="347472"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6" name="Shape 24"/>
          <p:cNvSpPr/>
          <p:nvPr/>
        </p:nvSpPr>
        <p:spPr>
          <a:xfrm>
            <a:off x="722376" y="3456432"/>
            <a:ext cx="0" cy="155448"/>
          </a:xfrm>
          <a:prstGeom prst="line">
            <a:avLst/>
          </a:prstGeom>
          <a:noFill/>
          <a:ln w="19050">
            <a:solidFill>
              <a:srgbClr val="C4A35A"/>
            </a:solidFill>
            <a:prstDash val="solid"/>
          </a:ln>
        </p:spPr>
      </p:sp>
      <p:sp>
        <p:nvSpPr>
          <p:cNvPr id="27" name="Text 25"/>
          <p:cNvSpPr/>
          <p:nvPr/>
        </p:nvSpPr>
        <p:spPr>
          <a:xfrm>
            <a:off x="1051560" y="3063240"/>
            <a:ext cx="1005840" cy="41148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Feb 8-9</a:t>
            </a:r>
            <a:endParaRPr lang="en-US" sz="1100" dirty="0"/>
          </a:p>
        </p:txBody>
      </p:sp>
      <p:sp>
        <p:nvSpPr>
          <p:cNvPr id="28" name="Text 26"/>
          <p:cNvSpPr/>
          <p:nvPr/>
        </p:nvSpPr>
        <p:spPr>
          <a:xfrm>
            <a:off x="2194560" y="3063240"/>
            <a:ext cx="6492240" cy="411480"/>
          </a:xfrm>
          <a:prstGeom prst="rect">
            <a:avLst/>
          </a:prstGeom>
          <a:noFill/>
          <a:ln/>
        </p:spPr>
        <p:txBody>
          <a:bodyPr wrap="square" rtlCol="0" anchor="ctr"/>
          <a:lstStyle/>
          <a:p>
            <a:pPr indent="0" marL="0">
              <a:buNone/>
            </a:pPr>
            <a:r>
              <a:rPr lang="en-US" sz="1200" dirty="0">
                <a:solidFill>
                  <a:srgbClr val="1B365D"/>
                </a:solidFill>
                <a:latin typeface="Arial" pitchFamily="34" charset="0"/>
                <a:ea typeface="Arial" pitchFamily="34" charset="-122"/>
                <a:cs typeface="Arial" pitchFamily="34" charset="-120"/>
              </a:rPr>
              <a:t>Phase 5: Score concepts, LLM Council, decision gates</a:t>
            </a:r>
            <a:endParaRPr lang="en-US" sz="1200" dirty="0"/>
          </a:p>
        </p:txBody>
      </p:sp>
      <p:sp>
        <p:nvSpPr>
          <p:cNvPr id="29" name="Shape 27"/>
          <p:cNvSpPr/>
          <p:nvPr/>
        </p:nvSpPr>
        <p:spPr>
          <a:xfrm>
            <a:off x="548640" y="3611880"/>
            <a:ext cx="347472" cy="347472"/>
          </a:xfrm>
          <a:prstGeom prst="ellipse">
            <a:avLst/>
          </a:prstGeom>
          <a:solidFill>
            <a:srgbClr val="1B365D"/>
          </a:solidFill>
          <a:ln/>
        </p:spPr>
      </p:sp>
      <p:sp>
        <p:nvSpPr>
          <p:cNvPr id="30" name="Text 28"/>
          <p:cNvSpPr/>
          <p:nvPr/>
        </p:nvSpPr>
        <p:spPr>
          <a:xfrm>
            <a:off x="548640" y="3611880"/>
            <a:ext cx="347472"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1" name="Shape 29"/>
          <p:cNvSpPr/>
          <p:nvPr/>
        </p:nvSpPr>
        <p:spPr>
          <a:xfrm>
            <a:off x="722376" y="3959352"/>
            <a:ext cx="0" cy="155448"/>
          </a:xfrm>
          <a:prstGeom prst="line">
            <a:avLst/>
          </a:prstGeom>
          <a:noFill/>
          <a:ln w="19050">
            <a:solidFill>
              <a:srgbClr val="C4A35A"/>
            </a:solidFill>
            <a:prstDash val="solid"/>
          </a:ln>
        </p:spPr>
      </p:sp>
      <p:sp>
        <p:nvSpPr>
          <p:cNvPr id="32" name="Text 30"/>
          <p:cNvSpPr/>
          <p:nvPr/>
        </p:nvSpPr>
        <p:spPr>
          <a:xfrm>
            <a:off x="1051560" y="3566160"/>
            <a:ext cx="1005840" cy="41148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Feb 9</a:t>
            </a:r>
            <a:endParaRPr lang="en-US" sz="1100" dirty="0"/>
          </a:p>
        </p:txBody>
      </p:sp>
      <p:sp>
        <p:nvSpPr>
          <p:cNvPr id="33" name="Text 31"/>
          <p:cNvSpPr/>
          <p:nvPr/>
        </p:nvSpPr>
        <p:spPr>
          <a:xfrm>
            <a:off x="2194560" y="3566160"/>
            <a:ext cx="6492240" cy="411480"/>
          </a:xfrm>
          <a:prstGeom prst="rect">
            <a:avLst/>
          </a:prstGeom>
          <a:noFill/>
          <a:ln/>
        </p:spPr>
        <p:txBody>
          <a:bodyPr wrap="square" rtlCol="0" anchor="ctr"/>
          <a:lstStyle/>
          <a:p>
            <a:pPr indent="0" marL="0">
              <a:buNone/>
            </a:pPr>
            <a:r>
              <a:rPr lang="en-US" sz="1200" dirty="0">
                <a:solidFill>
                  <a:srgbClr val="1B365D"/>
                </a:solidFill>
                <a:latin typeface="Arial" pitchFamily="34" charset="0"/>
                <a:ea typeface="Arial" pitchFamily="34" charset="-122"/>
                <a:cs typeface="Arial" pitchFamily="34" charset="-120"/>
              </a:rPr>
              <a:t>Phase 6: SCAMPER, morphological analysis, Kano classification</a:t>
            </a:r>
            <a:endParaRPr lang="en-US" sz="1200" dirty="0"/>
          </a:p>
        </p:txBody>
      </p:sp>
      <p:sp>
        <p:nvSpPr>
          <p:cNvPr id="34" name="Shape 32"/>
          <p:cNvSpPr/>
          <p:nvPr/>
        </p:nvSpPr>
        <p:spPr>
          <a:xfrm>
            <a:off x="548640" y="4114800"/>
            <a:ext cx="347472" cy="347472"/>
          </a:xfrm>
          <a:prstGeom prst="ellipse">
            <a:avLst/>
          </a:prstGeom>
          <a:solidFill>
            <a:srgbClr val="1B365D"/>
          </a:solidFill>
          <a:ln/>
        </p:spPr>
      </p:sp>
      <p:sp>
        <p:nvSpPr>
          <p:cNvPr id="35" name="Text 33"/>
          <p:cNvSpPr/>
          <p:nvPr/>
        </p:nvSpPr>
        <p:spPr>
          <a:xfrm>
            <a:off x="548640" y="4114800"/>
            <a:ext cx="347472"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36" name="Text 34"/>
          <p:cNvSpPr/>
          <p:nvPr/>
        </p:nvSpPr>
        <p:spPr>
          <a:xfrm>
            <a:off x="1051560" y="4069080"/>
            <a:ext cx="1005840" cy="411480"/>
          </a:xfrm>
          <a:prstGeom prst="rect">
            <a:avLst/>
          </a:prstGeom>
          <a:noFill/>
          <a:ln/>
        </p:spPr>
        <p:txBody>
          <a:bodyPr wrap="square" rtlCol="0" anchor="ctr"/>
          <a:lstStyle/>
          <a:p>
            <a:pPr indent="0" marL="0">
              <a:buNone/>
            </a:pPr>
            <a:r>
              <a:rPr lang="en-US" sz="1100" b="1" dirty="0">
                <a:solidFill>
                  <a:srgbClr val="C4A35A"/>
                </a:solidFill>
                <a:latin typeface="Arial" pitchFamily="34" charset="0"/>
                <a:ea typeface="Arial" pitchFamily="34" charset="-122"/>
                <a:cs typeface="Arial" pitchFamily="34" charset="-120"/>
              </a:rPr>
              <a:t>Feb 9-10</a:t>
            </a:r>
            <a:endParaRPr lang="en-US" sz="1100" dirty="0"/>
          </a:p>
        </p:txBody>
      </p:sp>
      <p:sp>
        <p:nvSpPr>
          <p:cNvPr id="37" name="Text 35"/>
          <p:cNvSpPr/>
          <p:nvPr/>
        </p:nvSpPr>
        <p:spPr>
          <a:xfrm>
            <a:off x="2194560" y="4069080"/>
            <a:ext cx="6492240" cy="411480"/>
          </a:xfrm>
          <a:prstGeom prst="rect">
            <a:avLst/>
          </a:prstGeom>
          <a:noFill/>
          <a:ln/>
        </p:spPr>
        <p:txBody>
          <a:bodyPr wrap="square" rtlCol="0" anchor="ctr"/>
          <a:lstStyle/>
          <a:p>
            <a:pPr indent="0" marL="0">
              <a:buNone/>
            </a:pPr>
            <a:r>
              <a:rPr lang="en-US" sz="1200" dirty="0">
                <a:solidFill>
                  <a:srgbClr val="1B365D"/>
                </a:solidFill>
                <a:latin typeface="Arial" pitchFamily="34" charset="0"/>
                <a:ea typeface="Arial" pitchFamily="34" charset="-122"/>
                <a:cs typeface="Arial" pitchFamily="34" charset="-120"/>
              </a:rPr>
              <a:t>Phase 7: Generate PRD (Word + PDF + Markdown) &amp; presentation</a:t>
            </a:r>
            <a:endParaRPr lang="en-US" sz="1200" dirty="0"/>
          </a:p>
        </p:txBody>
      </p:sp>
      <p:sp>
        <p:nvSpPr>
          <p:cNvPr id="38" name="Shape 36"/>
          <p:cNvSpPr/>
          <p:nvPr/>
        </p:nvSpPr>
        <p:spPr>
          <a:xfrm>
            <a:off x="457200" y="4572000"/>
            <a:ext cx="8229600" cy="36576"/>
          </a:xfrm>
          <a:prstGeom prst="rect">
            <a:avLst/>
          </a:prstGeom>
          <a:solidFill>
            <a:srgbClr val="C4A35A"/>
          </a:solidFill>
          <a:ln/>
        </p:spPr>
      </p:sp>
      <p:sp>
        <p:nvSpPr>
          <p:cNvPr id="39" name="Text 37"/>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A35A"/>
          </a:solidFill>
          <a:ln/>
        </p:spPr>
      </p:sp>
      <p:sp>
        <p:nvSpPr>
          <p:cNvPr id="3" name="Text 1"/>
          <p:cNvSpPr/>
          <p:nvPr/>
        </p:nvSpPr>
        <p:spPr>
          <a:xfrm>
            <a:off x="457200" y="365760"/>
            <a:ext cx="8229600" cy="64008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Get Started Now</a:t>
            </a:r>
            <a:endParaRPr lang="en-US" sz="3800" dirty="0"/>
          </a:p>
        </p:txBody>
      </p:sp>
      <p:sp>
        <p:nvSpPr>
          <p:cNvPr id="4" name="Shape 2"/>
          <p:cNvSpPr/>
          <p:nvPr/>
        </p:nvSpPr>
        <p:spPr>
          <a:xfrm>
            <a:off x="640080" y="1335024"/>
            <a:ext cx="365760" cy="365760"/>
          </a:xfrm>
          <a:prstGeom prst="ellipse">
            <a:avLst/>
          </a:prstGeom>
          <a:solidFill>
            <a:srgbClr val="C4A35A"/>
          </a:solidFill>
          <a:ln/>
        </p:spPr>
      </p:sp>
      <p:sp>
        <p:nvSpPr>
          <p:cNvPr id="5" name="Text 3"/>
          <p:cNvSpPr/>
          <p:nvPr/>
        </p:nvSpPr>
        <p:spPr>
          <a:xfrm>
            <a:off x="640080" y="1335024"/>
            <a:ext cx="365760" cy="365760"/>
          </a:xfrm>
          <a:prstGeom prst="rect">
            <a:avLst/>
          </a:prstGeom>
          <a:noFill/>
          <a:ln/>
        </p:spPr>
        <p:txBody>
          <a:bodyPr wrap="square" rtlCol="0" anchor="ctr"/>
          <a:lstStyle/>
          <a:p>
            <a:pPr algn="ctr" indent="0" marL="0">
              <a:buNone/>
            </a:pPr>
            <a:r>
              <a:rPr lang="en-US" sz="1400" b="1" dirty="0">
                <a:solidFill>
                  <a:srgbClr val="1B365D"/>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1188720" y="1280160"/>
            <a:ext cx="7498080" cy="475488"/>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Watch the setup video (Canvas → Week 5 → AI Pipeline Setup)</a:t>
            </a:r>
            <a:endParaRPr lang="en-US" sz="1500" dirty="0"/>
          </a:p>
        </p:txBody>
      </p:sp>
      <p:sp>
        <p:nvSpPr>
          <p:cNvPr id="7" name="Shape 5"/>
          <p:cNvSpPr/>
          <p:nvPr/>
        </p:nvSpPr>
        <p:spPr>
          <a:xfrm>
            <a:off x="640080" y="1901952"/>
            <a:ext cx="365760" cy="365760"/>
          </a:xfrm>
          <a:prstGeom prst="ellipse">
            <a:avLst/>
          </a:prstGeom>
          <a:solidFill>
            <a:srgbClr val="C4A35A"/>
          </a:solidFill>
          <a:ln/>
        </p:spPr>
      </p:sp>
      <p:sp>
        <p:nvSpPr>
          <p:cNvPr id="8" name="Text 6"/>
          <p:cNvSpPr/>
          <p:nvPr/>
        </p:nvSpPr>
        <p:spPr>
          <a:xfrm>
            <a:off x="640080" y="1901952"/>
            <a:ext cx="365760" cy="365760"/>
          </a:xfrm>
          <a:prstGeom prst="rect">
            <a:avLst/>
          </a:prstGeom>
          <a:noFill/>
          <a:ln/>
        </p:spPr>
        <p:txBody>
          <a:bodyPr wrap="square" rtlCol="0" anchor="ctr"/>
          <a:lstStyle/>
          <a:p>
            <a:pPr algn="ctr" indent="0" marL="0">
              <a:buNone/>
            </a:pPr>
            <a:r>
              <a:rPr lang="en-US" sz="1400" b="1" dirty="0">
                <a:solidFill>
                  <a:srgbClr val="1B365D"/>
                </a:solidFill>
                <a:latin typeface="Arial" pitchFamily="34" charset="0"/>
                <a:ea typeface="Arial" pitchFamily="34" charset="-122"/>
                <a:cs typeface="Arial" pitchFamily="34" charset="-120"/>
              </a:rPr>
              <a:t>2</a:t>
            </a:r>
            <a:endParaRPr lang="en-US" sz="1400" dirty="0"/>
          </a:p>
        </p:txBody>
      </p:sp>
      <p:sp>
        <p:nvSpPr>
          <p:cNvPr id="9" name="Text 7"/>
          <p:cNvSpPr/>
          <p:nvPr/>
        </p:nvSpPr>
        <p:spPr>
          <a:xfrm>
            <a:off x="1188720" y="1847088"/>
            <a:ext cx="7498080" cy="475488"/>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Set up a Claude Project — load the Orchestrator Skill into Project Instructions</a:t>
            </a:r>
            <a:endParaRPr lang="en-US" sz="1500" dirty="0"/>
          </a:p>
        </p:txBody>
      </p:sp>
      <p:sp>
        <p:nvSpPr>
          <p:cNvPr id="10" name="Shape 8"/>
          <p:cNvSpPr/>
          <p:nvPr/>
        </p:nvSpPr>
        <p:spPr>
          <a:xfrm>
            <a:off x="640080" y="2468880"/>
            <a:ext cx="365760" cy="365760"/>
          </a:xfrm>
          <a:prstGeom prst="ellipse">
            <a:avLst/>
          </a:prstGeom>
          <a:solidFill>
            <a:srgbClr val="C4A35A"/>
          </a:solidFill>
          <a:ln/>
        </p:spPr>
      </p:sp>
      <p:sp>
        <p:nvSpPr>
          <p:cNvPr id="11" name="Text 9"/>
          <p:cNvSpPr/>
          <p:nvPr/>
        </p:nvSpPr>
        <p:spPr>
          <a:xfrm>
            <a:off x="640080" y="2468880"/>
            <a:ext cx="365760" cy="365760"/>
          </a:xfrm>
          <a:prstGeom prst="rect">
            <a:avLst/>
          </a:prstGeom>
          <a:noFill/>
          <a:ln/>
        </p:spPr>
        <p:txBody>
          <a:bodyPr wrap="square" rtlCol="0" anchor="ctr"/>
          <a:lstStyle/>
          <a:p>
            <a:pPr algn="ctr" indent="0" marL="0">
              <a:buNone/>
            </a:pPr>
            <a:r>
              <a:rPr lang="en-US" sz="1400" b="1" dirty="0">
                <a:solidFill>
                  <a:srgbClr val="1B365D"/>
                </a:solidFill>
                <a:latin typeface="Arial" pitchFamily="34" charset="0"/>
                <a:ea typeface="Arial" pitchFamily="34" charset="-122"/>
                <a:cs typeface="Arial" pitchFamily="34" charset="-120"/>
              </a:rPr>
              <a:t>3</a:t>
            </a:r>
            <a:endParaRPr lang="en-US" sz="1400" dirty="0"/>
          </a:p>
        </p:txBody>
      </p:sp>
      <p:sp>
        <p:nvSpPr>
          <p:cNvPr id="12" name="Text 10"/>
          <p:cNvSpPr/>
          <p:nvPr/>
        </p:nvSpPr>
        <p:spPr>
          <a:xfrm>
            <a:off x="1188720" y="2414016"/>
            <a:ext cx="7498080" cy="475488"/>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Load all Phase Skills into Project Knowledge</a:t>
            </a:r>
            <a:endParaRPr lang="en-US" sz="1500" dirty="0"/>
          </a:p>
        </p:txBody>
      </p:sp>
      <p:sp>
        <p:nvSpPr>
          <p:cNvPr id="13" name="Shape 11"/>
          <p:cNvSpPr/>
          <p:nvPr/>
        </p:nvSpPr>
        <p:spPr>
          <a:xfrm>
            <a:off x="640080" y="3035808"/>
            <a:ext cx="365760" cy="365760"/>
          </a:xfrm>
          <a:prstGeom prst="ellipse">
            <a:avLst/>
          </a:prstGeom>
          <a:solidFill>
            <a:srgbClr val="C4A35A"/>
          </a:solidFill>
          <a:ln/>
        </p:spPr>
      </p:sp>
      <p:sp>
        <p:nvSpPr>
          <p:cNvPr id="14" name="Text 12"/>
          <p:cNvSpPr/>
          <p:nvPr/>
        </p:nvSpPr>
        <p:spPr>
          <a:xfrm>
            <a:off x="640080" y="3035808"/>
            <a:ext cx="365760" cy="365760"/>
          </a:xfrm>
          <a:prstGeom prst="rect">
            <a:avLst/>
          </a:prstGeom>
          <a:noFill/>
          <a:ln/>
        </p:spPr>
        <p:txBody>
          <a:bodyPr wrap="square" rtlCol="0" anchor="ctr"/>
          <a:lstStyle/>
          <a:p>
            <a:pPr algn="ctr" indent="0" marL="0">
              <a:buNone/>
            </a:pPr>
            <a:r>
              <a:rPr lang="en-US" sz="1400" b="1" dirty="0">
                <a:solidFill>
                  <a:srgbClr val="1B365D"/>
                </a:solidFill>
                <a:latin typeface="Arial" pitchFamily="34" charset="0"/>
                <a:ea typeface="Arial" pitchFamily="34" charset="-122"/>
                <a:cs typeface="Arial" pitchFamily="34" charset="-120"/>
              </a:rPr>
              <a:t>4</a:t>
            </a:r>
            <a:endParaRPr lang="en-US" sz="1400" dirty="0"/>
          </a:p>
        </p:txBody>
      </p:sp>
      <p:sp>
        <p:nvSpPr>
          <p:cNvPr id="15" name="Text 13"/>
          <p:cNvSpPr/>
          <p:nvPr/>
        </p:nvSpPr>
        <p:spPr>
          <a:xfrm>
            <a:off x="1188720" y="2980944"/>
            <a:ext cx="7498080" cy="475488"/>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Open a new chat: "Begin Phase 1 — Company Definition &amp; Strategic Analysis"</a:t>
            </a:r>
            <a:endParaRPr lang="en-US" sz="1500" dirty="0"/>
          </a:p>
        </p:txBody>
      </p:sp>
      <p:sp>
        <p:nvSpPr>
          <p:cNvPr id="16" name="Shape 14"/>
          <p:cNvSpPr/>
          <p:nvPr/>
        </p:nvSpPr>
        <p:spPr>
          <a:xfrm>
            <a:off x="640080" y="3602736"/>
            <a:ext cx="365760" cy="365760"/>
          </a:xfrm>
          <a:prstGeom prst="ellipse">
            <a:avLst/>
          </a:prstGeom>
          <a:solidFill>
            <a:srgbClr val="C4A35A"/>
          </a:solidFill>
          <a:ln/>
        </p:spPr>
      </p:sp>
      <p:sp>
        <p:nvSpPr>
          <p:cNvPr id="17" name="Text 15"/>
          <p:cNvSpPr/>
          <p:nvPr/>
        </p:nvSpPr>
        <p:spPr>
          <a:xfrm>
            <a:off x="640080" y="3602736"/>
            <a:ext cx="365760" cy="365760"/>
          </a:xfrm>
          <a:prstGeom prst="rect">
            <a:avLst/>
          </a:prstGeom>
          <a:noFill/>
          <a:ln/>
        </p:spPr>
        <p:txBody>
          <a:bodyPr wrap="square" rtlCol="0" anchor="ctr"/>
          <a:lstStyle/>
          <a:p>
            <a:pPr algn="ctr" indent="0" marL="0">
              <a:buNone/>
            </a:pPr>
            <a:r>
              <a:rPr lang="en-US" sz="1400" b="1" dirty="0">
                <a:solidFill>
                  <a:srgbClr val="1B365D"/>
                </a:solidFill>
                <a:latin typeface="Arial" pitchFamily="34" charset="0"/>
                <a:ea typeface="Arial" pitchFamily="34" charset="-122"/>
                <a:cs typeface="Arial" pitchFamily="34" charset="-120"/>
              </a:rPr>
              <a:t>5</a:t>
            </a:r>
            <a:endParaRPr lang="en-US" sz="1400" dirty="0"/>
          </a:p>
        </p:txBody>
      </p:sp>
      <p:sp>
        <p:nvSpPr>
          <p:cNvPr id="18" name="Text 16"/>
          <p:cNvSpPr/>
          <p:nvPr/>
        </p:nvSpPr>
        <p:spPr>
          <a:xfrm>
            <a:off x="1188720" y="3547872"/>
            <a:ext cx="7498080" cy="475488"/>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Answer the interview honestly — everything downstream depends on Phase 1</a:t>
            </a:r>
            <a:endParaRPr lang="en-US" sz="1500" dirty="0"/>
          </a:p>
        </p:txBody>
      </p:sp>
      <p:sp>
        <p:nvSpPr>
          <p:cNvPr id="19" name="Shape 17"/>
          <p:cNvSpPr/>
          <p:nvPr/>
        </p:nvSpPr>
        <p:spPr>
          <a:xfrm>
            <a:off x="640080" y="4169664"/>
            <a:ext cx="365760" cy="365760"/>
          </a:xfrm>
          <a:prstGeom prst="ellipse">
            <a:avLst/>
          </a:prstGeom>
          <a:solidFill>
            <a:srgbClr val="C4A35A"/>
          </a:solidFill>
          <a:ln/>
        </p:spPr>
      </p:sp>
      <p:sp>
        <p:nvSpPr>
          <p:cNvPr id="20" name="Text 18"/>
          <p:cNvSpPr/>
          <p:nvPr/>
        </p:nvSpPr>
        <p:spPr>
          <a:xfrm>
            <a:off x="640080" y="4169664"/>
            <a:ext cx="365760" cy="365760"/>
          </a:xfrm>
          <a:prstGeom prst="rect">
            <a:avLst/>
          </a:prstGeom>
          <a:noFill/>
          <a:ln/>
        </p:spPr>
        <p:txBody>
          <a:bodyPr wrap="square" rtlCol="0" anchor="ctr"/>
          <a:lstStyle/>
          <a:p>
            <a:pPr algn="ctr" indent="0" marL="0">
              <a:buNone/>
            </a:pPr>
            <a:r>
              <a:rPr lang="en-US" sz="1400" b="1" dirty="0">
                <a:solidFill>
                  <a:srgbClr val="1B365D"/>
                </a:solidFill>
                <a:latin typeface="Arial" pitchFamily="34" charset="0"/>
                <a:ea typeface="Arial" pitchFamily="34" charset="-122"/>
                <a:cs typeface="Arial" pitchFamily="34" charset="-120"/>
              </a:rPr>
              <a:t>6</a:t>
            </a:r>
            <a:endParaRPr lang="en-US" sz="1400" dirty="0"/>
          </a:p>
        </p:txBody>
      </p:sp>
      <p:sp>
        <p:nvSpPr>
          <p:cNvPr id="21" name="Text 19"/>
          <p:cNvSpPr/>
          <p:nvPr/>
        </p:nvSpPr>
        <p:spPr>
          <a:xfrm>
            <a:off x="1188720" y="4114800"/>
            <a:ext cx="7498080" cy="475488"/>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Save your Strategic Brief artifact — you'll need it for every subsequent phase</a:t>
            </a:r>
            <a:endParaRPr lang="en-US" sz="1500" dirty="0"/>
          </a:p>
        </p:txBody>
      </p:sp>
      <p:sp>
        <p:nvSpPr>
          <p:cNvPr id="22" name="Shape 20"/>
          <p:cNvSpPr/>
          <p:nvPr/>
        </p:nvSpPr>
        <p:spPr>
          <a:xfrm>
            <a:off x="0" y="4960620"/>
            <a:ext cx="9144000" cy="182880"/>
          </a:xfrm>
          <a:prstGeom prst="rect">
            <a:avLst/>
          </a:prstGeom>
          <a:solidFill>
            <a:srgbClr val="C4A35A"/>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400" b="1" dirty="0">
                <a:solidFill>
                  <a:srgbClr val="1B365D"/>
                </a:solidFill>
                <a:latin typeface="Georgia" pitchFamily="34" charset="0"/>
                <a:ea typeface="Georgia" pitchFamily="34" charset="-122"/>
                <a:cs typeface="Georgia" pitchFamily="34" charset="-120"/>
              </a:rPr>
              <a:t>Pro Tips for Success</a:t>
            </a:r>
            <a:endParaRPr lang="en-US" sz="3400" dirty="0"/>
          </a:p>
        </p:txBody>
      </p:sp>
      <p:sp>
        <p:nvSpPr>
          <p:cNvPr id="3" name="Shape 1"/>
          <p:cNvSpPr/>
          <p:nvPr/>
        </p:nvSpPr>
        <p:spPr>
          <a:xfrm>
            <a:off x="457200" y="960120"/>
            <a:ext cx="8229600" cy="3703320"/>
          </a:xfrm>
          <a:prstGeom prst="rect">
            <a:avLst/>
          </a:prstGeom>
          <a:solidFill>
            <a:srgbClr val="C4A35A"/>
          </a:solidFill>
          <a:ln/>
        </p:spPr>
      </p:sp>
      <p:sp>
        <p:nvSpPr>
          <p:cNvPr id="4" name="Text 2"/>
          <p:cNvSpPr/>
          <p:nvPr/>
        </p:nvSpPr>
        <p:spPr>
          <a:xfrm>
            <a:off x="731520" y="1097280"/>
            <a:ext cx="7680960" cy="22860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Divide and conquer</a:t>
            </a:r>
            <a:endParaRPr lang="en-US" sz="1400" dirty="0"/>
          </a:p>
        </p:txBody>
      </p:sp>
      <p:sp>
        <p:nvSpPr>
          <p:cNvPr id="5" name="Text 3"/>
          <p:cNvSpPr/>
          <p:nvPr/>
        </p:nvSpPr>
        <p:spPr>
          <a:xfrm>
            <a:off x="731520" y="1344168"/>
            <a:ext cx="7680960" cy="274320"/>
          </a:xfrm>
          <a:prstGeom prst="rect">
            <a:avLst/>
          </a:prstGeom>
          <a:noFill/>
          <a:ln/>
        </p:spPr>
        <p:txBody>
          <a:bodyPr wrap="square" rtlCol="0" anchor="ctr"/>
          <a:lstStyle/>
          <a:p>
            <a:pPr indent="0" marL="0">
              <a:buNone/>
            </a:pPr>
            <a:r>
              <a:rPr lang="en-US" sz="1100" dirty="0">
                <a:solidFill>
                  <a:srgbClr val="0F2340"/>
                </a:solidFill>
                <a:latin typeface="Arial" pitchFamily="34" charset="0"/>
                <a:ea typeface="Arial" pitchFamily="34" charset="-122"/>
                <a:cs typeface="Arial" pitchFamily="34" charset="-120"/>
              </a:rPr>
              <a:t>Assign team members to different platforms in Phase 3. One on Reddit, one on YouTube, etc.</a:t>
            </a:r>
            <a:endParaRPr lang="en-US" sz="1100" dirty="0"/>
          </a:p>
        </p:txBody>
      </p:sp>
      <p:sp>
        <p:nvSpPr>
          <p:cNvPr id="6" name="Text 4"/>
          <p:cNvSpPr/>
          <p:nvPr/>
        </p:nvSpPr>
        <p:spPr>
          <a:xfrm>
            <a:off x="731520" y="1682496"/>
            <a:ext cx="7680960" cy="22860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Follow EVERY follow-up question</a:t>
            </a:r>
            <a:endParaRPr lang="en-US" sz="1400" dirty="0"/>
          </a:p>
        </p:txBody>
      </p:sp>
      <p:sp>
        <p:nvSpPr>
          <p:cNvPr id="7" name="Text 5"/>
          <p:cNvSpPr/>
          <p:nvPr/>
        </p:nvSpPr>
        <p:spPr>
          <a:xfrm>
            <a:off x="731520" y="1929384"/>
            <a:ext cx="7680960" cy="274320"/>
          </a:xfrm>
          <a:prstGeom prst="rect">
            <a:avLst/>
          </a:prstGeom>
          <a:noFill/>
          <a:ln/>
        </p:spPr>
        <p:txBody>
          <a:bodyPr wrap="square" rtlCol="0" anchor="ctr"/>
          <a:lstStyle/>
          <a:p>
            <a:pPr indent="0" marL="0">
              <a:buNone/>
            </a:pPr>
            <a:r>
              <a:rPr lang="en-US" sz="1100" dirty="0">
                <a:solidFill>
                  <a:srgbClr val="0F2340"/>
                </a:solidFill>
                <a:latin typeface="Arial" pitchFamily="34" charset="0"/>
                <a:ea typeface="Arial" pitchFamily="34" charset="-122"/>
                <a:cs typeface="Arial" pitchFamily="34" charset="-120"/>
              </a:rPr>
              <a:t>In NotebookLM and Perplexity, the follow-ups dig deeper. This is where the best evidence hides.</a:t>
            </a:r>
            <a:endParaRPr lang="en-US" sz="1100" dirty="0"/>
          </a:p>
        </p:txBody>
      </p:sp>
      <p:sp>
        <p:nvSpPr>
          <p:cNvPr id="8" name="Text 6"/>
          <p:cNvSpPr/>
          <p:nvPr/>
        </p:nvSpPr>
        <p:spPr>
          <a:xfrm>
            <a:off x="731520" y="2267712"/>
            <a:ext cx="7680960" cy="22860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Don't fall in love with your first idea</a:t>
            </a:r>
            <a:endParaRPr lang="en-US" sz="1400" dirty="0"/>
          </a:p>
        </p:txBody>
      </p:sp>
      <p:sp>
        <p:nvSpPr>
          <p:cNvPr id="9" name="Text 7"/>
          <p:cNvSpPr/>
          <p:nvPr/>
        </p:nvSpPr>
        <p:spPr>
          <a:xfrm>
            <a:off x="731520" y="2514600"/>
            <a:ext cx="7680960" cy="274320"/>
          </a:xfrm>
          <a:prstGeom prst="rect">
            <a:avLst/>
          </a:prstGeom>
          <a:noFill/>
          <a:ln/>
        </p:spPr>
        <p:txBody>
          <a:bodyPr wrap="square" rtlCol="0" anchor="ctr"/>
          <a:lstStyle/>
          <a:p>
            <a:pPr indent="0" marL="0">
              <a:buNone/>
            </a:pPr>
            <a:r>
              <a:rPr lang="en-US" sz="1100" dirty="0">
                <a:solidFill>
                  <a:srgbClr val="0F2340"/>
                </a:solidFill>
                <a:latin typeface="Arial" pitchFamily="34" charset="0"/>
                <a:ea typeface="Arial" pitchFamily="34" charset="-122"/>
                <a:cs typeface="Arial" pitchFamily="34" charset="-120"/>
              </a:rPr>
              <a:t>If your favorite concept scores 87%, it's dead. Trust the process. The rubric prevents confirmation bias.</a:t>
            </a:r>
            <a:endParaRPr lang="en-US" sz="1100" dirty="0"/>
          </a:p>
        </p:txBody>
      </p:sp>
      <p:sp>
        <p:nvSpPr>
          <p:cNvPr id="10" name="Text 8"/>
          <p:cNvSpPr/>
          <p:nvPr/>
        </p:nvSpPr>
        <p:spPr>
          <a:xfrm>
            <a:off x="731520" y="2852928"/>
            <a:ext cx="7680960" cy="22860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Save artifacts after every phase</a:t>
            </a:r>
            <a:endParaRPr lang="en-US" sz="1400" dirty="0"/>
          </a:p>
        </p:txBody>
      </p:sp>
      <p:sp>
        <p:nvSpPr>
          <p:cNvPr id="11" name="Text 9"/>
          <p:cNvSpPr/>
          <p:nvPr/>
        </p:nvSpPr>
        <p:spPr>
          <a:xfrm>
            <a:off x="731520" y="3099816"/>
            <a:ext cx="7680960" cy="274320"/>
          </a:xfrm>
          <a:prstGeom prst="rect">
            <a:avLst/>
          </a:prstGeom>
          <a:noFill/>
          <a:ln/>
        </p:spPr>
        <p:txBody>
          <a:bodyPr wrap="square" rtlCol="0" anchor="ctr"/>
          <a:lstStyle/>
          <a:p>
            <a:pPr indent="0" marL="0">
              <a:buNone/>
            </a:pPr>
            <a:r>
              <a:rPr lang="en-US" sz="1100" dirty="0">
                <a:solidFill>
                  <a:srgbClr val="0F2340"/>
                </a:solidFill>
                <a:latin typeface="Arial" pitchFamily="34" charset="0"/>
                <a:ea typeface="Arial" pitchFamily="34" charset="-122"/>
                <a:cs typeface="Arial" pitchFamily="34" charset="-120"/>
              </a:rPr>
              <a:t>In Claude.ai, copy artifacts and paste when starting the next phase. In Claude Code, they persist.</a:t>
            </a:r>
            <a:endParaRPr lang="en-US" sz="1100" dirty="0"/>
          </a:p>
        </p:txBody>
      </p:sp>
      <p:sp>
        <p:nvSpPr>
          <p:cNvPr id="12" name="Text 10"/>
          <p:cNvSpPr/>
          <p:nvPr/>
        </p:nvSpPr>
        <p:spPr>
          <a:xfrm>
            <a:off x="731520" y="3438144"/>
            <a:ext cx="7680960" cy="22860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Use the LLM Council honestly</a:t>
            </a:r>
            <a:endParaRPr lang="en-US" sz="1400" dirty="0"/>
          </a:p>
        </p:txBody>
      </p:sp>
      <p:sp>
        <p:nvSpPr>
          <p:cNvPr id="13" name="Text 11"/>
          <p:cNvSpPr/>
          <p:nvPr/>
        </p:nvSpPr>
        <p:spPr>
          <a:xfrm>
            <a:off x="731520" y="3685032"/>
            <a:ext cx="7680960" cy="274320"/>
          </a:xfrm>
          <a:prstGeom prst="rect">
            <a:avLst/>
          </a:prstGeom>
          <a:noFill/>
          <a:ln/>
        </p:spPr>
        <p:txBody>
          <a:bodyPr wrap="square" rtlCol="0" anchor="ctr"/>
          <a:lstStyle/>
          <a:p>
            <a:pPr indent="0" marL="0">
              <a:buNone/>
            </a:pPr>
            <a:r>
              <a:rPr lang="en-US" sz="1100" dirty="0">
                <a:solidFill>
                  <a:srgbClr val="0F2340"/>
                </a:solidFill>
                <a:latin typeface="Arial" pitchFamily="34" charset="0"/>
                <a:ea typeface="Arial" pitchFamily="34" charset="-122"/>
                <a:cs typeface="Arial" pitchFamily="34" charset="-120"/>
              </a:rPr>
              <a:t>When Claude and Gemini disagree, investigate why. Don't just pick the answer you prefer.</a:t>
            </a:r>
            <a:endParaRPr lang="en-US" sz="1100" dirty="0"/>
          </a:p>
        </p:txBody>
      </p:sp>
      <p:sp>
        <p:nvSpPr>
          <p:cNvPr id="14" name="Text 12"/>
          <p:cNvSpPr/>
          <p:nvPr/>
        </p:nvSpPr>
        <p:spPr>
          <a:xfrm>
            <a:off x="731520" y="4023360"/>
            <a:ext cx="7680960" cy="228600"/>
          </a:xfrm>
          <a:prstGeom prst="rect">
            <a:avLst/>
          </a:prstGeom>
          <a:noFill/>
          <a:ln/>
        </p:spPr>
        <p:txBody>
          <a:bodyPr wrap="square" rtlCol="0" anchor="ctr"/>
          <a:lstStyle/>
          <a:p>
            <a:pPr indent="0" marL="0">
              <a:buNone/>
            </a:pPr>
            <a:r>
              <a:rPr lang="en-US" sz="1400" b="1" dirty="0">
                <a:solidFill>
                  <a:srgbClr val="1B365D"/>
                </a:solidFill>
                <a:latin typeface="Arial" pitchFamily="34" charset="0"/>
                <a:ea typeface="Arial" pitchFamily="34" charset="-122"/>
                <a:cs typeface="Arial" pitchFamily="34" charset="-120"/>
              </a:rPr>
              <a:t>Start Phase 1 today</a:t>
            </a:r>
            <a:endParaRPr lang="en-US" sz="1400" dirty="0"/>
          </a:p>
        </p:txBody>
      </p:sp>
      <p:sp>
        <p:nvSpPr>
          <p:cNvPr id="15" name="Text 13"/>
          <p:cNvSpPr/>
          <p:nvPr/>
        </p:nvSpPr>
        <p:spPr>
          <a:xfrm>
            <a:off x="731520" y="4270248"/>
            <a:ext cx="7680960" cy="274320"/>
          </a:xfrm>
          <a:prstGeom prst="rect">
            <a:avLst/>
          </a:prstGeom>
          <a:noFill/>
          <a:ln/>
        </p:spPr>
        <p:txBody>
          <a:bodyPr wrap="square" rtlCol="0" anchor="ctr"/>
          <a:lstStyle/>
          <a:p>
            <a:pPr indent="0" marL="0">
              <a:buNone/>
            </a:pPr>
            <a:r>
              <a:rPr lang="en-US" sz="1100" dirty="0">
                <a:solidFill>
                  <a:srgbClr val="0F2340"/>
                </a:solidFill>
                <a:latin typeface="Arial" pitchFamily="34" charset="0"/>
                <a:ea typeface="Arial" pitchFamily="34" charset="-122"/>
                <a:cs typeface="Arial" pitchFamily="34" charset="-120"/>
              </a:rPr>
              <a:t>Seriously. Right after this video. Teams that wait until the weekend will struggle by the 10th.</a:t>
            </a:r>
            <a:endParaRPr lang="en-US" sz="1100" dirty="0"/>
          </a:p>
        </p:txBody>
      </p:sp>
      <p:sp>
        <p:nvSpPr>
          <p:cNvPr id="16" name="Text 14"/>
          <p:cNvSpPr/>
          <p:nvPr/>
        </p:nvSpPr>
        <p:spPr>
          <a:xfrm>
            <a:off x="457200" y="4754880"/>
            <a:ext cx="8229600" cy="274320"/>
          </a:xfrm>
          <a:prstGeom prst="rect">
            <a:avLst/>
          </a:prstGeom>
          <a:noFill/>
          <a:ln/>
        </p:spPr>
        <p:txBody>
          <a:bodyPr wrap="square" rtlCol="0" anchor="ctr"/>
          <a:lstStyle/>
          <a:p>
            <a:pPr algn="l" indent="0" marL="0">
              <a:buNone/>
            </a:pPr>
            <a:r>
              <a:rPr lang="en-US" sz="9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A35A"/>
          </a:solidFill>
          <a:ln/>
        </p:spPr>
      </p:sp>
      <p:sp>
        <p:nvSpPr>
          <p:cNvPr id="3" name="Shape 1"/>
          <p:cNvSpPr/>
          <p:nvPr/>
        </p:nvSpPr>
        <p:spPr>
          <a:xfrm>
            <a:off x="6858000" y="-1371600"/>
            <a:ext cx="4572000" cy="4572000"/>
          </a:xfrm>
          <a:prstGeom prst="ellipse">
            <a:avLst/>
          </a:prstGeom>
          <a:solidFill>
            <a:srgbClr val="1B365D">
              <a:alpha val="0"/>
            </a:srgbClr>
          </a:solidFill>
          <a:ln w="12700">
            <a:solidFill>
              <a:srgbClr val="C4A35A"/>
            </a:solidFill>
            <a:prstDash val="solid"/>
          </a:ln>
        </p:spPr>
      </p:sp>
      <p:sp>
        <p:nvSpPr>
          <p:cNvPr id="4" name="Text 2"/>
          <p:cNvSpPr/>
          <p:nvPr/>
        </p:nvSpPr>
        <p:spPr>
          <a:xfrm>
            <a:off x="457200" y="731520"/>
            <a:ext cx="6400800" cy="64008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Resources &amp; Support</a:t>
            </a:r>
            <a:endParaRPr lang="en-US" sz="3800" dirty="0"/>
          </a:p>
        </p:txBody>
      </p:sp>
      <p:sp>
        <p:nvSpPr>
          <p:cNvPr id="5" name="Shape 3"/>
          <p:cNvSpPr/>
          <p:nvPr/>
        </p:nvSpPr>
        <p:spPr>
          <a:xfrm>
            <a:off x="457200" y="1645920"/>
            <a:ext cx="54864" cy="365760"/>
          </a:xfrm>
          <a:prstGeom prst="rect">
            <a:avLst/>
          </a:prstGeom>
          <a:solidFill>
            <a:srgbClr val="C4A35A"/>
          </a:solidFill>
          <a:ln/>
        </p:spPr>
      </p:sp>
      <p:sp>
        <p:nvSpPr>
          <p:cNvPr id="6" name="Text 4"/>
          <p:cNvSpPr/>
          <p:nvPr/>
        </p:nvSpPr>
        <p:spPr>
          <a:xfrm>
            <a:off x="731520" y="1645920"/>
            <a:ext cx="6400800" cy="365760"/>
          </a:xfrm>
          <a:prstGeom prst="rect">
            <a:avLst/>
          </a:prstGeom>
          <a:noFill/>
          <a:ln/>
        </p:spPr>
        <p:txBody>
          <a:bodyPr wrap="square" rtlCol="0" anchor="ctr"/>
          <a:lstStyle/>
          <a:p>
            <a:pPr indent="0" marL="0">
              <a:buNone/>
            </a:pPr>
            <a:r>
              <a:rPr lang="en-US" sz="1600" dirty="0">
                <a:solidFill>
                  <a:srgbClr val="FFFFFF"/>
                </a:solidFill>
                <a:latin typeface="Arial" pitchFamily="34" charset="0"/>
                <a:ea typeface="Arial" pitchFamily="34" charset="-122"/>
                <a:cs typeface="Arial" pitchFamily="34" charset="-120"/>
              </a:rPr>
              <a:t>Setup Video — Canvas → Week 5 → AI Pipeline Setup</a:t>
            </a:r>
            <a:endParaRPr lang="en-US" sz="1600" dirty="0"/>
          </a:p>
        </p:txBody>
      </p:sp>
      <p:sp>
        <p:nvSpPr>
          <p:cNvPr id="7" name="Shape 5"/>
          <p:cNvSpPr/>
          <p:nvPr/>
        </p:nvSpPr>
        <p:spPr>
          <a:xfrm>
            <a:off x="457200" y="2194560"/>
            <a:ext cx="54864" cy="365760"/>
          </a:xfrm>
          <a:prstGeom prst="rect">
            <a:avLst/>
          </a:prstGeom>
          <a:solidFill>
            <a:srgbClr val="C4A35A"/>
          </a:solidFill>
          <a:ln/>
        </p:spPr>
      </p:sp>
      <p:sp>
        <p:nvSpPr>
          <p:cNvPr id="8" name="Text 6"/>
          <p:cNvSpPr/>
          <p:nvPr/>
        </p:nvSpPr>
        <p:spPr>
          <a:xfrm>
            <a:off x="731520" y="2194560"/>
            <a:ext cx="6400800" cy="365760"/>
          </a:xfrm>
          <a:prstGeom prst="rect">
            <a:avLst/>
          </a:prstGeom>
          <a:noFill/>
          <a:ln/>
        </p:spPr>
        <p:txBody>
          <a:bodyPr wrap="square" rtlCol="0" anchor="ctr"/>
          <a:lstStyle/>
          <a:p>
            <a:pPr indent="0" marL="0">
              <a:buNone/>
            </a:pPr>
            <a:r>
              <a:rPr lang="en-US" sz="1600" dirty="0">
                <a:solidFill>
                  <a:srgbClr val="FFFFFF"/>
                </a:solidFill>
                <a:latin typeface="Arial" pitchFamily="34" charset="0"/>
                <a:ea typeface="Arial" pitchFamily="34" charset="-122"/>
                <a:cs typeface="Arial" pitchFamily="34" charset="-120"/>
              </a:rPr>
              <a:t>Skills Files — Canvas → Week 5 → Download Skill Pack</a:t>
            </a:r>
            <a:endParaRPr lang="en-US" sz="1600" dirty="0"/>
          </a:p>
        </p:txBody>
      </p:sp>
      <p:sp>
        <p:nvSpPr>
          <p:cNvPr id="9" name="Shape 7"/>
          <p:cNvSpPr/>
          <p:nvPr/>
        </p:nvSpPr>
        <p:spPr>
          <a:xfrm>
            <a:off x="457200" y="2743200"/>
            <a:ext cx="54864" cy="365760"/>
          </a:xfrm>
          <a:prstGeom prst="rect">
            <a:avLst/>
          </a:prstGeom>
          <a:solidFill>
            <a:srgbClr val="C4A35A"/>
          </a:solidFill>
          <a:ln/>
        </p:spPr>
      </p:sp>
      <p:sp>
        <p:nvSpPr>
          <p:cNvPr id="10" name="Text 8"/>
          <p:cNvSpPr/>
          <p:nvPr/>
        </p:nvSpPr>
        <p:spPr>
          <a:xfrm>
            <a:off x="731520" y="2743200"/>
            <a:ext cx="6400800" cy="365760"/>
          </a:xfrm>
          <a:prstGeom prst="rect">
            <a:avLst/>
          </a:prstGeom>
          <a:noFill/>
          <a:ln/>
        </p:spPr>
        <p:txBody>
          <a:bodyPr wrap="square" rtlCol="0" anchor="ctr"/>
          <a:lstStyle/>
          <a:p>
            <a:pPr indent="0" marL="0">
              <a:buNone/>
            </a:pPr>
            <a:r>
              <a:rPr lang="en-US" sz="1600" dirty="0">
                <a:solidFill>
                  <a:srgbClr val="FFFFFF"/>
                </a:solidFill>
                <a:latin typeface="Arial" pitchFamily="34" charset="0"/>
                <a:ea typeface="Arial" pitchFamily="34" charset="-122"/>
                <a:cs typeface="Arial" pitchFamily="34" charset="-120"/>
              </a:rPr>
              <a:t>NotebookLM MCP — GitHub link in Canvas</a:t>
            </a:r>
            <a:endParaRPr lang="en-US" sz="1600" dirty="0"/>
          </a:p>
        </p:txBody>
      </p:sp>
      <p:sp>
        <p:nvSpPr>
          <p:cNvPr id="11" name="Shape 9"/>
          <p:cNvSpPr/>
          <p:nvPr/>
        </p:nvSpPr>
        <p:spPr>
          <a:xfrm>
            <a:off x="457200" y="3291840"/>
            <a:ext cx="54864" cy="365760"/>
          </a:xfrm>
          <a:prstGeom prst="rect">
            <a:avLst/>
          </a:prstGeom>
          <a:solidFill>
            <a:srgbClr val="C4A35A"/>
          </a:solidFill>
          <a:ln/>
        </p:spPr>
      </p:sp>
      <p:sp>
        <p:nvSpPr>
          <p:cNvPr id="12" name="Text 10"/>
          <p:cNvSpPr/>
          <p:nvPr/>
        </p:nvSpPr>
        <p:spPr>
          <a:xfrm>
            <a:off x="731520" y="3291840"/>
            <a:ext cx="6400800" cy="365760"/>
          </a:xfrm>
          <a:prstGeom prst="rect">
            <a:avLst/>
          </a:prstGeom>
          <a:noFill/>
          <a:ln/>
        </p:spPr>
        <p:txBody>
          <a:bodyPr wrap="square" rtlCol="0" anchor="ctr"/>
          <a:lstStyle/>
          <a:p>
            <a:pPr indent="0" marL="0">
              <a:buNone/>
            </a:pPr>
            <a:r>
              <a:rPr lang="en-US" sz="1600" dirty="0">
                <a:solidFill>
                  <a:srgbClr val="FFFFFF"/>
                </a:solidFill>
                <a:latin typeface="Arial" pitchFamily="34" charset="0"/>
                <a:ea typeface="Arial" pitchFamily="34" charset="-122"/>
                <a:cs typeface="Arial" pitchFamily="34" charset="-120"/>
              </a:rPr>
              <a:t>Office Hours — Schedule via Canvas for live help</a:t>
            </a:r>
            <a:endParaRPr lang="en-US" sz="1600" dirty="0"/>
          </a:p>
        </p:txBody>
      </p:sp>
      <p:sp>
        <p:nvSpPr>
          <p:cNvPr id="13" name="Shape 11"/>
          <p:cNvSpPr/>
          <p:nvPr/>
        </p:nvSpPr>
        <p:spPr>
          <a:xfrm>
            <a:off x="457200" y="3840480"/>
            <a:ext cx="54864" cy="365760"/>
          </a:xfrm>
          <a:prstGeom prst="rect">
            <a:avLst/>
          </a:prstGeom>
          <a:solidFill>
            <a:srgbClr val="C4A35A"/>
          </a:solidFill>
          <a:ln/>
        </p:spPr>
      </p:sp>
      <p:sp>
        <p:nvSpPr>
          <p:cNvPr id="14" name="Text 12"/>
          <p:cNvSpPr/>
          <p:nvPr/>
        </p:nvSpPr>
        <p:spPr>
          <a:xfrm>
            <a:off x="731520" y="3840480"/>
            <a:ext cx="6400800" cy="365760"/>
          </a:xfrm>
          <a:prstGeom prst="rect">
            <a:avLst/>
          </a:prstGeom>
          <a:noFill/>
          <a:ln/>
        </p:spPr>
        <p:txBody>
          <a:bodyPr wrap="square" rtlCol="0" anchor="ctr"/>
          <a:lstStyle/>
          <a:p>
            <a:pPr indent="0" marL="0">
              <a:buNone/>
            </a:pPr>
            <a:r>
              <a:rPr lang="en-US" sz="1600" dirty="0">
                <a:solidFill>
                  <a:srgbClr val="FFFFFF"/>
                </a:solidFill>
                <a:latin typeface="Arial" pitchFamily="34" charset="0"/>
                <a:ea typeface="Arial" pitchFamily="34" charset="-122"/>
                <a:cs typeface="Arial" pitchFamily="34" charset="-120"/>
              </a:rPr>
              <a:t>Slack Channel — #mkt2700-teams for peer support</a:t>
            </a:r>
            <a:endParaRPr lang="en-US" sz="1600" dirty="0"/>
          </a:p>
        </p:txBody>
      </p:sp>
      <p:sp>
        <p:nvSpPr>
          <p:cNvPr id="15" name="Text 13"/>
          <p:cNvSpPr/>
          <p:nvPr/>
        </p:nvSpPr>
        <p:spPr>
          <a:xfrm>
            <a:off x="457200" y="4114800"/>
            <a:ext cx="8229600" cy="457200"/>
          </a:xfrm>
          <a:prstGeom prst="rect">
            <a:avLst/>
          </a:prstGeom>
          <a:noFill/>
          <a:ln/>
        </p:spPr>
        <p:txBody>
          <a:bodyPr wrap="square" rtlCol="0" anchor="ctr"/>
          <a:lstStyle/>
          <a:p>
            <a:pPr indent="0" marL="0">
              <a:buNone/>
            </a:pPr>
            <a:r>
              <a:rPr lang="en-US" sz="2000" i="1" dirty="0">
                <a:solidFill>
                  <a:srgbClr val="C4A35A"/>
                </a:solidFill>
                <a:latin typeface="Georgia" pitchFamily="34" charset="0"/>
                <a:ea typeface="Georgia" pitchFamily="34" charset="-122"/>
                <a:cs typeface="Georgia" pitchFamily="34" charset="-120"/>
              </a:rPr>
              <a:t>Start Phase 1 today. Your PRD is due February 10th.</a:t>
            </a:r>
            <a:endParaRPr lang="en-US" sz="2000" dirty="0"/>
          </a:p>
        </p:txBody>
      </p:sp>
      <p:sp>
        <p:nvSpPr>
          <p:cNvPr id="16" name="Shape 14"/>
          <p:cNvSpPr/>
          <p:nvPr/>
        </p:nvSpPr>
        <p:spPr>
          <a:xfrm>
            <a:off x="0" y="4960620"/>
            <a:ext cx="9144000" cy="182880"/>
          </a:xfrm>
          <a:prstGeom prst="rect">
            <a:avLst/>
          </a:prstGeom>
          <a:solidFill>
            <a:srgbClr val="C4A35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MKT2700 Week 5: AI-Augmented Product Development Pipeline</dc:title>
  <dc:subject>PptxGenJS Presentation</dc:subject>
  <dc:creator>Brad Scheller</dc:creator>
  <cp:lastModifiedBy>Brad Scheller</cp:lastModifiedBy>
  <cp:revision>1</cp:revision>
  <dcterms:created xsi:type="dcterms:W3CDTF">2026-02-05T01:06:45Z</dcterms:created>
  <dcterms:modified xsi:type="dcterms:W3CDTF">2026-02-05T01:06:45Z</dcterms:modified>
</cp:coreProperties>
</file>